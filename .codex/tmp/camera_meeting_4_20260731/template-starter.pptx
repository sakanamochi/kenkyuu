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bd66c485994eb0" /><Relationship Type="http://schemas.openxmlformats.org/officeDocument/2006/relationships/extended-properties" Target="/docProps/app.xml" Id="R898549e8aba84281" /><Relationship Type="http://schemas.openxmlformats.org/officeDocument/2006/relationships/officeDocument" Target="/ppt/presentation.xml" Id="Re87a93320d6049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454b80b1bb42df"/>
  </p:sldMasterIdLst>
  <p:notesMasterIdLst>
    <p:notesMasterId xmlns:r="http://schemas.openxmlformats.org/officeDocument/2006/relationships" r:id="R4aeea1bb1e9d47de"/>
  </p:notesMasterIdLst>
  <p:sldIdLst>
    <p:sldId xmlns:r="http://schemas.openxmlformats.org/officeDocument/2006/relationships" id="256" r:id="Rc1e7a01808f94151"/>
    <p:sldId xmlns:r="http://schemas.openxmlformats.org/officeDocument/2006/relationships" id="257" r:id="R971d3b4cebb049c1"/>
    <p:sldId xmlns:r="http://schemas.openxmlformats.org/officeDocument/2006/relationships" id="258" r:id="R4a899358a9bf4331"/>
    <p:sldId xmlns:r="http://schemas.openxmlformats.org/officeDocument/2006/relationships" id="259" r:id="R9465167da49c4d80"/>
    <p:sldId xmlns:r="http://schemas.openxmlformats.org/officeDocument/2006/relationships" id="260" r:id="Re86079be00cd430f"/>
    <p:sldId xmlns:r="http://schemas.openxmlformats.org/officeDocument/2006/relationships" id="261" r:id="R91f7e26e1b07408b"/>
    <p:sldId xmlns:r="http://schemas.openxmlformats.org/officeDocument/2006/relationships" id="262" r:id="R6ce5e4f85dc646ef"/>
    <p:sldId xmlns:r="http://schemas.openxmlformats.org/officeDocument/2006/relationships" id="263" r:id="R32f21b8cd47840a3"/>
    <p:sldId xmlns:r="http://schemas.openxmlformats.org/officeDocument/2006/relationships" id="264" r:id="R73de6f5cc9b546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33c887fb534f56" /><Relationship Type="http://schemas.openxmlformats.org/officeDocument/2006/relationships/slideMaster" Target="/ppt/slideMasters/slideMaster1.xml" Id="R62454b80b1bb42df" /><Relationship Type="http://schemas.openxmlformats.org/officeDocument/2006/relationships/notesMaster" Target="/ppt/notesMasters/notesMaster1.xml" Id="R4aeea1bb1e9d47de" /><Relationship Type="http://schemas.openxmlformats.org/officeDocument/2006/relationships/presProps" Target="/ppt/presProps.xml" Id="Rbacf7db0116945ac" /><Relationship Type="http://schemas.openxmlformats.org/officeDocument/2006/relationships/viewProps" Target="/ppt/viewProps.xml" Id="R93d43d8dd6da4a2f" /><Relationship Type="http://schemas.openxmlformats.org/officeDocument/2006/relationships/tableStyles" Target="/ppt/tableStyles.xml" Id="Rb8f9994d094a45d5" /><Relationship Type="http://schemas.openxmlformats.org/officeDocument/2006/relationships/slide" Target="/ppt/slides/slide1.xml" Id="Rc1e7a01808f94151" /><Relationship Type="http://schemas.openxmlformats.org/officeDocument/2006/relationships/slide" Target="/ppt/slides/slide2.xml" Id="R971d3b4cebb049c1" /><Relationship Type="http://schemas.openxmlformats.org/officeDocument/2006/relationships/slide" Target="/ppt/slides/slide3.xml" Id="R4a899358a9bf4331" /><Relationship Type="http://schemas.openxmlformats.org/officeDocument/2006/relationships/slide" Target="/ppt/slides/slide4.xml" Id="R9465167da49c4d80" /><Relationship Type="http://schemas.openxmlformats.org/officeDocument/2006/relationships/slide" Target="/ppt/slides/slide5.xml" Id="Re86079be00cd430f" /><Relationship Type="http://schemas.openxmlformats.org/officeDocument/2006/relationships/slide" Target="/ppt/slides/slide6.xml" Id="R91f7e26e1b07408b" /><Relationship Type="http://schemas.openxmlformats.org/officeDocument/2006/relationships/slide" Target="/ppt/slides/slide7.xml" Id="R6ce5e4f85dc646ef" /><Relationship Type="http://schemas.openxmlformats.org/officeDocument/2006/relationships/slide" Target="/ppt/slides/slide8.xml" Id="R32f21b8cd47840a3" /><Relationship Type="http://schemas.openxmlformats.org/officeDocument/2006/relationships/slide" Target="/ppt/slides/slide9.xml" Id="R73de6f5cc9b546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79ad587ef247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9675e982bf4297" /><Relationship Type="http://schemas.openxmlformats.org/officeDocument/2006/relationships/notesMaster" Target="/ppt/notesMasters/notesMaster1.xml" Id="R6a380ac088f54f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be9edd91384fc7" /><Relationship Type="http://schemas.openxmlformats.org/officeDocument/2006/relationships/notesMaster" Target="/ppt/notesMasters/notesMaster1.xml" Id="R8172d412cbd748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bd3e0d36464827" /><Relationship Type="http://schemas.openxmlformats.org/officeDocument/2006/relationships/notesMaster" Target="/ppt/notesMasters/notesMaster1.xml" Id="Rc37b4d24581b47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42e92ee0bc4862" /><Relationship Type="http://schemas.openxmlformats.org/officeDocument/2006/relationships/notesMaster" Target="/ppt/notesMasters/notesMaster1.xml" Id="Rd579d80d51104a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51cab2f43c49d9" /><Relationship Type="http://schemas.openxmlformats.org/officeDocument/2006/relationships/notesMaster" Target="/ppt/notesMasters/notesMaster1.xml" Id="R1c4961b201ef4c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b7a2e8b69548c6" /><Relationship Type="http://schemas.openxmlformats.org/officeDocument/2006/relationships/notesMaster" Target="/ppt/notesMasters/notesMaster1.xml" Id="R615db46e607b40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034456afbd4bad" /><Relationship Type="http://schemas.openxmlformats.org/officeDocument/2006/relationships/notesMaster" Target="/ppt/notesMasters/notesMaster1.xml" Id="R1f0d9c17a25048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bb32843a4145a0" /><Relationship Type="http://schemas.openxmlformats.org/officeDocument/2006/relationships/notesMaster" Target="/ppt/notesMasters/notesMaster1.xml" Id="R11be13a7521c47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0f1ce1a3014dee" /><Relationship Type="http://schemas.openxmlformats.org/officeDocument/2006/relationships/notesMaster" Target="/ppt/notesMasters/notesMaster1.xml" Id="R55e154517f81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カメラ傾斜0、20、40、60、75°</a:t>
            </a:r>
          </a:p>
          <a:p xmlns:a="http://schemas.openxmlformats.org/drawingml/2006/main">
            <a:r>
              <a:t>カメラ方位0、90、180、270°</a:t>
            </a:r>
          </a:p>
          <a:p xmlns:a="http://schemas.openxmlformats.org/drawingml/2006/main"/>
          <a:p xmlns:a="http://schemas.openxmlformats.org/drawingml/2006/main">
            <a:r>
              <a:t>カメラ方位は</a:t>
            </a:r>
            <a:r>
              <a:t>90°</a:t>
            </a:r>
            <a:r>
              <a:t>ずつ動く　照明方位は</a:t>
            </a:r>
            <a:r>
              <a:t>120°</a:t>
            </a:r>
            <a:r>
              <a:t>ずつ動く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重み付き</a:t>
            </a:r>
            <a:r>
              <a:t>BCE Loss</a:t>
            </a:r>
            <a:r>
              <a:t>：内周画素の誤分類は</a:t>
            </a:r>
            <a:r>
              <a:t>12</a:t>
            </a:r>
            <a:r>
              <a:t>倍損失を大きくしている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70% 71×7</a:t>
            </a:r>
          </a:p>
          <a:p xmlns:a="http://schemas.openxmlformats.org/drawingml/2006/main">
            <a:r>
              <a:t>15% 15×7</a:t>
            </a:r>
          </a:p>
          <a:p xmlns:a="http://schemas.openxmlformats.org/drawingml/2006/main">
            <a:r>
              <a:t>15% 16×7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IoU</a:t>
            </a:r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:</a:t>
            </a:r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Intersection over Union</a:t>
            </a:r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2</a:t>
            </a:r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つの領域全体の内重なっている領域の割合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a2cf502844a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4df5a3b6e45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e498fb4614e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47cc29be047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c168eda234c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ed3ba5c114a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1afedb7cf429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61faae406462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3b32bae2a4da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3bd239ca742e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ca1670cc547ec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3E2A3AC3-9BBA-8E11-E099-ABFE7904E51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2AD1EB0B-5808-8E08-B140-60549B4797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13CC2F8-E577-30F3-50DF-1061F65995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0E47049D-B2A7-07E9-6233-CCEFAF0A1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ACC314B8-9D46-580D-7BE9-953E7A5A4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B0791A6-9BE5-6883-64C0-A28C3D91E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474A667-7BE3-31FA-8225-EA15EFC0DF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C4FF7B8-5C3E-D427-D0E5-B4A3D136B2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FB37FFCD-B795-3C0B-43EF-8519A21CE0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F98A99A-51B4-D55A-1505-F05648C924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AF3F076-BB2C-8431-AD9A-B59AFFA89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545BAF1-BB01-21BF-48B6-F056CB8D1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2AD9E4E-D262-C6B4-5C1B-07881E1F01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EDFA657B-3C63-50CC-C98B-EFE3E256D0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5B59865D-4826-7039-1633-3A01FA4F87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64FADDA-495A-9346-8A7D-62748E355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F244336-5629-6429-0292-3D693F9C0D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F45223F-AC19-E344-CE33-4A4A639E99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5CEDD68-9452-8248-C931-3F0237000E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90BEB63-73A5-6F32-B21A-756D2283FA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8B590089-F415-334F-3A15-EC8D88371D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597C9EC-63F6-E6E3-8588-92793357E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C374482-8965-D6A8-039C-72D8B3EFE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EF2B11B-40A7-E61A-A614-DB7B4CCDF2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37B16BD6-6273-617F-B4E4-F189AC8F5B1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EF30CE6-91F6-4442-47B6-2D3FDE71769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7A9B2748-5946-96C3-3B11-AB7A851330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8" name="フッター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D1F0C39E-8B53-0368-BEE8-CAFDC75D91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スライド番号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E56FCE75-29AC-3F9A-49EB-BA2C535A9D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77ADB89C-0C18-1E2F-C1EB-12A41095F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日付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F3DAFE2-E057-9515-4B31-C27746E7C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22E4690-9E97-7F7A-6303-30D23973F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スライド番号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C376770-65B7-FFA9-D6CD-B8633F5F7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0EA9B5CA-48EF-D03F-CCEB-E5D73F30C8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7CC048B7-12A3-FBDB-6A45-0967B3A88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989B800-1A14-93DA-E0FC-80A776E6D7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52CD4FE-6724-C35F-A0E3-018DA3AF7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864462B-CEFC-9D53-3152-6E129D716C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0F3A98B-52C3-BFC2-76AD-2EB3A5895B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FAE5F531-10FF-CE18-0FE6-E27E2B3701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CF86881-52B9-C9FA-0957-DEA77521D2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E6041AD4-B435-9451-B96D-C72E2D440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43D6106-9897-7CD8-D3C4-92AF681C9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68507A9B-3DCC-E4BB-FC3B-144204154F3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56ACDFD-C498-ECEC-E952-C509D42AA5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0F728F9A-A276-90D0-EAC8-98133EBC01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678CC1D-0AB7-726F-A95A-8C3817D804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F4298B5D-256D-C98F-30B0-956EB1AC8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38AFCEC6-3140-ED8D-D9D8-E489E0B9A6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A85B470-FD5C-AA6D-A126-94A873759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2B3C9A1-CFB1-C9A7-3C9B-74A7807867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B3D76AA-F206-C911-52EA-50042FCFF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77A4500D-E8E0-D197-9FDD-D8933E19A5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縦書きタイトル 1">
            <a:extLst xmlns:a="http://schemas.openxmlformats.org/drawingml/2006/main">
              <a:ext uri="{FF2B5EF4-FFF2-40B4-BE49-F238E27FC236}">
                <a16:creationId xmlns:a16="http://schemas.microsoft.com/office/drawing/2014/main" id="{4CF19B41-2514-C11C-36B5-28ACFF37F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055A9D3-BFE6-2AD5-CB55-3E580AF8B9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0A5E879-2586-6EA7-CFC4-9AD8DA31D4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6A775971-8AB7-CB85-0BB4-3024D730B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FBEB35F-50AC-38DD-EBCD-0089B607DF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9661d8f0ea43d8" /><Relationship Type="http://schemas.openxmlformats.org/officeDocument/2006/relationships/slideLayout" Target="/ppt/slideLayouts/slideLayout1.xml" Id="R9d03c3b8e7bd40ef" /><Relationship Type="http://schemas.openxmlformats.org/officeDocument/2006/relationships/slideLayout" Target="/ppt/slideLayouts/slideLayout2.xml" Id="R1abf611322c646e6" /><Relationship Type="http://schemas.openxmlformats.org/officeDocument/2006/relationships/slideLayout" Target="/ppt/slideLayouts/slideLayout3.xml" Id="R78696bc797c7483c" /><Relationship Type="http://schemas.openxmlformats.org/officeDocument/2006/relationships/slideLayout" Target="/ppt/slideLayouts/slideLayout4.xml" Id="R407bf7504b0a443c" /><Relationship Type="http://schemas.openxmlformats.org/officeDocument/2006/relationships/slideLayout" Target="/ppt/slideLayouts/slideLayout5.xml" Id="R0df5bc6768164b95" /><Relationship Type="http://schemas.openxmlformats.org/officeDocument/2006/relationships/slideLayout" Target="/ppt/slideLayouts/slideLayout6.xml" Id="R9ac631affb78443f" /><Relationship Type="http://schemas.openxmlformats.org/officeDocument/2006/relationships/slideLayout" Target="/ppt/slideLayouts/slideLayout7.xml" Id="R0ccbca037c024059" /><Relationship Type="http://schemas.openxmlformats.org/officeDocument/2006/relationships/slideLayout" Target="/ppt/slideLayouts/slideLayout8.xml" Id="Rd87402d8a9fc497b" /><Relationship Type="http://schemas.openxmlformats.org/officeDocument/2006/relationships/slideLayout" Target="/ppt/slideLayouts/slideLayout9.xml" Id="Rd8b8815a50e048c2" /><Relationship Type="http://schemas.openxmlformats.org/officeDocument/2006/relationships/slideLayout" Target="/ppt/slideLayouts/slideLayout10.xml" Id="R014eb9969fd84467" /><Relationship Type="http://schemas.openxmlformats.org/officeDocument/2006/relationships/slideLayout" Target="/ppt/slideLayouts/slideLayout11.xml" Id="R63d64549e6e144f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B6658F7C-2114-F168-D611-E9406308E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A1EA05B-3107-A64A-0EAC-A52B6C331E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7364495-EED0-3EA3-F067-A3DC8FE463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A61C3567-BEAB-29E8-8ACC-4D9457757B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D1AA8FB-328D-A5DC-BC86-6CD607FBD6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03c3b8e7bd40ef"/>
    <p:sldLayoutId xmlns:r="http://schemas.openxmlformats.org/officeDocument/2006/relationships" id="2147483650" r:id="R1abf611322c646e6"/>
    <p:sldLayoutId xmlns:r="http://schemas.openxmlformats.org/officeDocument/2006/relationships" id="2147483651" r:id="R78696bc797c7483c"/>
    <p:sldLayoutId xmlns:r="http://schemas.openxmlformats.org/officeDocument/2006/relationships" id="2147483652" r:id="R407bf7504b0a443c"/>
    <p:sldLayoutId xmlns:r="http://schemas.openxmlformats.org/officeDocument/2006/relationships" id="2147483653" r:id="R0df5bc6768164b95"/>
    <p:sldLayoutId xmlns:r="http://schemas.openxmlformats.org/officeDocument/2006/relationships" id="2147483654" r:id="R9ac631affb78443f"/>
    <p:sldLayoutId xmlns:r="http://schemas.openxmlformats.org/officeDocument/2006/relationships" id="2147483655" r:id="R0ccbca037c024059"/>
    <p:sldLayoutId xmlns:r="http://schemas.openxmlformats.org/officeDocument/2006/relationships" id="2147483656" r:id="Rd87402d8a9fc497b"/>
    <p:sldLayoutId xmlns:r="http://schemas.openxmlformats.org/officeDocument/2006/relationships" id="2147483657" r:id="Rd8b8815a50e048c2"/>
    <p:sldLayoutId xmlns:r="http://schemas.openxmlformats.org/officeDocument/2006/relationships" id="2147483658" r:id="R014eb9969fd84467"/>
    <p:sldLayoutId xmlns:r="http://schemas.openxmlformats.org/officeDocument/2006/relationships" id="2147483659" r:id="R63d64549e6e144f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52a351d714d6e" /><Relationship Type="http://schemas.openxmlformats.org/officeDocument/2006/relationships/notesSlide" Target="/ppt/notesSlides/notesSlide1.xml" Id="R238bf3b9d8e34e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8671d75c1419d" /><Relationship Type="http://schemas.openxmlformats.org/officeDocument/2006/relationships/notesSlide" Target="/ppt/notesSlides/notesSlide2.xml" Id="R72fe8726390849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56b9f09c14f18" /><Relationship Type="http://schemas.openxmlformats.org/officeDocument/2006/relationships/image" Target="/ppt/media/image.png" Id="Rb556a5a102744797" /><Relationship Type="http://schemas.openxmlformats.org/officeDocument/2006/relationships/notesSlide" Target="/ppt/notesSlides/notesSlide3.xml" Id="Rd219fcd6897744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05a6fd9f64b11" /><Relationship Type="http://schemas.openxmlformats.org/officeDocument/2006/relationships/image" Target="/ppt/media/image2.png" Id="Rac4c87559d3d47b1" /><Relationship Type="http://schemas.openxmlformats.org/officeDocument/2006/relationships/notesSlide" Target="/ppt/notesSlides/notesSlide4.xml" Id="R99b6e36fae8146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bce440a9143ce" /><Relationship Type="http://schemas.openxmlformats.org/officeDocument/2006/relationships/image" Target="/ppt/media/image3.png" Id="Ra11f8c1ff4474e78" /><Relationship Type="http://schemas.openxmlformats.org/officeDocument/2006/relationships/notesSlide" Target="/ppt/notesSlides/notesSlide5.xml" Id="Rb6e4b612f34d41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c6d9f364949a5" /><Relationship Type="http://schemas.openxmlformats.org/officeDocument/2006/relationships/image" Target="/ppt/media/image4.png" Id="R62bfe5cdff3e4412" /><Relationship Type="http://schemas.openxmlformats.org/officeDocument/2006/relationships/image" Target="/ppt/media/image5.png" Id="R5bc67b5d536a4384" /><Relationship Type="http://schemas.openxmlformats.org/officeDocument/2006/relationships/image" Target="/ppt/media/image6.png" Id="R2e06f3547c7d42f4" /><Relationship Type="http://schemas.openxmlformats.org/officeDocument/2006/relationships/image" Target="/ppt/media/image7.png" Id="R1a6a256ef04746a0" /><Relationship Type="http://schemas.openxmlformats.org/officeDocument/2006/relationships/image" Target="/ppt/media/image8.png" Id="R7700238455ac4e89" /><Relationship Type="http://schemas.openxmlformats.org/officeDocument/2006/relationships/notesSlide" Target="/ppt/notesSlides/notesSlide6.xml" Id="R91d8d416490148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a749e584f4f74" /><Relationship Type="http://schemas.openxmlformats.org/officeDocument/2006/relationships/image" Target="/ppt/media/image9.png" Id="Rf8fff019f60b411d" /><Relationship Type="http://schemas.openxmlformats.org/officeDocument/2006/relationships/notesSlide" Target="/ppt/notesSlides/notesSlide7.xml" Id="Rffc55eb0fff041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ad5fb89a146b2" /><Relationship Type="http://schemas.openxmlformats.org/officeDocument/2006/relationships/image" Target="/ppt/media/image10.png" Id="Rca14ce1118c84e2c" /><Relationship Type="http://schemas.openxmlformats.org/officeDocument/2006/relationships/notesSlide" Target="/ppt/notesSlides/notesSlide8.xml" Id="R191f26c3595c42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cb26833a24d12" /><Relationship Type="http://schemas.openxmlformats.org/officeDocument/2006/relationships/notesSlide" Target="/ppt/notesSlides/notesSlide9.xml" Id="R862d2f9fd73b4a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06F4B5D-E5B3-38E8-A386-ABD099C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59DEA71-F78D-DBCD-26FA-C9635AFF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014AA2A-C8D3-5B2D-ADBD-641918D5BB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6800" y="945765"/>
            <a:ext cx="10058400" cy="234804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>
                <a:latin typeface="ＭＳ ゴシック"/>
                <a:ea typeface="ＭＳ ゴシック"/>
                <a:cs typeface="ＭＳ ゴシック"/>
              </a:rPr>
              <a:t>第</a:t>
            </a:r>
            <a:r>
              <a:rPr sz="5400">
                <a:latin typeface="ＭＳ ゴシック"/>
                <a:ea typeface="ＭＳ ゴシック"/>
                <a:cs typeface="ＭＳ ゴシック"/>
              </a:rPr>
              <a:t>3</a:t>
            </a:r>
            <a:r>
              <a:rPr sz="5400">
                <a:latin typeface="ＭＳ ゴシック"/>
                <a:ea typeface="ＭＳ ゴシック"/>
                <a:cs typeface="ＭＳ ゴシック"/>
              </a:rPr>
              <a:t>回　カメラ班ミーティング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74AE6774-3390-7CC7-6300-BA2FE1AF72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59887" y="4442737"/>
            <a:ext cx="10058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2026</a:t>
            </a: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年</a:t>
            </a:r>
            <a:r>
              <a:rPr>
                <a:latin typeface="ＭＳ ゴシック"/>
                <a:ea typeface="ＭＳ ゴシック"/>
                <a:cs typeface="ＭＳ ゴシック"/>
              </a:rPr>
              <a:t>7</a:t>
            </a: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月</a:t>
            </a: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17</a:t>
            </a: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日</a:t>
            </a:r>
          </a:p>
          <a:p xmlns:a="http://schemas.openxmlformats.org/drawingml/2006/main">
            <a:pPr algn="l">
              <a:buNone/>
            </a:pP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B4</a:t>
            </a: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　伊藤弘道</a:t>
            </a:r>
          </a:p>
        </p:txBody>
      </p:sp>
    </p:spTree>
    <p:extLst>
      <p:ext uri="{BB962C8B-B14F-4D97-AF65-F5344CB8AC3E}">
        <p14:creationId xmlns:p14="http://schemas.microsoft.com/office/powerpoint/2010/main" val="4198184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3D39671C-5506-F240-41C6-8492CDC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A798665-1515-87D0-B600-99A944F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2E16C84-89CD-97CC-94FE-C55CC376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4838"/>
            <a:ext cx="10058400" cy="2308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RGB</a:t>
            </a:r>
            <a:r>
              <a:rPr sz="3600"/>
              <a:t>画像を用いたロケット上段の</a:t>
            </a:r>
          </a:p>
          <a:p xmlns:a="http://schemas.openxmlformats.org/drawingml/2006/main">
            <a:pPr algn="ctr">
              <a:buNone/>
            </a:pPr>
            <a:r>
              <a:rPr sz="3600"/>
              <a:t>PAF</a:t>
            </a:r>
            <a:r>
              <a:rPr sz="3600"/>
              <a:t>内周エッジ検出のロバスト性評価</a:t>
            </a:r>
          </a:p>
          <a:p xmlns:a="http://schemas.openxmlformats.org/drawingml/2006/main">
            <a:pPr algn="ctr">
              <a:buNone/>
            </a:pPr>
          </a:p>
          <a:p xmlns:a="http://schemas.openxmlformats.org/drawingml/2006/main">
            <a:pPr algn="ctr">
              <a:buNone/>
            </a:pPr>
            <a:r>
              <a:rPr sz="3600">
                <a:latin typeface="ＭＳ ゴシック"/>
                <a:ea typeface="ＭＳ ゴシック"/>
                <a:cs typeface="ＭＳ ゴシック"/>
              </a:rPr>
              <a:t>幾何ベース手法と学習ベース手法の実装と比較</a:t>
            </a:r>
          </a:p>
        </p:txBody>
      </p:sp>
    </p:spTree>
    <p:extLst>
      <p:ext uri="{BB962C8B-B14F-4D97-AF65-F5344CB8AC3E}">
        <p14:creationId xmlns:p14="http://schemas.microsoft.com/office/powerpoint/2010/main" val="12314719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D3E9BDD-6A74-5038-1C1A-F497650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F9C13EB-857C-EC59-BDFA-3D2E3FD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3C4926D2-C1B0-5EE4-E5D1-58AAA44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2" y="581891"/>
            <a:ext cx="7810151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Blender</a:t>
            </a:r>
            <a:r>
              <a:rPr sz="3200"/>
              <a:t>を用いた初期データセットの作成</a:t>
            </a:r>
          </a:p>
        </p:txBody>
      </p:sp>
      <p:pic>
        <p:nvPicPr>
          <p:cNvPr id="13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6a5a102744797"/>
          <a:srcRect xmlns:a="http://schemas.openxmlformats.org/drawingml/2006/main" l="0" t="712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78505" y="1166666"/>
            <a:ext cx="7143212" cy="4996369"/>
          </a:xfrm>
          <a:prstGeom xmlns:a="http://schemas.openxmlformats.org/drawingml/2006/main" prst="rect">
            <a:avLst/>
          </a:prstGeom>
        </p:spPr>
      </p:pic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DA67508-8B7B-5EBD-17AE-8004BD0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875" y="2178920"/>
            <a:ext cx="2892138" cy="31700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</a:t>
            </a:r>
            <a:r>
              <a:rPr sz="2000">
                <a:latin typeface="Yu Gothic"/>
                <a:ea typeface="Yu Gothic"/>
                <a:cs typeface="Yu Gothic"/>
              </a:rPr>
              <a:t>パラメータ</a:t>
            </a:r>
            <a:r>
              <a:rPr sz="2000">
                <a:latin typeface="Yu Gothic"/>
                <a:ea typeface="Yu Gothic"/>
                <a:cs typeface="Yu Gothic"/>
              </a:rPr>
              <a:t>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カメラ傾斜：</a:t>
            </a:r>
            <a:r>
              <a:rPr sz="2000">
                <a:latin typeface="Yu Gothic"/>
                <a:ea typeface="Yu Gothic"/>
                <a:cs typeface="Yu Gothic"/>
              </a:rPr>
              <a:t>5</a:t>
            </a:r>
            <a:r>
              <a:rPr sz="2000">
                <a:latin typeface="Yu Gothic"/>
                <a:ea typeface="Yu Gothic"/>
                <a:cs typeface="Yu Gothic"/>
              </a:rPr>
              <a:t>パターン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カメラ方位：</a:t>
            </a:r>
            <a:r>
              <a:rPr sz="2000">
                <a:latin typeface="Yu Gothic"/>
                <a:ea typeface="Yu Gothic"/>
                <a:cs typeface="Yu Gothic"/>
              </a:rPr>
              <a:t>4</a:t>
            </a:r>
            <a:r>
              <a:rPr sz="2000">
                <a:latin typeface="Yu Gothic"/>
                <a:ea typeface="Yu Gothic"/>
                <a:cs typeface="Yu Gothic"/>
              </a:rPr>
              <a:t>パターン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カメラ距離：</a:t>
            </a:r>
            <a:r>
              <a:rPr sz="2000">
                <a:latin typeface="Yu Gothic"/>
                <a:ea typeface="Yu Gothic"/>
                <a:cs typeface="Yu Gothic"/>
              </a:rPr>
              <a:t>2</a:t>
            </a:r>
            <a:r>
              <a:rPr sz="2000">
                <a:latin typeface="Yu Gothic"/>
                <a:ea typeface="Yu Gothic"/>
                <a:cs typeface="Yu Gothic"/>
              </a:rPr>
              <a:t>パターン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注視点：</a:t>
            </a:r>
            <a:r>
              <a:rPr sz="2000">
                <a:latin typeface="Yu Gothic"/>
                <a:ea typeface="Yu Gothic"/>
                <a:cs typeface="Yu Gothic"/>
              </a:rPr>
              <a:t>3</a:t>
            </a:r>
            <a:r>
              <a:rPr sz="2000">
                <a:latin typeface="Yu Gothic"/>
                <a:ea typeface="Yu Gothic"/>
                <a:cs typeface="Yu Gothic"/>
              </a:rPr>
              <a:t>パターン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照明傾斜：</a:t>
            </a:r>
            <a:r>
              <a:rPr sz="2000">
                <a:latin typeface="Yu Gothic"/>
                <a:ea typeface="Yu Gothic"/>
                <a:cs typeface="Yu Gothic"/>
              </a:rPr>
              <a:t>3</a:t>
            </a:r>
            <a:r>
              <a:rPr sz="2000">
                <a:latin typeface="Yu Gothic"/>
                <a:ea typeface="Yu Gothic"/>
                <a:cs typeface="Yu Gothic"/>
              </a:rPr>
              <a:t>パターン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照明方位：</a:t>
            </a:r>
            <a:r>
              <a:rPr sz="2000">
                <a:latin typeface="Yu Gothic"/>
                <a:ea typeface="Yu Gothic"/>
                <a:cs typeface="Yu Gothic"/>
              </a:rPr>
              <a:t>3</a:t>
            </a:r>
            <a:r>
              <a:rPr sz="2000">
                <a:latin typeface="Yu Gothic"/>
                <a:ea typeface="Yu Gothic"/>
                <a:cs typeface="Yu Gothic"/>
              </a:rPr>
              <a:t>パターン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合計</a:t>
            </a:r>
            <a:r>
              <a:rPr sz="2000">
                <a:latin typeface="Yu Gothic"/>
                <a:ea typeface="Yu Gothic"/>
                <a:cs typeface="Yu Gothic"/>
              </a:rPr>
              <a:t>714</a:t>
            </a:r>
            <a:r>
              <a:rPr sz="2000">
                <a:latin typeface="Yu Gothic"/>
                <a:ea typeface="Yu Gothic"/>
                <a:cs typeface="Yu Gothic"/>
              </a:rPr>
              <a:t>条件</a:t>
            </a:r>
            <a:br/>
          </a:p>
        </p:txBody>
      </p:sp>
    </p:spTree>
    <p:extLst>
      <p:ext uri="{BB962C8B-B14F-4D97-AF65-F5344CB8AC3E}">
        <p14:creationId xmlns:p14="http://schemas.microsoft.com/office/powerpoint/2010/main" val="29923517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CBDF7773-56A6-51E7-FB9D-D81B66C6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AFB57FB-CF07-597E-F409-5133DF05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A915CC3B-E80E-2CB4-2CD1-FB3F1A4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2" y="783624"/>
            <a:ext cx="6247223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比較用ベースライン手法実装</a:t>
            </a:r>
            <a:r>
              <a:rPr sz="3200"/>
              <a:t>(</a:t>
            </a:r>
            <a:r>
              <a:rPr sz="3200"/>
              <a:t>仮</a:t>
            </a:r>
            <a:r>
              <a:rPr sz="3200"/>
              <a:t>)</a:t>
            </a:r>
          </a:p>
        </p:txBody>
      </p:sp>
      <p:pic>
        <p:nvPicPr>
          <p:cNvPr id="36" name="図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c87559d3d47b1"/>
          <a:srcRect xmlns:a="http://schemas.openxmlformats.org/drawingml/2006/main" l="0" t="1685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68710" y="2093522"/>
            <a:ext cx="11454581" cy="2424122"/>
          </a:xfrm>
          <a:prstGeom xmlns:a="http://schemas.openxmlformats.org/drawingml/2006/main" prst="rect">
            <a:avLst/>
          </a:prstGeom>
        </p:spPr>
      </p:pic>
      <p:sp>
        <p:nvSpPr>
          <p:cNvPr id="24" name="正方形/長方形 23">
            <a:extLst xmlns:a="http://schemas.openxmlformats.org/drawingml/2006/main">
              <a:ext uri="{FF2B5EF4-FFF2-40B4-BE49-F238E27FC236}">
                <a16:creationId xmlns:a16="http://schemas.microsoft.com/office/drawing/2014/main" id="{572DE358-07FD-4F11-A15B-3EE51CBF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259" y="2268198"/>
            <a:ext cx="993058" cy="18911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図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c87559d3d47b1"/>
          <a:srcRect xmlns:a="http://schemas.openxmlformats.org/drawingml/2006/main" l="8412" t="21732" r="88840" b="700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471" y="2224624"/>
            <a:ext cx="314632" cy="238432"/>
          </a:xfrm>
          <a:prstGeom xmlns:a="http://schemas.openxmlformats.org/drawingml/2006/main" prst="rect">
            <a:avLst/>
          </a:prstGeom>
        </p:spPr>
      </p:pic>
      <p:sp>
        <p:nvSpPr>
          <p:cNvPr id="26" name="テキスト ボックス 25">
            <a:extLst xmlns:a="http://schemas.openxmlformats.org/drawingml/2006/main">
              <a:ext uri="{FF2B5EF4-FFF2-40B4-BE49-F238E27FC236}">
                <a16:creationId xmlns:a16="http://schemas.microsoft.com/office/drawing/2014/main" id="{EDA60CE8-2AA6-B01D-1621-A3A61AD7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243" y="2033006"/>
            <a:ext cx="1739579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輪郭ごとに</a:t>
            </a:r>
            <a:r>
              <a:rPr sz="1100"/>
              <a:t>RANSAC</a:t>
            </a:r>
            <a:r>
              <a:rPr sz="1100"/>
              <a:t>適用</a:t>
            </a:r>
          </a:p>
        </p:txBody>
      </p:sp>
      <p:sp>
        <p:nvSpPr>
          <p:cNvPr id="28" name="テキスト ボックス 27">
            <a:extLst xmlns:a="http://schemas.openxmlformats.org/drawingml/2006/main">
              <a:ext uri="{FF2B5EF4-FFF2-40B4-BE49-F238E27FC236}">
                <a16:creationId xmlns:a16="http://schemas.microsoft.com/office/drawing/2014/main" id="{5F6B5D1C-350B-C163-7F30-62B3CDA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956" y="1568605"/>
            <a:ext cx="500008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Canny</a:t>
            </a:r>
            <a:r>
              <a:rPr sz="2400"/>
              <a:t>エッジ検出</a:t>
            </a:r>
            <a:r>
              <a:rPr sz="2400"/>
              <a:t>+</a:t>
            </a:r>
            <a:r>
              <a:rPr sz="2400"/>
              <a:t>輪郭別</a:t>
            </a:r>
            <a:r>
              <a:rPr sz="2400"/>
              <a:t>RANSAC</a:t>
            </a:r>
          </a:p>
        </p:txBody>
      </p:sp>
      <p:sp>
        <p:nvSpPr>
          <p:cNvPr id="30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7F838DF-5CE1-D6CA-3EF4-EB082EB3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" y="4819816"/>
            <a:ext cx="911980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</a:t>
            </a:r>
            <a:r>
              <a:rPr sz="2000">
                <a:latin typeface="Yu Gothic"/>
                <a:ea typeface="Yu Gothic"/>
                <a:cs typeface="Yu Gothic"/>
              </a:rPr>
              <a:t>Canny</a:t>
            </a:r>
            <a:r>
              <a:rPr sz="2000">
                <a:latin typeface="Yu Gothic"/>
                <a:ea typeface="Yu Gothic"/>
                <a:cs typeface="Yu Gothic"/>
              </a:rPr>
              <a:t>エッジを直接</a:t>
            </a:r>
            <a:r>
              <a:rPr sz="2000">
                <a:latin typeface="Yu Gothic"/>
                <a:ea typeface="Yu Gothic"/>
                <a:cs typeface="Yu Gothic"/>
              </a:rPr>
              <a:t>RANSAC</a:t>
            </a:r>
            <a:r>
              <a:rPr sz="2000">
                <a:latin typeface="Yu Gothic"/>
                <a:ea typeface="Yu Gothic"/>
                <a:cs typeface="Yu Gothic"/>
              </a:rPr>
              <a:t>に渡すと</a:t>
            </a:r>
            <a:r>
              <a:rPr sz="2000">
                <a:latin typeface="Yu Gothic"/>
                <a:ea typeface="Yu Gothic"/>
                <a:cs typeface="Yu Gothic"/>
              </a:rPr>
              <a:t>PAF</a:t>
            </a:r>
            <a:r>
              <a:rPr sz="2000">
                <a:latin typeface="Yu Gothic"/>
                <a:ea typeface="Yu Gothic"/>
                <a:cs typeface="Yu Gothic"/>
              </a:rPr>
              <a:t>内周以外のエッジが偽楕円を形成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　→連続成分ごとの輪郭に分割し、各輪郭へ独立に</a:t>
            </a:r>
            <a:r>
              <a:rPr sz="2000">
                <a:latin typeface="Yu Gothic"/>
                <a:ea typeface="Yu Gothic"/>
                <a:cs typeface="Yu Gothic"/>
              </a:rPr>
              <a:t>RANSAC</a:t>
            </a:r>
            <a:r>
              <a:rPr sz="2000">
                <a:latin typeface="Yu Gothic"/>
                <a:ea typeface="Yu Gothic"/>
                <a:cs typeface="Yu Gothic"/>
              </a:rPr>
              <a:t>を適用</a:t>
            </a:r>
          </a:p>
        </p:txBody>
      </p:sp>
      <p:sp>
        <p:nvSpPr>
          <p:cNvPr id="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EDE4D0C7-8FB5-6F22-90D8-E23A161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" y="5623399"/>
            <a:ext cx="859882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・テストでは</a:t>
            </a:r>
            <a:r>
              <a:rPr sz="2000">
                <a:latin typeface="Yu Gothic"/>
                <a:ea typeface="Yu Gothic"/>
                <a:cs typeface="Yu Gothic"/>
              </a:rPr>
              <a:t>RANSAC</a:t>
            </a:r>
            <a:r>
              <a:rPr sz="2000">
                <a:latin typeface="Yu Gothic"/>
                <a:ea typeface="Yu Gothic"/>
                <a:cs typeface="Yu Gothic"/>
              </a:rPr>
              <a:t>を</a:t>
            </a:r>
            <a:r>
              <a:rPr sz="2000">
                <a:latin typeface="Yu Gothic"/>
                <a:ea typeface="Yu Gothic"/>
                <a:cs typeface="Yu Gothic"/>
              </a:rPr>
              <a:t>OpenCV</a:t>
            </a:r>
            <a:r>
              <a:rPr sz="2000">
                <a:latin typeface="Yu Gothic"/>
                <a:ea typeface="Yu Gothic"/>
                <a:cs typeface="Yu Gothic"/>
              </a:rPr>
              <a:t>標準の楕円推定に置き換えたものも検証</a:t>
            </a:r>
          </a:p>
        </p:txBody>
      </p:sp>
    </p:spTree>
    <p:extLst>
      <p:ext uri="{BB962C8B-B14F-4D97-AF65-F5344CB8AC3E}">
        <p14:creationId xmlns:p14="http://schemas.microsoft.com/office/powerpoint/2010/main" val="25792403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E41878F-CB80-CF99-7A7B-2E0D6B4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2F5581A-C0E1-438D-B89D-FBFA924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BEE4E29B-8219-47F0-EFF9-5F8784A5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2" y="783624"/>
            <a:ext cx="3877985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学習ベース手法実装</a:t>
            </a:r>
          </a:p>
        </p:txBody>
      </p:sp>
      <p:pic>
        <p:nvPicPr>
          <p:cNvPr id="21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f8c1ff4474e78"/>
          <a:srcRect xmlns:a="http://schemas.openxmlformats.org/drawingml/2006/main" l="31250" t="18076" r="0" b="11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86062" y="1830065"/>
            <a:ext cx="8382000" cy="2171701"/>
          </a:xfrm>
          <a:prstGeom xmlns:a="http://schemas.openxmlformats.org/drawingml/2006/main" prst="rect">
            <a:avLst/>
          </a:prstGeom>
        </p:spPr>
      </p:pic>
      <p:pic>
        <p:nvPicPr>
          <p:cNvPr id="22" name="図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f8c1ff4474e78"/>
          <a:srcRect xmlns:a="http://schemas.openxmlformats.org/drawingml/2006/main" l="0" t="18076" r="85547" b="11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23937" y="1830064"/>
            <a:ext cx="1762125" cy="2171701"/>
          </a:xfrm>
          <a:prstGeom xmlns:a="http://schemas.openxmlformats.org/drawingml/2006/main" prst="rect">
            <a:avLst/>
          </a:prstGeom>
        </p:spPr>
      </p:pic>
      <p:sp>
        <p:nvSpPr>
          <p:cNvPr id="11" name="テキスト ボックス 10">
            <a:extLst xmlns:a="http://schemas.openxmlformats.org/drawingml/2006/main">
              <a:ext uri="{FF2B5EF4-FFF2-40B4-BE49-F238E27FC236}">
                <a16:creationId xmlns:a16="http://schemas.microsoft.com/office/drawing/2014/main" id="{7ACF146E-6EB2-1EDF-776F-31898964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14" y="1368399"/>
            <a:ext cx="355097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CNN+</a:t>
            </a:r>
            <a:r>
              <a:rPr sz="2400"/>
              <a:t>重み付き</a:t>
            </a:r>
            <a:r>
              <a:rPr sz="2400"/>
              <a:t>RANSAC</a:t>
            </a:r>
          </a:p>
        </p:txBody>
      </p:sp>
      <p:sp>
        <p:nvSpPr>
          <p:cNvPr id="1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F6E0B222-7219-6A77-A12A-AEE40210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10" y="4322407"/>
            <a:ext cx="4017446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</a:t>
            </a:r>
            <a:r>
              <a:rPr sz="2000">
                <a:latin typeface="Yu Gothic"/>
                <a:ea typeface="Yu Gothic"/>
                <a:cs typeface="Yu Gothic"/>
              </a:rPr>
              <a:t>CNN</a:t>
            </a:r>
            <a:r>
              <a:rPr sz="2000">
                <a:latin typeface="Yu Gothic"/>
                <a:ea typeface="Yu Gothic"/>
                <a:cs typeface="Yu Gothic"/>
              </a:rPr>
              <a:t>の構成</a:t>
            </a:r>
            <a:r>
              <a:rPr sz="2000">
                <a:latin typeface="Yu Gothic"/>
                <a:ea typeface="Yu Gothic"/>
                <a:cs typeface="Yu Gothic"/>
              </a:rPr>
              <a:t>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・約</a:t>
            </a:r>
            <a:r>
              <a:rPr sz="2000">
                <a:latin typeface="Yu Gothic"/>
                <a:ea typeface="Yu Gothic"/>
                <a:cs typeface="Yu Gothic"/>
              </a:rPr>
              <a:t>48</a:t>
            </a:r>
            <a:r>
              <a:rPr sz="2000">
                <a:latin typeface="Yu Gothic"/>
                <a:ea typeface="Yu Gothic"/>
                <a:cs typeface="Yu Gothic"/>
              </a:rPr>
              <a:t>万パラメータの小型</a:t>
            </a:r>
            <a:r>
              <a:rPr sz="2000">
                <a:latin typeface="Yu Gothic"/>
                <a:ea typeface="Yu Gothic"/>
                <a:cs typeface="Yu Gothic"/>
              </a:rPr>
              <a:t>U-Net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</a:t>
            </a:r>
            <a:r>
              <a:rPr sz="2000">
                <a:latin typeface="Yu Gothic"/>
                <a:ea typeface="Yu Gothic"/>
                <a:cs typeface="Yu Gothic"/>
              </a:rPr>
              <a:t>BCE Loss + Dice Loss</a:t>
            </a:r>
            <a:r>
              <a:rPr sz="2000">
                <a:latin typeface="Yu Gothic"/>
                <a:ea typeface="Yu Gothic"/>
                <a:cs typeface="Yu Gothic"/>
              </a:rPr>
              <a:t>で学習</a:t>
            </a:r>
          </a:p>
        </p:txBody>
      </p:sp>
      <p:sp>
        <p:nvSpPr>
          <p:cNvPr id="15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1E03CBAC-19D5-7CC7-9627-89892B3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10" y="5489601"/>
            <a:ext cx="604043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1600">
                <a:latin typeface="Yu Gothic"/>
                <a:ea typeface="Yu Gothic"/>
                <a:cs typeface="Yu Gothic"/>
              </a:rPr>
              <a:t>BCE Loss</a:t>
            </a:r>
            <a:r>
              <a:rPr sz="1600">
                <a:latin typeface="Yu Gothic"/>
                <a:ea typeface="Yu Gothic"/>
                <a:cs typeface="Yu Gothic"/>
              </a:rPr>
              <a:t>：各画素の分類が正しいと小さくなる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1600">
                <a:latin typeface="Yu Gothic"/>
                <a:ea typeface="Yu Gothic"/>
                <a:cs typeface="Yu Gothic"/>
              </a:rPr>
              <a:t>Dice Loss</a:t>
            </a:r>
            <a:r>
              <a:rPr sz="1600">
                <a:latin typeface="Yu Gothic"/>
                <a:ea typeface="Yu Gothic"/>
                <a:cs typeface="Yu Gothic"/>
              </a:rPr>
              <a:t>：推定楕円領域が正解楕円領域と重なると小さくなる</a:t>
            </a:r>
          </a:p>
        </p:txBody>
      </p:sp>
    </p:spTree>
    <p:extLst>
      <p:ext uri="{BB962C8B-B14F-4D97-AF65-F5344CB8AC3E}">
        <p14:creationId xmlns:p14="http://schemas.microsoft.com/office/powerpoint/2010/main" val="11680707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D1812B37-ADBF-8969-05AC-F5F6948F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646147B-C52A-607E-CEC8-3D3E2DB9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3F1A647-BDE1-6F21-BBA2-B887678D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2" y="581891"/>
            <a:ext cx="7810151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Blender</a:t>
            </a:r>
            <a:r>
              <a:rPr sz="3200"/>
              <a:t>を用いた初期データセットの作成</a:t>
            </a:r>
          </a:p>
        </p:txBody>
      </p:sp>
      <p:pic>
        <p:nvPicPr>
          <p:cNvPr id="58" name="図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fe5cdff3e4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805" y="1511658"/>
            <a:ext cx="1963984" cy="1963984"/>
          </a:xfrm>
          <a:prstGeom xmlns:a="http://schemas.openxmlformats.org/drawingml/2006/main" prst="rect">
            <a:avLst/>
          </a:prstGeom>
        </p:spPr>
      </p:pic>
      <p:pic>
        <p:nvPicPr>
          <p:cNvPr id="59" name="図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67b5d536a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1893" y="1544087"/>
            <a:ext cx="1385021" cy="1385021"/>
          </a:xfrm>
          <a:prstGeom xmlns:a="http://schemas.openxmlformats.org/drawingml/2006/main" prst="rect">
            <a:avLst/>
          </a:prstGeom>
        </p:spPr>
      </p:pic>
      <p:pic>
        <p:nvPicPr>
          <p:cNvPr id="60" name="図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6f3547c7d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7435" y="1544734"/>
            <a:ext cx="1385021" cy="1385021"/>
          </a:xfrm>
          <a:prstGeom xmlns:a="http://schemas.openxmlformats.org/drawingml/2006/main" prst="rect">
            <a:avLst/>
          </a:prstGeom>
        </p:spPr>
      </p:pic>
      <p:pic>
        <p:nvPicPr>
          <p:cNvPr id="61" name="図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a256ef04746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82977" y="1544734"/>
            <a:ext cx="1385021" cy="1385021"/>
          </a:xfrm>
          <a:prstGeom xmlns:a="http://schemas.openxmlformats.org/drawingml/2006/main" prst="rect">
            <a:avLst/>
          </a:prstGeom>
        </p:spPr>
      </p:pic>
      <p:sp>
        <p:nvSpPr>
          <p:cNvPr id="24" name="テキスト ボックス 23">
            <a:extLst xmlns:a="http://schemas.openxmlformats.org/drawingml/2006/main">
              <a:ext uri="{FF2B5EF4-FFF2-40B4-BE49-F238E27FC236}">
                <a16:creationId xmlns:a16="http://schemas.microsoft.com/office/drawing/2014/main" id="{9B12733B-36EB-D1A5-A669-CD5276C9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321" y="1174755"/>
            <a:ext cx="6463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遮蔽</a:t>
            </a:r>
          </a:p>
        </p:txBody>
      </p:sp>
      <p:sp>
        <p:nvSpPr>
          <p:cNvPr id="26" name="テキスト ボックス 25">
            <a:extLst xmlns:a="http://schemas.openxmlformats.org/drawingml/2006/main">
              <a:ext uri="{FF2B5EF4-FFF2-40B4-BE49-F238E27FC236}">
                <a16:creationId xmlns:a16="http://schemas.microsoft.com/office/drawing/2014/main" id="{B276B483-0750-3A69-4596-11160FF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15" y="3549190"/>
            <a:ext cx="258436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102</a:t>
            </a:r>
            <a:r>
              <a:rPr sz="1200"/>
              <a:t>カメラ条件</a:t>
            </a:r>
            <a:r>
              <a:rPr sz="1200"/>
              <a:t>×7</a:t>
            </a:r>
            <a:r>
              <a:rPr sz="1200"/>
              <a:t>照明条件</a:t>
            </a:r>
            <a:r>
              <a:rPr sz="1200"/>
              <a:t>=714</a:t>
            </a:r>
            <a:r>
              <a:rPr sz="1200"/>
              <a:t>枚</a:t>
            </a:r>
          </a:p>
        </p:txBody>
      </p:sp>
      <p:sp>
        <p:nvSpPr>
          <p:cNvPr id="28" name="テキスト ボックス 27">
            <a:extLst xmlns:a="http://schemas.openxmlformats.org/drawingml/2006/main">
              <a:ext uri="{FF2B5EF4-FFF2-40B4-BE49-F238E27FC236}">
                <a16:creationId xmlns:a16="http://schemas.microsoft.com/office/drawing/2014/main" id="{2F06B9D7-B591-1EB2-43EB-78F0859A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82" y="1196798"/>
            <a:ext cx="13388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基礎データ</a:t>
            </a:r>
          </a:p>
        </p:txBody>
      </p:sp>
      <p:sp>
        <p:nvSpPr>
          <p:cNvPr id="30" name="テキスト ボックス 29">
            <a:extLst xmlns:a="http://schemas.openxmlformats.org/drawingml/2006/main">
              <a:ext uri="{FF2B5EF4-FFF2-40B4-BE49-F238E27FC236}">
                <a16:creationId xmlns:a16="http://schemas.microsoft.com/office/drawing/2014/main" id="{AC19918C-97FE-8094-877F-FADAC6A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363" y="1166666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白飛び</a:t>
            </a:r>
          </a:p>
        </p:txBody>
      </p:sp>
      <p:sp>
        <p:nvSpPr>
          <p:cNvPr id="32" name="テキスト ボックス 31">
            <a:extLst xmlns:a="http://schemas.openxmlformats.org/drawingml/2006/main">
              <a:ext uri="{FF2B5EF4-FFF2-40B4-BE49-F238E27FC236}">
                <a16:creationId xmlns:a16="http://schemas.microsoft.com/office/drawing/2014/main" id="{8E32EC85-0F98-E758-CA69-970192B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405" y="1166666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黒つぶれ</a:t>
            </a:r>
          </a:p>
        </p:txBody>
      </p:sp>
      <p:sp>
        <p:nvSpPr>
          <p:cNvPr id="33" name="四角形: 角を丸くする 32">
            <a:extLst xmlns:a="http://schemas.openxmlformats.org/drawingml/2006/main">
              <a:ext uri="{FF2B5EF4-FFF2-40B4-BE49-F238E27FC236}">
                <a16:creationId xmlns:a16="http://schemas.microsoft.com/office/drawing/2014/main" id="{23735D3F-8105-E3F1-BEEC-D964F296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1716724"/>
            <a:ext cx="1272663" cy="457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学習 </a:t>
            </a:r>
            <a:r>
              <a:rPr sz="1000" b="1">
                <a:solidFill>
                  <a:schemeClr val="tx1"/>
                </a:solidFill>
              </a:rPr>
              <a:t>497</a:t>
            </a:r>
            <a:r>
              <a:rPr sz="1000" b="1">
                <a:solidFill>
                  <a:schemeClr val="tx1"/>
                </a:solidFill>
              </a:rPr>
              <a:t>枚</a:t>
            </a:r>
          </a:p>
        </p:txBody>
      </p:sp>
      <p:sp>
        <p:nvSpPr>
          <p:cNvPr id="35" name="四角形: 角を丸くする 34">
            <a:extLst xmlns:a="http://schemas.openxmlformats.org/drawingml/2006/main">
              <a:ext uri="{FF2B5EF4-FFF2-40B4-BE49-F238E27FC236}">
                <a16:creationId xmlns:a16="http://schemas.microsoft.com/office/drawing/2014/main" id="{4BE341B5-F6DD-BCC3-5A61-0F2F61B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2309634"/>
            <a:ext cx="1272663" cy="46181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学習時検証 </a:t>
            </a:r>
            <a:r>
              <a:rPr sz="1000" b="1">
                <a:solidFill>
                  <a:schemeClr val="tx1"/>
                </a:solidFill>
              </a:rPr>
              <a:t>105</a:t>
            </a:r>
            <a:r>
              <a:rPr sz="1000" b="1">
                <a:solidFill>
                  <a:schemeClr val="tx1"/>
                </a:solidFill>
              </a:rPr>
              <a:t>枚</a:t>
            </a:r>
          </a:p>
        </p:txBody>
      </p:sp>
      <p:sp>
        <p:nvSpPr>
          <p:cNvPr id="37" name="四角形: 角を丸くする 36">
            <a:extLst xmlns:a="http://schemas.openxmlformats.org/drawingml/2006/main">
              <a:ext uri="{FF2B5EF4-FFF2-40B4-BE49-F238E27FC236}">
                <a16:creationId xmlns:a16="http://schemas.microsoft.com/office/drawing/2014/main" id="{D9C00DB4-A4A9-4368-B395-31FEF99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2906537"/>
            <a:ext cx="1272663" cy="46181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テスト</a:t>
            </a:r>
            <a:r>
              <a:rPr sz="1000" b="1">
                <a:solidFill>
                  <a:schemeClr val="tx1"/>
                </a:solidFill>
              </a:rPr>
              <a:t>112</a:t>
            </a:r>
            <a:r>
              <a:rPr sz="1000" b="1">
                <a:solidFill>
                  <a:schemeClr val="tx1"/>
                </a:solidFill>
              </a:rPr>
              <a:t>枚</a:t>
            </a:r>
          </a:p>
        </p:txBody>
      </p:sp>
      <p:sp>
        <p:nvSpPr>
          <p:cNvPr id="41" name="テキスト ボックス 40">
            <a:extLst xmlns:a="http://schemas.openxmlformats.org/drawingml/2006/main">
              <a:ext uri="{FF2B5EF4-FFF2-40B4-BE49-F238E27FC236}">
                <a16:creationId xmlns:a16="http://schemas.microsoft.com/office/drawing/2014/main" id="{EAE15700-3618-D4DF-561A-661D901D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84" y="3041359"/>
            <a:ext cx="3841116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・学習：</a:t>
            </a:r>
            <a:r>
              <a:rPr sz="1200"/>
              <a:t>497</a:t>
            </a:r>
            <a:r>
              <a:rPr sz="1200"/>
              <a:t>枚</a:t>
            </a:r>
            <a:r>
              <a:rPr sz="1200"/>
              <a:t>×</a:t>
            </a:r>
            <a:r>
              <a:rPr sz="1200"/>
              <a:t>(</a:t>
            </a:r>
            <a:r>
              <a:rPr sz="1200"/>
              <a:t>元画像</a:t>
            </a:r>
            <a:r>
              <a:rPr sz="1200"/>
              <a:t>+3</a:t>
            </a:r>
            <a:r>
              <a:rPr sz="1200"/>
              <a:t>劣化</a:t>
            </a:r>
            <a:r>
              <a:rPr sz="1200"/>
              <a:t>) = 1988</a:t>
            </a:r>
            <a:r>
              <a:rPr sz="1200"/>
              <a:t>枚</a:t>
            </a:r>
          </a:p>
          <a:p xmlns:a="http://schemas.openxmlformats.org/drawingml/2006/main">
            <a:r>
              <a:rPr sz="1200"/>
              <a:t>・検証：</a:t>
            </a:r>
            <a:r>
              <a:rPr sz="1200"/>
              <a:t>105</a:t>
            </a:r>
            <a:r>
              <a:rPr sz="1200"/>
              <a:t>枚</a:t>
            </a:r>
            <a:r>
              <a:rPr sz="1200"/>
              <a:t>×(</a:t>
            </a:r>
            <a:r>
              <a:rPr sz="1200"/>
              <a:t>元画像</a:t>
            </a:r>
            <a:r>
              <a:rPr sz="1200"/>
              <a:t>+3</a:t>
            </a:r>
            <a:r>
              <a:rPr sz="1200"/>
              <a:t>劣化</a:t>
            </a:r>
            <a:r>
              <a:rPr sz="1200"/>
              <a:t>×2</a:t>
            </a:r>
            <a:r>
              <a:rPr sz="1200"/>
              <a:t>強度</a:t>
            </a:r>
            <a:r>
              <a:rPr sz="1200"/>
              <a:t>) = 735</a:t>
            </a:r>
            <a:r>
              <a:rPr sz="1200"/>
              <a:t>枚</a:t>
            </a:r>
          </a:p>
          <a:p xmlns:a="http://schemas.openxmlformats.org/drawingml/2006/main">
            <a:r>
              <a:rPr sz="1200"/>
              <a:t>・テスト：</a:t>
            </a:r>
            <a:r>
              <a:rPr sz="1200"/>
              <a:t>112</a:t>
            </a:r>
            <a:r>
              <a:rPr sz="1200"/>
              <a:t>枚</a:t>
            </a:r>
            <a:r>
              <a:rPr sz="1200"/>
              <a:t>×(</a:t>
            </a:r>
            <a:r>
              <a:rPr sz="1200"/>
              <a:t>元画像</a:t>
            </a:r>
            <a:r>
              <a:rPr sz="1200"/>
              <a:t>+3</a:t>
            </a:r>
            <a:r>
              <a:rPr sz="1200"/>
              <a:t>劣化</a:t>
            </a:r>
            <a:r>
              <a:rPr sz="1200"/>
              <a:t>×4</a:t>
            </a:r>
            <a:r>
              <a:rPr sz="1200"/>
              <a:t>強度</a:t>
            </a:r>
            <a:r>
              <a:rPr sz="1200"/>
              <a:t>) = 1456</a:t>
            </a:r>
            <a:r>
              <a:rPr sz="1200"/>
              <a:t>枚</a:t>
            </a:r>
          </a:p>
        </p:txBody>
      </p:sp>
      <p:sp>
        <p:nvSpPr>
          <p:cNvPr id="4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2F7EC8F-938F-D5C9-6FFF-CBBB512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04" y="3835843"/>
            <a:ext cx="4742004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</a:t>
            </a:r>
            <a:r>
              <a:rPr sz="2000">
                <a:latin typeface="Yu Gothic"/>
                <a:ea typeface="Yu Gothic"/>
                <a:cs typeface="Yu Gothic"/>
              </a:rPr>
              <a:t>基礎データ</a:t>
            </a:r>
            <a:r>
              <a:rPr sz="2000">
                <a:latin typeface="Yu Gothic"/>
                <a:ea typeface="Yu Gothic"/>
                <a:cs typeface="Yu Gothic"/>
              </a:rPr>
              <a:t>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・102カメラ条件 × 7照明条件 = 714枚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</a:t>
            </a:r>
            <a:r>
              <a:rPr sz="2000">
                <a:latin typeface="Yu Gothic"/>
                <a:ea typeface="Yu Gothic"/>
                <a:cs typeface="Yu Gothic"/>
              </a:rPr>
              <a:t>正解</a:t>
            </a:r>
            <a:r>
              <a:rPr sz="2000">
                <a:latin typeface="Yu Gothic"/>
                <a:ea typeface="Yu Gothic"/>
                <a:cs typeface="Yu Gothic"/>
              </a:rPr>
              <a:t>データ</a:t>
            </a:r>
            <a:r>
              <a:rPr sz="2000">
                <a:latin typeface="Yu Gothic"/>
                <a:ea typeface="Yu Gothic"/>
                <a:cs typeface="Yu Gothic"/>
              </a:rPr>
              <a:t>：</a:t>
            </a:r>
            <a:r>
              <a:rPr sz="2000">
                <a:latin typeface="Yu Gothic"/>
                <a:ea typeface="Yu Gothic"/>
                <a:cs typeface="Yu Gothic"/>
              </a:rPr>
              <a:t>PAF内周輪郭</a:t>
            </a:r>
          </a:p>
        </p:txBody>
      </p:sp>
      <p:sp>
        <p:nvSpPr>
          <p:cNvPr id="45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EEBB221E-D462-6241-E436-6FC7CD0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84" y="3826189"/>
            <a:ext cx="5258171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</a:t>
            </a:r>
            <a:r>
              <a:rPr sz="2000">
                <a:latin typeface="Yu Gothic"/>
                <a:ea typeface="Yu Gothic"/>
                <a:cs typeface="Yu Gothic"/>
              </a:rPr>
              <a:t>データ分割と劣化効果の付与</a:t>
            </a:r>
            <a:r>
              <a:rPr sz="2000">
                <a:latin typeface="Yu Gothic"/>
                <a:ea typeface="Yu Gothic"/>
                <a:cs typeface="Yu Gothic"/>
              </a:rPr>
              <a:t>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</a:t>
            </a:r>
            <a:r>
              <a:rPr sz="2000">
                <a:latin typeface="Yu Gothic"/>
                <a:ea typeface="Yu Gothic"/>
                <a:cs typeface="Yu Gothic"/>
              </a:rPr>
              <a:t>学習・テストで異なるカメラ条件を使用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</a:t>
            </a:r>
            <a:r>
              <a:rPr sz="2000">
                <a:latin typeface="Yu Gothic"/>
                <a:ea typeface="Yu Gothic"/>
                <a:cs typeface="Yu Gothic"/>
              </a:rPr>
              <a:t>OpenCV</a:t>
            </a:r>
            <a:r>
              <a:rPr sz="2000">
                <a:latin typeface="Yu Gothic"/>
                <a:ea typeface="Yu Gothic"/>
                <a:cs typeface="Yu Gothic"/>
              </a:rPr>
              <a:t>で</a:t>
            </a:r>
            <a:r>
              <a:rPr sz="2000">
                <a:latin typeface="Yu Gothic"/>
                <a:ea typeface="Yu Gothic"/>
                <a:cs typeface="Yu Gothic"/>
              </a:rPr>
              <a:t>遮蔽／白飛び／黒つぶれを付与</a:t>
            </a:r>
          </a:p>
        </p:txBody>
      </p:sp>
      <p:pic>
        <p:nvPicPr>
          <p:cNvPr id="73" name="図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0238455ac4e89"/>
          <a:srcRect xmlns:a="http://schemas.openxmlformats.org/drawingml/2006/main" l="17073" t="18032" r="13962" b="38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74094" y="5017034"/>
            <a:ext cx="1848184" cy="1167100"/>
          </a:xfrm>
          <a:prstGeom xmlns:a="http://schemas.openxmlformats.org/drawingml/2006/main" prst="rect">
            <a:avLst/>
          </a:prstGeom>
        </p:spPr>
      </p:pic>
      <p:sp>
        <p:nvSpPr>
          <p:cNvPr id="49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BF5B54D-7B2D-F6B9-89C1-13956CC0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308" y="5246641"/>
            <a:ext cx="2323072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サイズ：</a:t>
            </a:r>
            <a:r>
              <a:rPr sz="2000">
                <a:latin typeface="Yu Gothic"/>
                <a:ea typeface="Yu Gothic"/>
                <a:cs typeface="Yu Gothic"/>
              </a:rPr>
              <a:t>256</a:t>
            </a:r>
            <a:r>
              <a:rPr sz="2000">
                <a:latin typeface="Yu Gothic"/>
                <a:ea typeface="Yu Gothic"/>
                <a:cs typeface="Yu Gothic"/>
              </a:rPr>
              <a:t>×256</a:t>
            </a:r>
            <a:br/>
            <a:r>
              <a:rPr sz="2000">
                <a:latin typeface="Yu Gothic"/>
                <a:ea typeface="Yu Gothic"/>
                <a:cs typeface="Yu Gothic"/>
              </a:rPr>
              <a:t>正解楕円幅：</a:t>
            </a:r>
            <a:r>
              <a:rPr sz="2000">
                <a:latin typeface="Yu Gothic"/>
                <a:ea typeface="Yu Gothic"/>
                <a:cs typeface="Yu Gothic"/>
              </a:rPr>
              <a:t>3 </a:t>
            </a:r>
            <a:r>
              <a:rPr sz="2000">
                <a:latin typeface="Yu Gothic"/>
                <a:ea typeface="Yu Gothic"/>
                <a:cs typeface="Yu Gothic"/>
              </a:rPr>
              <a:t>px</a:t>
            </a:r>
          </a:p>
        </p:txBody>
      </p:sp>
    </p:spTree>
    <p:extLst>
      <p:ext uri="{BB962C8B-B14F-4D97-AF65-F5344CB8AC3E}">
        <p14:creationId xmlns:p14="http://schemas.microsoft.com/office/powerpoint/2010/main" val="29805985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40160D6-9D3B-7423-AD06-29A385B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89C6FC1-D7E5-3EF8-1907-F62C1225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04B5FBB5-B3CF-A2F0-3A3F-F51A2567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2" y="783624"/>
            <a:ext cx="1826141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比較方法</a:t>
            </a:r>
          </a:p>
        </p:txBody>
      </p:sp>
      <p:sp>
        <p:nvSpPr>
          <p:cNvPr id="5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5E6428CC-E494-5ADC-1A26-981BFC7E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" y="2040689"/>
            <a:ext cx="4325223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</a:t>
            </a:r>
            <a:r>
              <a:rPr sz="2400">
                <a:latin typeface="Yu Gothic"/>
                <a:ea typeface="Yu Gothic"/>
                <a:cs typeface="Yu Gothic"/>
              </a:rPr>
              <a:t>評価条件</a:t>
            </a:r>
            <a:r>
              <a:rPr sz="2400">
                <a:latin typeface="Yu Gothic"/>
                <a:ea typeface="Yu Gothic"/>
                <a:cs typeface="Yu Gothic"/>
              </a:rPr>
              <a:t>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・Clean、25、50、75、100%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・各条件112枚</a:t>
            </a:r>
          </a:p>
        </p:txBody>
      </p:sp>
      <p:sp>
        <p:nvSpPr>
          <p:cNvPr id="12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200278F5-5BDF-6B4A-16E8-4B3DF6E5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" y="3619559"/>
            <a:ext cx="505458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</a:t>
            </a:r>
            <a:r>
              <a:rPr sz="2400">
                <a:latin typeface="Yu Gothic"/>
                <a:ea typeface="Yu Gothic"/>
                <a:cs typeface="Yu Gothic"/>
              </a:rPr>
              <a:t>成功条件</a:t>
            </a:r>
            <a:r>
              <a:rPr sz="2400">
                <a:latin typeface="Yu Gothic"/>
                <a:ea typeface="Yu Gothic"/>
                <a:cs typeface="Yu Gothic"/>
              </a:rPr>
              <a:t>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</a:t>
            </a:r>
            <a:r>
              <a:rPr sz="2400">
                <a:latin typeface="Yu Gothic"/>
                <a:ea typeface="Yu Gothic"/>
                <a:cs typeface="Yu Gothic"/>
              </a:rPr>
              <a:t>推定楕円と正解楕円のIoU</a:t>
            </a:r>
            <a:r>
              <a:rPr sz="2400">
                <a:latin typeface="Yu Gothic"/>
                <a:ea typeface="Yu Gothic"/>
                <a:cs typeface="Yu Gothic"/>
              </a:rPr>
              <a:t> ≥ 0.80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・同一元画像で</a:t>
            </a:r>
            <a:r>
              <a:rPr sz="2400">
                <a:latin typeface="Yu Gothic"/>
                <a:ea typeface="Yu Gothic"/>
                <a:cs typeface="Yu Gothic"/>
              </a:rPr>
              <a:t>3</a:t>
            </a:r>
            <a:r>
              <a:rPr sz="2400">
                <a:latin typeface="Yu Gothic"/>
                <a:ea typeface="Yu Gothic"/>
                <a:cs typeface="Yu Gothic"/>
              </a:rPr>
              <a:t>方式を比較</a:t>
            </a:r>
          </a:p>
        </p:txBody>
      </p:sp>
      <p:pic>
        <p:nvPicPr>
          <p:cNvPr id="19" name="図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ff019f60b411d"/>
          <a:srcRect xmlns:a="http://schemas.openxmlformats.org/drawingml/2006/main" l="0" t="8889" r="0" b="4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19810" y="1623221"/>
            <a:ext cx="6422808" cy="36115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707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71C022E-8A6D-D860-62C4-E82D91D2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ABD56A1-D136-23BE-FA40-2691695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F0564DD-CCF5-2C5F-3CEE-04511364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2" y="783624"/>
            <a:ext cx="1826141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比較結果</a:t>
            </a:r>
          </a:p>
        </p:txBody>
      </p:sp>
      <p:sp>
        <p:nvSpPr>
          <p:cNvPr id="11" name="テキスト ボックス 10">
            <a:extLst xmlns:a="http://schemas.openxmlformats.org/drawingml/2006/main">
              <a:ext uri="{FF2B5EF4-FFF2-40B4-BE49-F238E27FC236}">
                <a16:creationId xmlns:a16="http://schemas.microsoft.com/office/drawing/2014/main" id="{CBD63CF5-DEB8-2687-7FF6-15A53B2B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590" y="1564533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白飛び</a:t>
            </a:r>
          </a:p>
        </p:txBody>
      </p:sp>
      <p:sp>
        <p:nvSpPr>
          <p:cNvPr id="14" name="テキスト ボックス 13">
            <a:extLst xmlns:a="http://schemas.openxmlformats.org/drawingml/2006/main">
              <a:ext uri="{FF2B5EF4-FFF2-40B4-BE49-F238E27FC236}">
                <a16:creationId xmlns:a16="http://schemas.microsoft.com/office/drawing/2014/main" id="{B4D1BDE0-B285-64FC-3965-27D1AB3B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152" y="1564533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単純矩形</a:t>
            </a:r>
          </a:p>
        </p:txBody>
      </p:sp>
      <p:sp>
        <p:nvSpPr>
          <p:cNvPr id="17" name="テキスト ボックス 16">
            <a:extLst xmlns:a="http://schemas.openxmlformats.org/drawingml/2006/main">
              <a:ext uri="{FF2B5EF4-FFF2-40B4-BE49-F238E27FC236}">
                <a16:creationId xmlns:a16="http://schemas.microsoft.com/office/drawing/2014/main" id="{7608E71F-2A61-F15D-F4A3-0F4D9C07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601" y="1564533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黒つぶれ</a:t>
            </a:r>
          </a:p>
        </p:txBody>
      </p:sp>
      <p:sp>
        <p:nvSpPr>
          <p:cNvPr id="19" name="テキスト ボックス 18">
            <a:extLst xmlns:a="http://schemas.openxmlformats.org/drawingml/2006/main">
              <a:ext uri="{FF2B5EF4-FFF2-40B4-BE49-F238E27FC236}">
                <a16:creationId xmlns:a16="http://schemas.microsoft.com/office/drawing/2014/main" id="{09A278D3-372D-D165-699E-28CC667C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845" y="4716380"/>
            <a:ext cx="295465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劣化強度と楕円検出成功率</a:t>
            </a:r>
          </a:p>
        </p:txBody>
      </p:sp>
      <p:sp>
        <p:nvSpPr>
          <p:cNvPr id="21" name="テキスト ボックス 20">
            <a:extLst xmlns:a="http://schemas.openxmlformats.org/drawingml/2006/main">
              <a:ext uri="{FF2B5EF4-FFF2-40B4-BE49-F238E27FC236}">
                <a16:creationId xmlns:a16="http://schemas.microsoft.com/office/drawing/2014/main" id="{82085C5B-D0DA-DA20-1663-7DD0BA27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2" y="5489602"/>
            <a:ext cx="822693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・</a:t>
            </a:r>
            <a:r>
              <a:t>3</a:t>
            </a:r>
            <a:r>
              <a:t>方式全て</a:t>
            </a:r>
            <a:r>
              <a:t>が成功した</a:t>
            </a:r>
            <a:r>
              <a:t>491</a:t>
            </a:r>
            <a:r>
              <a:t>枚における中心誤差</a:t>
            </a:r>
            <a:br/>
            <a:r>
              <a:t>　</a:t>
            </a:r>
            <a:r>
              <a:t>fitEllipse</a:t>
            </a:r>
            <a:r>
              <a:t>：</a:t>
            </a:r>
            <a:r>
              <a:t>2.38±0.12 </a:t>
            </a:r>
            <a:r>
              <a:t>px</a:t>
            </a:r>
            <a:r>
              <a:t>、</a:t>
            </a:r>
            <a:r>
              <a:t>Canny：</a:t>
            </a:r>
            <a:r>
              <a:t>0</a:t>
            </a:r>
            <a:r>
              <a:t>.</a:t>
            </a:r>
            <a:r>
              <a:t>98</a:t>
            </a:r>
            <a:r>
              <a:t> ± 0.0</a:t>
            </a:r>
            <a:r>
              <a:t>4</a:t>
            </a:r>
            <a:r>
              <a:t> px、CNN：0.8</a:t>
            </a:r>
            <a:r>
              <a:t>0</a:t>
            </a:r>
            <a:r>
              <a:t> ± 0.0</a:t>
            </a:r>
            <a:r>
              <a:t>3</a:t>
            </a:r>
            <a:r>
              <a:t> px</a:t>
            </a:r>
          </a:p>
        </p:txBody>
      </p:sp>
      <p:sp>
        <p:nvSpPr>
          <p:cNvPr id="22" name="正方形/長方形 21">
            <a:extLst xmlns:a="http://schemas.openxmlformats.org/drawingml/2006/main">
              <a:ext uri="{FF2B5EF4-FFF2-40B4-BE49-F238E27FC236}">
                <a16:creationId xmlns:a16="http://schemas.microsoft.com/office/drawing/2014/main" id="{F303C135-82CC-FEF2-CA72-BDAC791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536" y="4489094"/>
            <a:ext cx="3224464" cy="5834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4ce1118c84e2c"/>
          <a:srcRect xmlns:a="http://schemas.openxmlformats.org/drawingml/2006/main" l="0" t="2452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694" y="2055266"/>
            <a:ext cx="11662611" cy="31047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097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FEEEA7F-9EA7-343D-6CD1-532B15C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635DF84-E770-DECE-AEAD-AED7C1E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A9B0679-3F6B-E09F-9FFB-0771D614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82" y="783624"/>
            <a:ext cx="223651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今後の予定</a:t>
            </a:r>
          </a:p>
        </p:txBody>
      </p:sp>
      <p:sp>
        <p:nvSpPr>
          <p:cNvPr id="22" name="正方形/長方形 21">
            <a:extLst xmlns:a="http://schemas.openxmlformats.org/drawingml/2006/main">
              <a:ext uri="{FF2B5EF4-FFF2-40B4-BE49-F238E27FC236}">
                <a16:creationId xmlns:a16="http://schemas.microsoft.com/office/drawing/2014/main" id="{7802B732-0313-5706-4239-B9E4504E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536" y="4489094"/>
            <a:ext cx="3224464" cy="5834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29DBFF2-3DAC-212D-F433-9494C81D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" y="1722576"/>
            <a:ext cx="9081305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・比較用ベースライン手法の追加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　・</a:t>
            </a:r>
            <a:r>
              <a:rPr sz="2400">
                <a:latin typeface="Yu Gothic"/>
                <a:ea typeface="Yu Gothic"/>
                <a:cs typeface="Yu Gothic"/>
              </a:rPr>
              <a:t>Zhang(2019)</a:t>
            </a:r>
            <a:r>
              <a:rPr sz="2400">
                <a:latin typeface="Yu Gothic"/>
                <a:ea typeface="Yu Gothic"/>
                <a:cs typeface="Yu Gothic"/>
              </a:rPr>
              <a:t>：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　　エッジを短い楕円弧に分割し、同じ楕円に属する可能性が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　　高い弧を再結合した後に最小二乗楕円を適用。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2A373B9F-AE19-06CE-6ED4-8BFE17A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" y="3752540"/>
            <a:ext cx="847058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・宇宙機</a:t>
            </a:r>
            <a:r>
              <a:rPr sz="2400">
                <a:latin typeface="Yu Gothic"/>
                <a:ea typeface="Yu Gothic"/>
                <a:cs typeface="Yu Gothic"/>
              </a:rPr>
              <a:t>CAD</a:t>
            </a:r>
            <a:r>
              <a:rPr sz="2400">
                <a:latin typeface="Yu Gothic"/>
                <a:ea typeface="Yu Gothic"/>
                <a:cs typeface="Yu Gothic"/>
              </a:rPr>
              <a:t>に依存しない</a:t>
            </a:r>
            <a:r>
              <a:rPr sz="2400">
                <a:latin typeface="Yu Gothic"/>
                <a:ea typeface="Yu Gothic"/>
                <a:cs typeface="Yu Gothic"/>
              </a:rPr>
              <a:t>CNN</a:t>
            </a:r>
            <a:r>
              <a:rPr sz="2400">
                <a:latin typeface="Yu Gothic"/>
                <a:ea typeface="Yu Gothic"/>
                <a:cs typeface="Yu Gothic"/>
              </a:rPr>
              <a:t>ベース</a:t>
            </a:r>
            <a:r>
              <a:rPr sz="2400">
                <a:latin typeface="Yu Gothic"/>
                <a:ea typeface="Yu Gothic"/>
                <a:cs typeface="Yu Gothic"/>
              </a:rPr>
              <a:t>PAF</a:t>
            </a:r>
            <a:r>
              <a:rPr sz="2400">
                <a:latin typeface="Yu Gothic"/>
                <a:ea typeface="Yu Gothic"/>
                <a:cs typeface="Yu Gothic"/>
              </a:rPr>
              <a:t>検出の検討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　・</a:t>
            </a:r>
            <a:r>
              <a:rPr sz="2400">
                <a:latin typeface="Yu Gothic"/>
                <a:ea typeface="Yu Gothic"/>
                <a:cs typeface="Yu Gothic"/>
              </a:rPr>
              <a:t>PAF</a:t>
            </a:r>
            <a:r>
              <a:rPr sz="2400">
                <a:latin typeface="Yu Gothic"/>
                <a:ea typeface="Yu Gothic"/>
                <a:cs typeface="Yu Gothic"/>
              </a:rPr>
              <a:t>内周の実直径とカメラ内部パラメータを既知とする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　・</a:t>
            </a:r>
            <a:r>
              <a:rPr sz="2400">
                <a:latin typeface="Yu Gothic"/>
                <a:ea typeface="Yu Gothic"/>
                <a:cs typeface="Yu Gothic"/>
              </a:rPr>
              <a:t>CNN</a:t>
            </a:r>
            <a:r>
              <a:rPr sz="2400">
                <a:latin typeface="Yu Gothic"/>
                <a:ea typeface="Yu Gothic"/>
                <a:cs typeface="Yu Gothic"/>
              </a:rPr>
              <a:t>により</a:t>
            </a:r>
            <a:r>
              <a:rPr sz="2400">
                <a:latin typeface="Yu Gothic"/>
                <a:ea typeface="Yu Gothic"/>
                <a:cs typeface="Yu Gothic"/>
              </a:rPr>
              <a:t>PAF</a:t>
            </a:r>
            <a:r>
              <a:rPr sz="2400">
                <a:latin typeface="Yu Gothic"/>
                <a:ea typeface="Yu Gothic"/>
                <a:cs typeface="Yu Gothic"/>
              </a:rPr>
              <a:t>内周らしい領域を抽出し楕円を検出</a:t>
            </a:r>
          </a:p>
        </p:txBody>
      </p:sp>
    </p:spTree>
    <p:extLst>
      <p:ext uri="{BB962C8B-B14F-4D97-AF65-F5344CB8AC3E}">
        <p14:creationId xmlns:p14="http://schemas.microsoft.com/office/powerpoint/2010/main" val="3945427089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2026-07-30T18:04:40.1040000Z</dcterms:created>
  <dcterms:modified xsi:type="dcterms:W3CDTF">2026-07-30T18:04:40.1040000Z</dcterms:modified>
</coreProperties>
</file>