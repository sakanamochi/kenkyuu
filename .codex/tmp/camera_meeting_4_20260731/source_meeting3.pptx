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3" r:id="rId3"/>
    <p:sldId id="257" r:id="rId4"/>
    <p:sldId id="256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3761C-BFC6-464A-810A-5FB1946AAE03}" v="97" dt="2026-07-17T05:09:36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56" autoAdjust="0"/>
  </p:normalViewPr>
  <p:slideViewPr>
    <p:cSldViewPr snapToGrid="0">
      <p:cViewPr>
        <p:scale>
          <a:sx n="50" d="100"/>
          <a:sy n="50" d="100"/>
        </p:scale>
        <p:origin x="12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伊藤　弘道" userId="8d3e55f7-41ac-41a4-8fbe-691320f04f0d" providerId="ADAL" clId="{F5FC7226-62CA-4BEF-8580-CFD19CE2C480}"/>
    <pc:docChg chg="undo custSel modSld">
      <pc:chgData name="伊藤　弘道" userId="8d3e55f7-41ac-41a4-8fbe-691320f04f0d" providerId="ADAL" clId="{F5FC7226-62CA-4BEF-8580-CFD19CE2C480}" dt="2026-07-17T05:53:52.846" v="697" actId="1038"/>
      <pc:docMkLst>
        <pc:docMk/>
      </pc:docMkLst>
      <pc:sldChg chg="modSp mod">
        <pc:chgData name="伊藤　弘道" userId="8d3e55f7-41ac-41a4-8fbe-691320f04f0d" providerId="ADAL" clId="{F5FC7226-62CA-4BEF-8580-CFD19CE2C480}" dt="2026-07-17T03:52:28.664" v="10"/>
        <pc:sldMkLst>
          <pc:docMk/>
          <pc:sldMk cId="2980598517" sldId="256"/>
        </pc:sldMkLst>
        <pc:spChg chg="mod">
          <ac:chgData name="伊藤　弘道" userId="8d3e55f7-41ac-41a4-8fbe-691320f04f0d" providerId="ADAL" clId="{F5FC7226-62CA-4BEF-8580-CFD19CE2C480}" dt="2026-07-17T03:52:28.664" v="10"/>
          <ac:spMkLst>
            <pc:docMk/>
            <pc:sldMk cId="2980598517" sldId="256"/>
            <ac:spMk id="45" creationId="{EEBB221E-D462-6241-E436-6FC7CD0A6CCE}"/>
          </ac:spMkLst>
        </pc:spChg>
      </pc:sldChg>
      <pc:sldChg chg="addSp modSp mod">
        <pc:chgData name="伊藤　弘道" userId="8d3e55f7-41ac-41a4-8fbe-691320f04f0d" providerId="ADAL" clId="{F5FC7226-62CA-4BEF-8580-CFD19CE2C480}" dt="2026-07-17T05:53:52.846" v="697" actId="1038"/>
        <pc:sldMkLst>
          <pc:docMk/>
          <pc:sldMk cId="2579240347" sldId="258"/>
        </pc:sldMkLst>
        <pc:spChg chg="add mod">
          <ac:chgData name="伊藤　弘道" userId="8d3e55f7-41ac-41a4-8fbe-691320f04f0d" providerId="ADAL" clId="{F5FC7226-62CA-4BEF-8580-CFD19CE2C480}" dt="2026-07-17T05:03:48.670" v="533"/>
          <ac:spMkLst>
            <pc:docMk/>
            <pc:sldMk cId="2579240347" sldId="258"/>
            <ac:spMk id="3" creationId="{EDE4D0C7-8FB5-6F22-90D8-E23A16106645}"/>
          </ac:spMkLst>
        </pc:spChg>
        <pc:spChg chg="mod">
          <ac:chgData name="伊藤　弘道" userId="8d3e55f7-41ac-41a4-8fbe-691320f04f0d" providerId="ADAL" clId="{F5FC7226-62CA-4BEF-8580-CFD19CE2C480}" dt="2026-07-17T04:11:04.468" v="25"/>
          <ac:spMkLst>
            <pc:docMk/>
            <pc:sldMk cId="2579240347" sldId="258"/>
            <ac:spMk id="7" creationId="{A915CC3B-E80E-2CB4-2CD1-FB3F1A4CB7B0}"/>
          </ac:spMkLst>
        </pc:spChg>
        <pc:spChg chg="mod">
          <ac:chgData name="伊藤　弘道" userId="8d3e55f7-41ac-41a4-8fbe-691320f04f0d" providerId="ADAL" clId="{F5FC7226-62CA-4BEF-8580-CFD19CE2C480}" dt="2026-07-17T05:53:52.846" v="697" actId="1038"/>
          <ac:spMkLst>
            <pc:docMk/>
            <pc:sldMk cId="2579240347" sldId="258"/>
            <ac:spMk id="26" creationId="{EDA60CE8-2AA6-B01D-1621-A3A61AD7A515}"/>
          </ac:spMkLst>
        </pc:spChg>
      </pc:sldChg>
      <pc:sldChg chg="modSp mod">
        <pc:chgData name="伊藤　弘道" userId="8d3e55f7-41ac-41a4-8fbe-691320f04f0d" providerId="ADAL" clId="{F5FC7226-62CA-4BEF-8580-CFD19CE2C480}" dt="2026-07-17T04:26:34.340" v="246"/>
        <pc:sldMkLst>
          <pc:docMk/>
          <pc:sldMk cId="1168070768" sldId="259"/>
        </pc:sldMkLst>
        <pc:spChg chg="mod">
          <ac:chgData name="伊藤　弘道" userId="8d3e55f7-41ac-41a4-8fbe-691320f04f0d" providerId="ADAL" clId="{F5FC7226-62CA-4BEF-8580-CFD19CE2C480}" dt="2026-07-17T04:26:34.340" v="246"/>
          <ac:spMkLst>
            <pc:docMk/>
            <pc:sldMk cId="1168070768" sldId="259"/>
            <ac:spMk id="15" creationId="{1E03CBAC-19D5-7CC7-9627-89892B32D97A}"/>
          </ac:spMkLst>
        </pc:spChg>
      </pc:sldChg>
      <pc:sldChg chg="modSp mod">
        <pc:chgData name="伊藤　弘道" userId="8d3e55f7-41ac-41a4-8fbe-691320f04f0d" providerId="ADAL" clId="{F5FC7226-62CA-4BEF-8580-CFD19CE2C480}" dt="2026-07-17T05:30:34.264" v="688" actId="20577"/>
        <pc:sldMkLst>
          <pc:docMk/>
          <pc:sldMk cId="3480970793" sldId="260"/>
        </pc:sldMkLst>
        <pc:spChg chg="mod">
          <ac:chgData name="伊藤　弘道" userId="8d3e55f7-41ac-41a4-8fbe-691320f04f0d" providerId="ADAL" clId="{F5FC7226-62CA-4BEF-8580-CFD19CE2C480}" dt="2026-07-17T05:30:34.264" v="688" actId="20577"/>
          <ac:spMkLst>
            <pc:docMk/>
            <pc:sldMk cId="3480970793" sldId="260"/>
            <ac:spMk id="12" creationId="{200278F5-5BDF-6B4A-16E8-4B3DF6E53C5B}"/>
          </ac:spMkLst>
        </pc:spChg>
      </pc:sldChg>
      <pc:sldChg chg="addSp delSp modSp mod modNotesTx">
        <pc:chgData name="伊藤　弘道" userId="8d3e55f7-41ac-41a4-8fbe-691320f04f0d" providerId="ADAL" clId="{F5FC7226-62CA-4BEF-8580-CFD19CE2C480}" dt="2026-07-17T05:50:41.144" v="691" actId="20577"/>
        <pc:sldMkLst>
          <pc:docMk/>
          <pc:sldMk cId="1554909764" sldId="261"/>
        </pc:sldMkLst>
        <pc:spChg chg="mod">
          <ac:chgData name="伊藤　弘道" userId="8d3e55f7-41ac-41a4-8fbe-691320f04f0d" providerId="ADAL" clId="{F5FC7226-62CA-4BEF-8580-CFD19CE2C480}" dt="2026-07-17T05:01:24.884" v="348" actId="20577"/>
          <ac:spMkLst>
            <pc:docMk/>
            <pc:sldMk cId="1554909764" sldId="261"/>
            <ac:spMk id="6" creationId="{2ABD56A1-D136-23BE-FA40-26916958864B}"/>
          </ac:spMkLst>
        </pc:spChg>
        <pc:spChg chg="mod">
          <ac:chgData name="伊藤　弘道" userId="8d3e55f7-41ac-41a4-8fbe-691320f04f0d" providerId="ADAL" clId="{F5FC7226-62CA-4BEF-8580-CFD19CE2C480}" dt="2026-07-17T05:26:48.153" v="682" actId="1076"/>
          <ac:spMkLst>
            <pc:docMk/>
            <pc:sldMk cId="1554909764" sldId="261"/>
            <ac:spMk id="11" creationId="{CBD63CF5-DEB8-2687-7FF6-15A53B2BB06E}"/>
          </ac:spMkLst>
        </pc:spChg>
        <pc:spChg chg="mod">
          <ac:chgData name="伊藤　弘道" userId="8d3e55f7-41ac-41a4-8fbe-691320f04f0d" providerId="ADAL" clId="{F5FC7226-62CA-4BEF-8580-CFD19CE2C480}" dt="2026-07-17T05:27:04.337" v="686" actId="1076"/>
          <ac:spMkLst>
            <pc:docMk/>
            <pc:sldMk cId="1554909764" sldId="261"/>
            <ac:spMk id="14" creationId="{B4D1BDE0-B285-64FC-3965-27D1AB3BC0C0}"/>
          </ac:spMkLst>
        </pc:spChg>
        <pc:spChg chg="mod">
          <ac:chgData name="伊藤　弘道" userId="8d3e55f7-41ac-41a4-8fbe-691320f04f0d" providerId="ADAL" clId="{F5FC7226-62CA-4BEF-8580-CFD19CE2C480}" dt="2026-07-17T05:26:57.213" v="683" actId="1076"/>
          <ac:spMkLst>
            <pc:docMk/>
            <pc:sldMk cId="1554909764" sldId="261"/>
            <ac:spMk id="17" creationId="{7608E71F-2A61-F15D-F4A3-0F4D9C0761F1}"/>
          </ac:spMkLst>
        </pc:spChg>
        <pc:spChg chg="mod">
          <ac:chgData name="伊藤　弘道" userId="8d3e55f7-41ac-41a4-8fbe-691320f04f0d" providerId="ADAL" clId="{F5FC7226-62CA-4BEF-8580-CFD19CE2C480}" dt="2026-07-17T05:50:41.144" v="691" actId="20577"/>
          <ac:spMkLst>
            <pc:docMk/>
            <pc:sldMk cId="1554909764" sldId="261"/>
            <ac:spMk id="21" creationId="{82085C5B-D0DA-DA20-1663-7DD0BA270B0E}"/>
          </ac:spMkLst>
        </pc:spChg>
        <pc:picChg chg="add mod modCrop">
          <ac:chgData name="伊藤　弘道" userId="8d3e55f7-41ac-41a4-8fbe-691320f04f0d" providerId="ADAL" clId="{F5FC7226-62CA-4BEF-8580-CFD19CE2C480}" dt="2026-07-17T05:27:00.600" v="685" actId="1076"/>
          <ac:picMkLst>
            <pc:docMk/>
            <pc:sldMk cId="1554909764" sldId="261"/>
            <ac:picMk id="3" creationId="{30F40971-757A-C627-3BA2-4ECCAF38D3E1}"/>
          </ac:picMkLst>
        </pc:picChg>
        <pc:picChg chg="del">
          <ac:chgData name="伊藤　弘道" userId="8d3e55f7-41ac-41a4-8fbe-691320f04f0d" providerId="ADAL" clId="{F5FC7226-62CA-4BEF-8580-CFD19CE2C480}" dt="2026-07-17T04:56:53.381" v="269" actId="478"/>
          <ac:picMkLst>
            <pc:docMk/>
            <pc:sldMk cId="1554909764" sldId="261"/>
            <ac:picMk id="9" creationId="{4DC0B4CD-CF5A-3A73-8E30-B6C298A66136}"/>
          </ac:picMkLst>
        </pc:picChg>
      </pc:sldChg>
      <pc:sldChg chg="modSp mod">
        <pc:chgData name="伊藤　弘道" userId="8d3e55f7-41ac-41a4-8fbe-691320f04f0d" providerId="ADAL" clId="{F5FC7226-62CA-4BEF-8580-CFD19CE2C480}" dt="2026-07-17T04:22:09.430" v="221" actId="20577"/>
        <pc:sldMkLst>
          <pc:docMk/>
          <pc:sldMk cId="3945427089" sldId="262"/>
        </pc:sldMkLst>
        <pc:spChg chg="mod">
          <ac:chgData name="伊藤　弘道" userId="8d3e55f7-41ac-41a4-8fbe-691320f04f0d" providerId="ADAL" clId="{F5FC7226-62CA-4BEF-8580-CFD19CE2C480}" dt="2026-07-17T04:22:09.430" v="221" actId="20577"/>
          <ac:spMkLst>
            <pc:docMk/>
            <pc:sldMk cId="3945427089" sldId="262"/>
            <ac:spMk id="8" creationId="{2A373B9F-AE19-06CE-6ED4-8BFE17A86CF3}"/>
          </ac:spMkLst>
        </pc:spChg>
      </pc:sldChg>
      <pc:sldChg chg="modSp mod">
        <pc:chgData name="伊藤　弘道" userId="8d3e55f7-41ac-41a4-8fbe-691320f04f0d" providerId="ADAL" clId="{F5FC7226-62CA-4BEF-8580-CFD19CE2C480}" dt="2026-07-17T05:09:36.800" v="677"/>
        <pc:sldMkLst>
          <pc:docMk/>
          <pc:sldMk cId="1231471925" sldId="263"/>
        </pc:sldMkLst>
        <pc:spChg chg="mod">
          <ac:chgData name="伊藤　弘道" userId="8d3e55f7-41ac-41a4-8fbe-691320f04f0d" providerId="ADAL" clId="{F5FC7226-62CA-4BEF-8580-CFD19CE2C480}" dt="2026-07-17T05:09:36.800" v="677"/>
          <ac:spMkLst>
            <pc:docMk/>
            <pc:sldMk cId="1231471925" sldId="263"/>
            <ac:spMk id="9" creationId="{52E16C84-89CD-97CC-94FE-C55CC376D9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24614-6407-429A-BB02-51DDADB6D8A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0E655-E4BB-4542-89D4-FE17F1357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843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F0CF-97A5-E1B2-09D9-294214C3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9E36C0-2C73-C406-66BB-ACAECE46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E3D2C88-2DC7-1CE8-C931-F9A08359F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74913A-8AA4-1E1E-6EE8-E498D66A6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853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DB74-395D-C1BA-1AEF-847E78E1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314F487-D3AC-AECD-C522-3A701BE04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8613DE-E878-D50D-4B59-6D78CB50F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D4438A-A208-2CFA-66B4-24D0D4D06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32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206C-545A-E5B6-DCFA-E83671F8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4C8110-DEA7-30AC-49FC-8F2997D7B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8B56C40-D835-97ED-C45F-A4980A91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/>
              <a:t>カメラ傾斜0、20、40、60、75°</a:t>
            </a:r>
          </a:p>
          <a:p>
            <a:r>
              <a:rPr lang="ja-JP" altLang="ja-JP" dirty="0"/>
              <a:t>カメラ方位0、90、180、270°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カメラ方位は</a:t>
            </a:r>
            <a:r>
              <a:rPr lang="en-US" altLang="ja-JP" dirty="0"/>
              <a:t>90°</a:t>
            </a:r>
            <a:r>
              <a:rPr lang="ja-JP" altLang="en-US" dirty="0"/>
              <a:t>ずつ動く　照明方位は</a:t>
            </a:r>
            <a:r>
              <a:rPr lang="en-US" altLang="ja-JP" dirty="0"/>
              <a:t>120°</a:t>
            </a:r>
            <a:r>
              <a:rPr lang="ja-JP" altLang="en-US" dirty="0"/>
              <a:t>ずつ動く</a:t>
            </a:r>
            <a:endParaRPr lang="ja-JP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1F8A87-A8D3-83C8-D6AA-8CAD975FF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87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70% 71×7</a:t>
            </a:r>
          </a:p>
          <a:p>
            <a:r>
              <a:rPr kumimoji="1" lang="en-US" altLang="ja-JP" dirty="0"/>
              <a:t>15% 15×7</a:t>
            </a:r>
          </a:p>
          <a:p>
            <a:r>
              <a:rPr kumimoji="1" lang="en-US" altLang="ja-JP" dirty="0"/>
              <a:t>15% 16×7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264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3D3A-C3AD-F900-49B2-034EBB68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1A5137-5472-0BE8-B7FF-8641236E6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ED848A-0DC3-2DD9-81D2-9EC2F1BC3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8847DB-E3F0-F799-9CCF-BE95EBDB3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380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389B-7722-48D5-20A9-F7A4378E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55567F-3F1A-8B9C-7082-4AB02CDEE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95095D-485C-DBA2-39DE-378036EF8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重み付き</a:t>
            </a:r>
            <a:r>
              <a:rPr kumimoji="1" lang="en-US" altLang="ja-JP" dirty="0"/>
              <a:t>BCE Loss</a:t>
            </a:r>
            <a:r>
              <a:rPr kumimoji="1" lang="ja-JP" altLang="en-US" dirty="0"/>
              <a:t>：内周画素の誤分類は</a:t>
            </a:r>
            <a:r>
              <a:rPr kumimoji="1" lang="en-US" altLang="ja-JP" dirty="0"/>
              <a:t>12</a:t>
            </a:r>
            <a:r>
              <a:rPr kumimoji="1" lang="ja-JP" altLang="en-US" dirty="0"/>
              <a:t>倍損失を大きくしている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C6DC11-D17A-5D75-BA0E-451BF90DF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204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5DF4-C549-0D1F-2D47-88C9C975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1B4F23-9C45-2581-C8E6-2238F07B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CC7FAA-CE9A-B9D7-CF07-E021B75F4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Intersection over Union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つの領域全体の内重なっている領域の割合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ED3226-CC64-659F-DA23-A1BAE02FB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646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977B-B5AE-7F95-02CA-79B36082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A59FEBB-584D-A5CA-3A5D-6E1081B51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5E8076-052E-508B-8297-A849A6696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7A9E10-3827-AF18-F32E-A5DF4F4AB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3941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DF04-5ABD-6B23-41F8-B234A095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00B621D-059C-9A8A-AF6F-860E328BA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2920C33-4476-E85D-33F0-F53CF8A4B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DB70C0-603F-A27F-B3C9-9C2CC461F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0E655-E4BB-4542-89D4-FE17F13579DE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11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40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79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28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0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33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29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85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688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47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30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30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A6A7-622A-4406-BADF-9C84EB479777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F6097-5CFC-49A7-8221-C8651BEB9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28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DF05-D37B-CB41-B655-11ABA988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45765"/>
            <a:ext cx="10058400" cy="2348042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第</a:t>
            </a:r>
            <a:r>
              <a:rPr lang="en-US" altLang="ja-JP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kumimoji="1" lang="ja-JP" altLang="en-US" sz="5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回　カメラ班ミーティング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887" y="4442737"/>
            <a:ext cx="10058400" cy="1143000"/>
          </a:xfrm>
        </p:spPr>
        <p:txBody>
          <a:bodyPr/>
          <a:lstStyle/>
          <a:p>
            <a:pPr algn="l"/>
            <a:r>
              <a:rPr kumimoji="1" lang="en-US" altLang="ja-JP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2026</a:t>
            </a:r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年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7</a:t>
            </a:r>
            <a:r>
              <a:rPr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</a:t>
            </a:r>
            <a:r>
              <a:rPr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endParaRPr kumimoji="1" lang="en-US" altLang="ja-JP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l"/>
            <a:r>
              <a:rPr kumimoji="1" lang="en-US" altLang="ja-JP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B4</a:t>
            </a:r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B7B2-FCD9-C780-E5C3-1A0C4E6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 txBox="1"/>
          <p:nvPr/>
        </p:nvSpPr>
        <p:spPr>
          <a:xfrm>
            <a:off x="1066800" y="2274838"/>
            <a:ext cx="1005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/>
              <a:t>RGB</a:t>
            </a:r>
            <a:r>
              <a:rPr lang="ja-JP" altLang="en-US" sz="3600" dirty="0"/>
              <a:t>画像を用いたロケット上段の</a:t>
            </a:r>
            <a:endParaRPr lang="en-US" altLang="ja-JP" sz="3600" dirty="0"/>
          </a:p>
          <a:p>
            <a:pPr algn="ctr"/>
            <a:r>
              <a:rPr lang="en-US" altLang="ja-JP" sz="3600" dirty="0"/>
              <a:t>PAF</a:t>
            </a:r>
            <a:r>
              <a:rPr lang="ja-JP" altLang="en-US" sz="3600" dirty="0"/>
              <a:t>内周エッジ検出のロバスト性評価</a:t>
            </a:r>
            <a:endParaRPr lang="en-US" altLang="ja-JP" sz="3600" dirty="0"/>
          </a:p>
          <a:p>
            <a:pPr algn="ctr"/>
            <a:endParaRPr kumimoji="1"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幾何ベース手法と学習ベース手法の実装と比較</a:t>
            </a:r>
            <a:endParaRPr kumimoji="1"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7AE7-D8D3-90A2-239F-2CAB47BB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 txBox="1"/>
          <p:nvPr/>
        </p:nvSpPr>
        <p:spPr>
          <a:xfrm>
            <a:off x="249382" y="581891"/>
            <a:ext cx="781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Blender</a:t>
            </a:r>
            <a:r>
              <a:rPr kumimoji="1" lang="ja-JP" altLang="en-US" sz="3200" dirty="0"/>
              <a:t>を用いた初期データセットの作成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087ADDE-9AEE-B1C0-0676-08210DBBD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9"/>
          <a:stretch>
            <a:fillRect/>
          </a:stretch>
        </p:blipFill>
        <p:spPr>
          <a:xfrm>
            <a:off x="4178505" y="1166666"/>
            <a:ext cx="7143212" cy="4996369"/>
          </a:xfrm>
          <a:prstGeom prst="rect">
            <a:avLst/>
          </a:prstGeom>
        </p:spPr>
      </p:pic>
      <p:sp>
        <p:nvSpPr>
          <p:cNvPr id="8" name="テキスト ボックス 1">
            <a:extLst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noGrp="1"/>
          </p:cNvSpPr>
          <p:nvPr/>
        </p:nvSpPr>
        <p:spPr>
          <a:xfrm>
            <a:off x="767875" y="2178920"/>
            <a:ext cx="2892138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en-US" altLang="ja-JP" sz="2000" dirty="0">
                <a:latin typeface="Yu Gothic"/>
                <a:ea typeface="Yu Gothic"/>
                <a:cs typeface="Yu Gothic"/>
              </a:rPr>
              <a:t>【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パラメータ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】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カメラ傾斜：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カメラ方位：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4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カメラ距離：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2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注視点：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照明傾斜：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照明方位：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パターン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合計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714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条件</a:t>
            </a:r>
            <a:br>
              <a:rPr lang="en-US" altLang="ja-JP" sz="2000" dirty="0">
                <a:latin typeface="Yu Gothic"/>
                <a:ea typeface="Yu Gothic"/>
                <a:cs typeface="Yu Gothic"/>
              </a:rPr>
            </a:br>
            <a:endParaRPr sz="2000" dirty="0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 txBox="1"/>
          <p:nvPr/>
        </p:nvSpPr>
        <p:spPr>
          <a:xfrm>
            <a:off x="249382" y="581891"/>
            <a:ext cx="781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Blender</a:t>
            </a:r>
            <a:r>
              <a:rPr kumimoji="1" lang="ja-JP" altLang="en-US" sz="3200" dirty="0"/>
              <a:t>を用いた初期データセットの作成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2C3A1EF4-96AB-24FB-27D1-5608A3DC2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05" y="1511658"/>
            <a:ext cx="1963984" cy="196398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FAE50DAE-ED98-F3A8-753D-B7E8FFC4A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893" y="1544087"/>
            <a:ext cx="1385021" cy="1385021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6043AD89-4E79-C075-E8ED-9B07EBE40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435" y="1544734"/>
            <a:ext cx="1385021" cy="1385021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9282779-ABE7-12EE-A4D3-B1BAEC4638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977" y="1544734"/>
            <a:ext cx="1385021" cy="1385021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 txBox="1"/>
          <p:nvPr/>
        </p:nvSpPr>
        <p:spPr>
          <a:xfrm>
            <a:off x="6152321" y="11747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遮蔽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 txBox="1"/>
          <p:nvPr/>
        </p:nvSpPr>
        <p:spPr>
          <a:xfrm>
            <a:off x="1175615" y="3549190"/>
            <a:ext cx="2584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102</a:t>
            </a:r>
            <a:r>
              <a:rPr kumimoji="1" lang="ja-JP" altLang="en-US" sz="1200" dirty="0"/>
              <a:t>カメラ条件</a:t>
            </a:r>
            <a:r>
              <a:rPr kumimoji="1" lang="en-US" altLang="ja-JP" sz="1200" dirty="0"/>
              <a:t>×7</a:t>
            </a:r>
            <a:r>
              <a:rPr kumimoji="1" lang="ja-JP" altLang="en-US" sz="1200" dirty="0"/>
              <a:t>照明条件</a:t>
            </a:r>
            <a:r>
              <a:rPr kumimoji="1" lang="en-US" altLang="ja-JP" sz="1200" dirty="0"/>
              <a:t>=714</a:t>
            </a:r>
            <a:r>
              <a:rPr kumimoji="1" lang="ja-JP" altLang="en-US" sz="1200" dirty="0"/>
              <a:t>枚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 txBox="1"/>
          <p:nvPr/>
        </p:nvSpPr>
        <p:spPr>
          <a:xfrm>
            <a:off x="1798382" y="119679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基礎データ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 txBox="1"/>
          <p:nvPr/>
        </p:nvSpPr>
        <p:spPr>
          <a:xfrm>
            <a:off x="7751363" y="116666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白飛び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 txBox="1"/>
          <p:nvPr/>
        </p:nvSpPr>
        <p:spPr>
          <a:xfrm>
            <a:off x="9350405" y="11666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黒つぶれ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/>
          <p:nvPr/>
        </p:nvSpPr>
        <p:spPr>
          <a:xfrm>
            <a:off x="4003849" y="1716724"/>
            <a:ext cx="1272663" cy="4578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学習 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497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/>
          <p:nvPr/>
        </p:nvSpPr>
        <p:spPr>
          <a:xfrm>
            <a:off x="4003849" y="2309634"/>
            <a:ext cx="1272663" cy="46181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学習時検証 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105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/>
          <p:nvPr/>
        </p:nvSpPr>
        <p:spPr>
          <a:xfrm>
            <a:off x="4003849" y="2906537"/>
            <a:ext cx="1272663" cy="46181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テスト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112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E15700-3618-D4DF-561A-661D901DB4FC}"/>
              </a:ext>
            </a:extLst>
          </p:cNvPr>
          <p:cNvSpPr txBox="1"/>
          <p:nvPr/>
        </p:nvSpPr>
        <p:spPr>
          <a:xfrm>
            <a:off x="6309384" y="3041359"/>
            <a:ext cx="3841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・学習：</a:t>
            </a:r>
            <a:r>
              <a:rPr kumimoji="1" lang="en-US" altLang="ja-JP" sz="1200" dirty="0"/>
              <a:t>497</a:t>
            </a:r>
            <a:r>
              <a:rPr kumimoji="1" lang="ja-JP" altLang="en-US" sz="1200" dirty="0"/>
              <a:t>枚</a:t>
            </a:r>
            <a:r>
              <a:rPr kumimoji="1" lang="en-US" altLang="ja-JP" sz="1200" dirty="0"/>
              <a:t>×</a:t>
            </a:r>
            <a:r>
              <a:rPr lang="en-US" altLang="ja-JP" sz="1200" dirty="0"/>
              <a:t>(</a:t>
            </a:r>
            <a:r>
              <a:rPr lang="ja-JP" altLang="en-US" sz="1200" dirty="0"/>
              <a:t>元画像</a:t>
            </a:r>
            <a:r>
              <a:rPr lang="en-US" altLang="ja-JP" sz="1200" dirty="0"/>
              <a:t>+3</a:t>
            </a:r>
            <a:r>
              <a:rPr lang="ja-JP" altLang="en-US" sz="1200" dirty="0"/>
              <a:t>劣化</a:t>
            </a:r>
            <a:r>
              <a:rPr lang="en-US" altLang="ja-JP" sz="1200" dirty="0"/>
              <a:t>) = 1988</a:t>
            </a:r>
            <a:r>
              <a:rPr lang="ja-JP" altLang="en-US" sz="1200" dirty="0"/>
              <a:t>枚</a:t>
            </a:r>
            <a:endParaRPr lang="en-US" altLang="ja-JP" sz="1200" dirty="0"/>
          </a:p>
          <a:p>
            <a:r>
              <a:rPr kumimoji="1" lang="ja-JP" altLang="en-US" sz="1200" dirty="0"/>
              <a:t>・検証：</a:t>
            </a:r>
            <a:r>
              <a:rPr kumimoji="1" lang="en-US" altLang="ja-JP" sz="1200" dirty="0"/>
              <a:t>105</a:t>
            </a:r>
            <a:r>
              <a:rPr kumimoji="1" lang="ja-JP" altLang="en-US" sz="1200" dirty="0"/>
              <a:t>枚</a:t>
            </a:r>
            <a:r>
              <a:rPr kumimoji="1" lang="en-US" altLang="ja-JP" sz="1200" dirty="0"/>
              <a:t>×(</a:t>
            </a:r>
            <a:r>
              <a:rPr kumimoji="1" lang="ja-JP" altLang="en-US" sz="1200" dirty="0"/>
              <a:t>元画像</a:t>
            </a:r>
            <a:r>
              <a:rPr kumimoji="1" lang="en-US" altLang="ja-JP" sz="1200" dirty="0"/>
              <a:t>+3</a:t>
            </a:r>
            <a:r>
              <a:rPr kumimoji="1" lang="ja-JP" altLang="en-US" sz="1200" dirty="0"/>
              <a:t>劣化</a:t>
            </a:r>
            <a:r>
              <a:rPr kumimoji="1" lang="en-US" altLang="ja-JP" sz="1200" dirty="0"/>
              <a:t>×2</a:t>
            </a:r>
            <a:r>
              <a:rPr kumimoji="1" lang="ja-JP" altLang="en-US" sz="1200" dirty="0"/>
              <a:t>強度</a:t>
            </a:r>
            <a:r>
              <a:rPr kumimoji="1" lang="en-US" altLang="ja-JP" sz="1200" dirty="0"/>
              <a:t>) = 735</a:t>
            </a:r>
            <a:r>
              <a:rPr kumimoji="1" lang="ja-JP" altLang="en-US" sz="1200" dirty="0"/>
              <a:t>枚</a:t>
            </a:r>
            <a:endParaRPr kumimoji="1" lang="en-US" altLang="ja-JP" sz="1200" dirty="0"/>
          </a:p>
          <a:p>
            <a:r>
              <a:rPr lang="ja-JP" altLang="en-US" sz="1200" dirty="0"/>
              <a:t>・テスト：</a:t>
            </a:r>
            <a:r>
              <a:rPr lang="en-US" altLang="ja-JP" sz="1200" dirty="0"/>
              <a:t>112</a:t>
            </a:r>
            <a:r>
              <a:rPr lang="ja-JP" altLang="en-US" sz="1200" dirty="0"/>
              <a:t>枚</a:t>
            </a:r>
            <a:r>
              <a:rPr lang="en-US" altLang="ja-JP" sz="1200" dirty="0"/>
              <a:t>×(</a:t>
            </a:r>
            <a:r>
              <a:rPr lang="ja-JP" altLang="en-US" sz="1200" dirty="0"/>
              <a:t>元画像</a:t>
            </a:r>
            <a:r>
              <a:rPr lang="en-US" altLang="ja-JP" sz="1200" dirty="0"/>
              <a:t>+3</a:t>
            </a:r>
            <a:r>
              <a:rPr lang="ja-JP" altLang="en-US" sz="1200" dirty="0"/>
              <a:t>劣化</a:t>
            </a:r>
            <a:r>
              <a:rPr lang="en-US" altLang="ja-JP" sz="1200" dirty="0"/>
              <a:t>×4</a:t>
            </a:r>
            <a:r>
              <a:rPr lang="ja-JP" altLang="en-US" sz="1200" dirty="0"/>
              <a:t>強度</a:t>
            </a:r>
            <a:r>
              <a:rPr lang="en-US" altLang="ja-JP" sz="1200" dirty="0"/>
              <a:t>) = 1456</a:t>
            </a:r>
            <a:r>
              <a:rPr lang="ja-JP" altLang="en-US" sz="1200" dirty="0"/>
              <a:t>枚</a:t>
            </a:r>
            <a:endParaRPr lang="en-US" altLang="ja-JP" sz="1200" dirty="0"/>
          </a:p>
        </p:txBody>
      </p:sp>
      <p:sp>
        <p:nvSpPr>
          <p:cNvPr id="43" name="テキスト ボックス 1">
            <a:extLst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noGrp="1"/>
          </p:cNvSpPr>
          <p:nvPr/>
        </p:nvSpPr>
        <p:spPr>
          <a:xfrm>
            <a:off x="817004" y="3835843"/>
            <a:ext cx="474200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【</a:t>
            </a:r>
            <a:r>
              <a:rPr sz="2000" dirty="0" err="1">
                <a:latin typeface="Yu Gothic"/>
                <a:ea typeface="Yu Gothic"/>
                <a:cs typeface="Yu Gothic"/>
              </a:rPr>
              <a:t>基礎データ</a:t>
            </a:r>
            <a:r>
              <a:rPr sz="2000" dirty="0">
                <a:latin typeface="Yu Gothic"/>
                <a:ea typeface="Yu Gothic"/>
                <a:cs typeface="Yu Gothic"/>
              </a:rPr>
              <a:t>】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・102カメラ条件 × 7照明条件 = 714枚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・</a:t>
            </a:r>
            <a:r>
              <a:rPr sz="2000" dirty="0" err="1">
                <a:latin typeface="Yu Gothic"/>
                <a:ea typeface="Yu Gothic"/>
                <a:cs typeface="Yu Gothic"/>
              </a:rPr>
              <a:t>正解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データ</a:t>
            </a:r>
            <a:r>
              <a:rPr sz="2000" dirty="0">
                <a:latin typeface="Yu Gothic"/>
                <a:ea typeface="Yu Gothic"/>
                <a:cs typeface="Yu Gothic"/>
              </a:rPr>
              <a:t>：</a:t>
            </a:r>
            <a:r>
              <a:rPr sz="2000" dirty="0" err="1">
                <a:latin typeface="Yu Gothic"/>
                <a:ea typeface="Yu Gothic"/>
                <a:cs typeface="Yu Gothic"/>
              </a:rPr>
              <a:t>PAF内周輪郭</a:t>
            </a:r>
            <a:endParaRPr sz="2000" dirty="0">
              <a:latin typeface="Yu Gothic"/>
              <a:ea typeface="Yu Gothic"/>
              <a:cs typeface="Yu Gothic"/>
            </a:endParaRPr>
          </a:p>
        </p:txBody>
      </p:sp>
      <p:sp>
        <p:nvSpPr>
          <p:cNvPr id="45" name="テキスト ボックス 2">
            <a:extLst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noGrp="1"/>
          </p:cNvSpPr>
          <p:nvPr/>
        </p:nvSpPr>
        <p:spPr>
          <a:xfrm>
            <a:off x="6309384" y="3826189"/>
            <a:ext cx="525817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【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データ分割と劣化効果の付与</a:t>
            </a:r>
            <a:r>
              <a:rPr sz="2000" dirty="0">
                <a:latin typeface="Yu Gothic"/>
                <a:ea typeface="Yu Gothic"/>
                <a:cs typeface="Yu Gothic"/>
              </a:rPr>
              <a:t>】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・</a:t>
            </a:r>
            <a:r>
              <a:rPr sz="2000" dirty="0" err="1">
                <a:latin typeface="Yu Gothic"/>
                <a:ea typeface="Yu Gothic"/>
                <a:cs typeface="Yu Gothic"/>
              </a:rPr>
              <a:t>学習・テストで異なるカメラ条件を使用</a:t>
            </a:r>
            <a:endParaRPr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・</a:t>
            </a:r>
            <a:r>
              <a:rPr lang="en-US" sz="2000" dirty="0">
                <a:latin typeface="Yu Gothic"/>
                <a:ea typeface="Yu Gothic"/>
                <a:cs typeface="Yu Gothic"/>
              </a:rPr>
              <a:t>OpenCV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で</a:t>
            </a:r>
            <a:r>
              <a:rPr sz="2000" dirty="0" err="1">
                <a:latin typeface="Yu Gothic"/>
                <a:ea typeface="Yu Gothic"/>
                <a:cs typeface="Yu Gothic"/>
              </a:rPr>
              <a:t>遮蔽／白飛び／黒つぶれを付与</a:t>
            </a:r>
            <a:endParaRPr sz="2000" dirty="0">
              <a:latin typeface="Yu Gothic"/>
              <a:ea typeface="Yu Gothic"/>
              <a:cs typeface="Yu Gothic"/>
            </a:endParaRPr>
          </a:p>
        </p:txBody>
      </p:sp>
      <p:pic>
        <p:nvPicPr>
          <p:cNvPr id="47" name="図 46">
            <a:extLst>
              <a:ext uri="{FF2B5EF4-FFF2-40B4-BE49-F238E27FC236}">
                <a16:creationId xmlns:a16="http://schemas.microsoft.com/office/drawing/2014/main" id="{1335DBAA-C691-C0F7-3F65-97A815B3C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3" t="18032" r="13962" b="38417"/>
          <a:stretch>
            <a:fillRect/>
          </a:stretch>
        </p:blipFill>
        <p:spPr>
          <a:xfrm>
            <a:off x="1674094" y="5017034"/>
            <a:ext cx="1848184" cy="1167100"/>
          </a:xfrm>
          <a:prstGeom prst="rect">
            <a:avLst/>
          </a:prstGeom>
        </p:spPr>
      </p:pic>
      <p:sp>
        <p:nvSpPr>
          <p:cNvPr id="49" name="テキスト ボックス 1">
            <a:extLst>
              <a:ext uri="{FF2B5EF4-FFF2-40B4-BE49-F238E27FC236}">
                <a16:creationId xmlns:a16="http://schemas.microsoft.com/office/drawing/2014/main" id="{CBF5B54D-7B2D-F6B9-89C1-13956CC0E828}"/>
              </a:ext>
            </a:extLst>
          </p:cNvPr>
          <p:cNvSpPr>
            <a:spLocks noGrp="1"/>
          </p:cNvSpPr>
          <p:nvPr/>
        </p:nvSpPr>
        <p:spPr>
          <a:xfrm>
            <a:off x="3610308" y="5246641"/>
            <a:ext cx="23230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サイズ：</a:t>
            </a:r>
            <a:r>
              <a:rPr lang="en-US" sz="2000" dirty="0">
                <a:latin typeface="Yu Gothic"/>
                <a:ea typeface="Yu Gothic"/>
                <a:cs typeface="Yu Gothic"/>
              </a:rPr>
              <a:t>256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×256</a:t>
            </a:r>
            <a:br>
              <a:rPr lang="en-US" altLang="ja-JP" sz="2000" dirty="0">
                <a:latin typeface="Yu Gothic"/>
                <a:ea typeface="Yu Gothic"/>
                <a:cs typeface="Yu Gothic"/>
              </a:rPr>
            </a:br>
            <a:r>
              <a:rPr lang="ja-JP" altLang="en-US" sz="2000" dirty="0">
                <a:latin typeface="Yu Gothic"/>
                <a:ea typeface="Yu Gothic"/>
                <a:cs typeface="Yu Gothic"/>
              </a:rPr>
              <a:t>正解楕円幅：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3 </a:t>
            </a:r>
            <a:r>
              <a:rPr lang="en-US" altLang="ja-JP" sz="2000" dirty="0" err="1">
                <a:latin typeface="Yu Gothic"/>
                <a:ea typeface="Yu Gothic"/>
                <a:cs typeface="Yu Gothic"/>
              </a:rPr>
              <a:t>px</a:t>
            </a:r>
            <a:endParaRPr sz="2000" dirty="0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C579-EC56-3AF4-2A5B-10BD74D15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 txBox="1"/>
          <p:nvPr/>
        </p:nvSpPr>
        <p:spPr>
          <a:xfrm>
            <a:off x="249382" y="783624"/>
            <a:ext cx="6247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比較用ベースライン手法実装</a:t>
            </a:r>
            <a:r>
              <a:rPr lang="en-US" altLang="ja-JP" sz="3200" dirty="0"/>
              <a:t>(</a:t>
            </a:r>
            <a:r>
              <a:rPr lang="ja-JP" altLang="en-US" sz="3200" dirty="0"/>
              <a:t>仮</a:t>
            </a:r>
            <a:r>
              <a:rPr lang="en-US" altLang="ja-JP" sz="3200" dirty="0"/>
              <a:t>)</a:t>
            </a:r>
            <a:endParaRPr kumimoji="1" lang="ja-JP" altLang="en-US" sz="32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65CB20E8-214C-94C3-C422-6CB4510367BF}"/>
              </a:ext>
            </a:extLst>
          </p:cNvPr>
          <p:cNvGrpSpPr/>
          <p:nvPr/>
        </p:nvGrpSpPr>
        <p:grpSpPr>
          <a:xfrm>
            <a:off x="368710" y="2093522"/>
            <a:ext cx="11454581" cy="2424122"/>
            <a:chOff x="368709" y="2074606"/>
            <a:chExt cx="11454581" cy="2424122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4EBEA827-9218-CDA9-FAF1-D3C0C5081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850"/>
            <a:stretch>
              <a:fillRect/>
            </a:stretch>
          </p:blipFill>
          <p:spPr>
            <a:xfrm>
              <a:off x="368709" y="2074606"/>
              <a:ext cx="11454581" cy="2424122"/>
            </a:xfrm>
            <a:prstGeom prst="rect">
              <a:avLst/>
            </a:prstGeom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572DE358-07FD-4F11-A15B-3EE51CBFE988}"/>
                </a:ext>
              </a:extLst>
            </p:cNvPr>
            <p:cNvSpPr/>
            <p:nvPr/>
          </p:nvSpPr>
          <p:spPr>
            <a:xfrm>
              <a:off x="688258" y="2249282"/>
              <a:ext cx="993058" cy="1891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3" name="図 22">
            <a:extLst>
              <a:ext uri="{FF2B5EF4-FFF2-40B4-BE49-F238E27FC236}">
                <a16:creationId xmlns:a16="http://schemas.microsoft.com/office/drawing/2014/main" id="{9B7F053D-A203-5C66-1A14-8054AAD05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2" t="21732" r="88840" b="70090"/>
          <a:stretch>
            <a:fillRect/>
          </a:stretch>
        </p:blipFill>
        <p:spPr>
          <a:xfrm>
            <a:off x="1027471" y="2224624"/>
            <a:ext cx="314632" cy="23843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DA60CE8-2AA6-B01D-1621-A3A61AD7A515}"/>
              </a:ext>
            </a:extLst>
          </p:cNvPr>
          <p:cNvSpPr txBox="1"/>
          <p:nvPr/>
        </p:nvSpPr>
        <p:spPr>
          <a:xfrm>
            <a:off x="8161243" y="2033006"/>
            <a:ext cx="173957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輪郭ごとに</a:t>
            </a:r>
            <a:r>
              <a:rPr lang="en-US" altLang="ja-JP" sz="1100" dirty="0"/>
              <a:t>RANSAC</a:t>
            </a:r>
            <a:r>
              <a:rPr lang="ja-JP" altLang="en-US" sz="1100" dirty="0"/>
              <a:t>適用</a:t>
            </a:r>
            <a:endParaRPr kumimoji="1" lang="ja-JP" altLang="en-US" sz="11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 txBox="1"/>
          <p:nvPr/>
        </p:nvSpPr>
        <p:spPr>
          <a:xfrm>
            <a:off x="3595956" y="1568605"/>
            <a:ext cx="500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Canny</a:t>
            </a:r>
            <a:r>
              <a:rPr lang="ja-JP" altLang="en-US" sz="2400" dirty="0"/>
              <a:t>エッジ検出</a:t>
            </a:r>
            <a:r>
              <a:rPr lang="en-US" altLang="ja-JP" sz="2400" dirty="0"/>
              <a:t>+</a:t>
            </a:r>
            <a:r>
              <a:rPr lang="ja-JP" altLang="en-US" sz="2400" dirty="0"/>
              <a:t>輪郭別</a:t>
            </a:r>
            <a:r>
              <a:rPr lang="en-US" altLang="ja-JP" sz="2400" dirty="0"/>
              <a:t>RANSAC</a:t>
            </a:r>
            <a:endParaRPr kumimoji="1" lang="ja-JP" altLang="en-US" sz="2400" dirty="0"/>
          </a:p>
        </p:txBody>
      </p:sp>
      <p:sp>
        <p:nvSpPr>
          <p:cNvPr id="30" name="テキスト ボックス 1">
            <a:extLst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noGrp="1"/>
          </p:cNvSpPr>
          <p:nvPr/>
        </p:nvSpPr>
        <p:spPr>
          <a:xfrm>
            <a:off x="368710" y="4819816"/>
            <a:ext cx="911980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Canny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エッジを直接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RANSAC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に渡すと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PAF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内周以外のエッジが偽楕円を形成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　→連続成分ごとの輪郭に分割し、各輪郭へ独立に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RANSAC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を適用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</p:txBody>
      </p:sp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noGrp="1"/>
          </p:cNvSpPr>
          <p:nvPr/>
        </p:nvSpPr>
        <p:spPr>
          <a:xfrm>
            <a:off x="368710" y="5623399"/>
            <a:ext cx="85988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・テストでは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RANSAC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を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OpenCV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標準の楕円推定に置き換えたものも検証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6D93-8CE9-56B3-DAAE-485D4312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 txBox="1"/>
          <p:nvPr/>
        </p:nvSpPr>
        <p:spPr>
          <a:xfrm>
            <a:off x="249382" y="78362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学習ベース手法実装</a:t>
            </a:r>
            <a:endParaRPr kumimoji="1" lang="ja-JP" altLang="en-US" sz="32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4DA5F0A0-8D7D-4834-3170-17D4E33A3BBD}"/>
              </a:ext>
            </a:extLst>
          </p:cNvPr>
          <p:cNvGrpSpPr/>
          <p:nvPr/>
        </p:nvGrpSpPr>
        <p:grpSpPr>
          <a:xfrm>
            <a:off x="1023937" y="1830064"/>
            <a:ext cx="10144125" cy="2171702"/>
            <a:chOff x="3105150" y="2590798"/>
            <a:chExt cx="10144125" cy="217170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6D90A7B-D6C2-B7DF-0366-9BEFD1BE5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50" t="18076" b="11937"/>
            <a:stretch>
              <a:fillRect/>
            </a:stretch>
          </p:blipFill>
          <p:spPr>
            <a:xfrm>
              <a:off x="4867275" y="2590799"/>
              <a:ext cx="8382000" cy="2171701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BF7DD27-F202-1AF0-E699-9FDF1F005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76" r="85547" b="11937"/>
            <a:stretch>
              <a:fillRect/>
            </a:stretch>
          </p:blipFill>
          <p:spPr>
            <a:xfrm>
              <a:off x="3105150" y="2590798"/>
              <a:ext cx="1762125" cy="2171701"/>
            </a:xfrm>
            <a:prstGeom prst="rect">
              <a:avLst/>
            </a:prstGeom>
          </p:spPr>
        </p:pic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 txBox="1"/>
          <p:nvPr/>
        </p:nvSpPr>
        <p:spPr>
          <a:xfrm>
            <a:off x="4320514" y="1368399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CNN+</a:t>
            </a:r>
            <a:r>
              <a:rPr lang="ja-JP" altLang="en-US" sz="2400" dirty="0"/>
              <a:t>重み付き</a:t>
            </a:r>
            <a:r>
              <a:rPr lang="en-US" altLang="ja-JP" sz="2400" dirty="0"/>
              <a:t>RANSAC</a:t>
            </a:r>
            <a:endParaRPr kumimoji="1" lang="ja-JP" altLang="en-US" sz="2400" dirty="0"/>
          </a:p>
        </p:txBody>
      </p:sp>
      <p:sp>
        <p:nvSpPr>
          <p:cNvPr id="13" name="テキスト ボックス 1">
            <a:extLst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noGrp="1"/>
          </p:cNvSpPr>
          <p:nvPr/>
        </p:nvSpPr>
        <p:spPr>
          <a:xfrm>
            <a:off x="552510" y="4322407"/>
            <a:ext cx="401744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000" dirty="0">
                <a:latin typeface="Yu Gothic"/>
                <a:ea typeface="Yu Gothic"/>
                <a:cs typeface="Yu Gothic"/>
              </a:rPr>
              <a:t>【</a:t>
            </a:r>
            <a:r>
              <a:rPr lang="en-US" sz="2000" dirty="0">
                <a:latin typeface="Yu Gothic"/>
                <a:ea typeface="Yu Gothic"/>
                <a:cs typeface="Yu Gothic"/>
              </a:rPr>
              <a:t>CNN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の構成</a:t>
            </a:r>
            <a:r>
              <a:rPr sz="2000" dirty="0">
                <a:latin typeface="Yu Gothic"/>
                <a:ea typeface="Yu Gothic"/>
                <a:cs typeface="Yu Gothic"/>
              </a:rPr>
              <a:t>】</a:t>
            </a:r>
            <a:endParaRPr lang="en-US" sz="20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・約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48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万パラメータの小型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U-Net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000" dirty="0"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2000" dirty="0">
                <a:latin typeface="Yu Gothic"/>
                <a:ea typeface="Yu Gothic"/>
                <a:cs typeface="Yu Gothic"/>
              </a:rPr>
              <a:t>BCE Loss + Dice Loss</a:t>
            </a:r>
            <a:r>
              <a:rPr lang="ja-JP" altLang="en-US" sz="2000" dirty="0">
                <a:latin typeface="Yu Gothic"/>
                <a:ea typeface="Yu Gothic"/>
                <a:cs typeface="Yu Gothic"/>
              </a:rPr>
              <a:t>で学習</a:t>
            </a:r>
            <a:endParaRPr lang="en-US" altLang="ja-JP" sz="2000" dirty="0">
              <a:latin typeface="Yu Gothic"/>
              <a:ea typeface="Yu Gothic"/>
              <a:cs typeface="Yu Gothic"/>
            </a:endParaRPr>
          </a:p>
        </p:txBody>
      </p:sp>
      <p:sp>
        <p:nvSpPr>
          <p:cNvPr id="15" name="テキスト ボックス 1">
            <a:extLst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noGrp="1"/>
          </p:cNvSpPr>
          <p:nvPr/>
        </p:nvSpPr>
        <p:spPr>
          <a:xfrm>
            <a:off x="552510" y="5489601"/>
            <a:ext cx="60404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en-US" altLang="ja-JP" sz="1600" dirty="0">
                <a:latin typeface="Yu Gothic"/>
                <a:ea typeface="Yu Gothic"/>
                <a:cs typeface="Yu Gothic"/>
              </a:rPr>
              <a:t>BCE Loss</a:t>
            </a:r>
            <a:r>
              <a:rPr lang="ja-JP" altLang="en-US" sz="1600" dirty="0">
                <a:latin typeface="Yu Gothic"/>
                <a:ea typeface="Yu Gothic"/>
                <a:cs typeface="Yu Gothic"/>
              </a:rPr>
              <a:t>：各画素の分類が正しいと小さくなる</a:t>
            </a:r>
            <a:endParaRPr lang="en-US" altLang="ja-JP" sz="16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en-US" altLang="ja-JP" sz="1600" dirty="0">
                <a:latin typeface="Yu Gothic"/>
                <a:ea typeface="Yu Gothic"/>
                <a:cs typeface="Yu Gothic"/>
              </a:rPr>
              <a:t>Dice Loss</a:t>
            </a:r>
            <a:r>
              <a:rPr lang="ja-JP" altLang="en-US" sz="1600" dirty="0">
                <a:latin typeface="Yu Gothic"/>
                <a:ea typeface="Yu Gothic"/>
                <a:cs typeface="Yu Gothic"/>
              </a:rPr>
              <a:t>：推定楕円領域が正解楕円領域と重なると小さくなる</a:t>
            </a:r>
            <a:endParaRPr lang="en-US" altLang="ja-JP" sz="1600" dirty="0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AECE-8024-6320-3377-3635BDDA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 txBox="1"/>
          <p:nvPr/>
        </p:nvSpPr>
        <p:spPr>
          <a:xfrm>
            <a:off x="249382" y="78362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比較方法</a:t>
            </a:r>
            <a:endParaRPr kumimoji="1" lang="ja-JP" altLang="en-US" sz="3200" dirty="0"/>
          </a:p>
        </p:txBody>
      </p:sp>
      <p:sp>
        <p:nvSpPr>
          <p:cNvPr id="5" name="テキスト ボックス 1">
            <a:extLst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noGrp="1"/>
          </p:cNvSpPr>
          <p:nvPr/>
        </p:nvSpPr>
        <p:spPr>
          <a:xfrm>
            <a:off x="121045" y="2040689"/>
            <a:ext cx="432522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【</a:t>
            </a:r>
            <a:r>
              <a:rPr sz="2400" dirty="0" err="1">
                <a:latin typeface="Yu Gothic"/>
                <a:ea typeface="Yu Gothic"/>
                <a:cs typeface="Yu Gothic"/>
              </a:rPr>
              <a:t>評価条件</a:t>
            </a:r>
            <a:r>
              <a:rPr sz="2400" dirty="0">
                <a:latin typeface="Yu Gothic"/>
                <a:ea typeface="Yu Gothic"/>
                <a:cs typeface="Yu Gothic"/>
              </a:rPr>
              <a:t>】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・Clean、25、50、75、100%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・各条件112枚</a:t>
            </a:r>
          </a:p>
        </p:txBody>
      </p:sp>
      <p:sp>
        <p:nvSpPr>
          <p:cNvPr id="12" name="テキスト ボックス 2">
            <a:extLst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noGrp="1"/>
          </p:cNvSpPr>
          <p:nvPr/>
        </p:nvSpPr>
        <p:spPr>
          <a:xfrm>
            <a:off x="121045" y="3619559"/>
            <a:ext cx="50545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【</a:t>
            </a:r>
            <a:r>
              <a:rPr sz="2400" dirty="0" err="1">
                <a:latin typeface="Yu Gothic"/>
                <a:ea typeface="Yu Gothic"/>
                <a:cs typeface="Yu Gothic"/>
              </a:rPr>
              <a:t>成功条件</a:t>
            </a:r>
            <a:r>
              <a:rPr sz="2400" dirty="0">
                <a:latin typeface="Yu Gothic"/>
                <a:ea typeface="Yu Gothic"/>
                <a:cs typeface="Yu Gothic"/>
              </a:rPr>
              <a:t>】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・</a:t>
            </a:r>
            <a:r>
              <a:rPr sz="2400" dirty="0" err="1">
                <a:latin typeface="Yu Gothic"/>
                <a:ea typeface="Yu Gothic"/>
                <a:cs typeface="Yu Gothic"/>
              </a:rPr>
              <a:t>推定楕円と正解楕円のIoU</a:t>
            </a:r>
            <a:r>
              <a:rPr sz="2400" dirty="0">
                <a:latin typeface="Yu Gothic"/>
                <a:ea typeface="Yu Gothic"/>
                <a:cs typeface="Yu Gothic"/>
              </a:rPr>
              <a:t> ≥ 0.80</a:t>
            </a: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sz="2400" dirty="0">
                <a:latin typeface="Yu Gothic"/>
                <a:ea typeface="Yu Gothic"/>
                <a:cs typeface="Yu Gothic"/>
              </a:rPr>
              <a:t>・同一元画像で</a:t>
            </a:r>
            <a:r>
              <a:rPr lang="en-US" sz="2400" dirty="0">
                <a:latin typeface="Yu Gothic"/>
                <a:ea typeface="Yu Gothic"/>
                <a:cs typeface="Yu Gothic"/>
              </a:rPr>
              <a:t>3</a:t>
            </a:r>
            <a:r>
              <a:rPr sz="2400" dirty="0">
                <a:latin typeface="Yu Gothic"/>
                <a:ea typeface="Yu Gothic"/>
                <a:cs typeface="Yu Gothic"/>
              </a:rPr>
              <a:t>方式を比較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7CBF16F4-68DC-6565-8C5F-AA5DCFB03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4561"/>
          <a:stretch>
            <a:fillRect/>
          </a:stretch>
        </p:blipFill>
        <p:spPr>
          <a:xfrm>
            <a:off x="5519810" y="1623221"/>
            <a:ext cx="6422808" cy="361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7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C64E-2E57-0BF9-AC7C-75AED799F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 txBox="1"/>
          <p:nvPr/>
        </p:nvSpPr>
        <p:spPr>
          <a:xfrm>
            <a:off x="249382" y="78362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比較結果</a:t>
            </a:r>
            <a:endParaRPr kumimoji="1" lang="ja-JP" altLang="en-US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D63CF5-DEB8-2687-7FF6-15A53B2BB06E}"/>
              </a:ext>
            </a:extLst>
          </p:cNvPr>
          <p:cNvSpPr txBox="1"/>
          <p:nvPr/>
        </p:nvSpPr>
        <p:spPr>
          <a:xfrm>
            <a:off x="5794590" y="15645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白飛び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4D1BDE0-B285-64FC-3965-27D1AB3BC0C0}"/>
              </a:ext>
            </a:extLst>
          </p:cNvPr>
          <p:cNvSpPr txBox="1"/>
          <p:nvPr/>
        </p:nvSpPr>
        <p:spPr>
          <a:xfrm>
            <a:off x="1837152" y="156453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単純矩形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608E71F-2A61-F15D-F4A3-0F4D9C0761F1}"/>
              </a:ext>
            </a:extLst>
          </p:cNvPr>
          <p:cNvSpPr txBox="1"/>
          <p:nvPr/>
        </p:nvSpPr>
        <p:spPr>
          <a:xfrm>
            <a:off x="9620601" y="156453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黒つぶれ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9A278D3-372D-D165-699E-28CC667CB17A}"/>
              </a:ext>
            </a:extLst>
          </p:cNvPr>
          <p:cNvSpPr txBox="1"/>
          <p:nvPr/>
        </p:nvSpPr>
        <p:spPr>
          <a:xfrm>
            <a:off x="4755845" y="47163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劣化強度と楕円検出成功率</a:t>
            </a:r>
            <a:endParaRPr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 txBox="1"/>
          <p:nvPr/>
        </p:nvSpPr>
        <p:spPr>
          <a:xfrm>
            <a:off x="249382" y="5489602"/>
            <a:ext cx="8226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</a:t>
            </a:r>
            <a:r>
              <a:rPr lang="en-US" altLang="ja-JP" dirty="0"/>
              <a:t>3</a:t>
            </a:r>
            <a:r>
              <a:rPr lang="ja-JP" altLang="en-US" dirty="0"/>
              <a:t>方式全て</a:t>
            </a:r>
            <a:r>
              <a:rPr lang="ja-JP" altLang="ja-JP" dirty="0"/>
              <a:t>が成功した</a:t>
            </a:r>
            <a:r>
              <a:rPr lang="en-US" altLang="ja-JP" dirty="0"/>
              <a:t>491</a:t>
            </a:r>
            <a:r>
              <a:rPr lang="ja-JP" altLang="ja-JP" dirty="0"/>
              <a:t>枚における中心誤差</a:t>
            </a:r>
            <a:br>
              <a:rPr lang="ja-JP" altLang="ja-JP" dirty="0"/>
            </a:br>
            <a:r>
              <a:rPr lang="ja-JP" altLang="en-US" dirty="0"/>
              <a:t>　</a:t>
            </a:r>
            <a:r>
              <a:rPr lang="en-US" altLang="ja-JP" dirty="0" err="1"/>
              <a:t>fitEllipse</a:t>
            </a:r>
            <a:r>
              <a:rPr lang="ja-JP" altLang="en-US" dirty="0"/>
              <a:t>：</a:t>
            </a:r>
            <a:r>
              <a:rPr lang="en-US" altLang="ja-JP" dirty="0"/>
              <a:t>2.38±0.12 </a:t>
            </a:r>
            <a:r>
              <a:rPr lang="en-US" altLang="ja-JP" dirty="0" err="1"/>
              <a:t>px</a:t>
            </a:r>
            <a:r>
              <a:rPr lang="ja-JP" altLang="en-US" dirty="0"/>
              <a:t>、</a:t>
            </a:r>
            <a:r>
              <a:rPr lang="ja-JP" altLang="ja-JP" dirty="0"/>
              <a:t>Canny：</a:t>
            </a:r>
            <a:r>
              <a:rPr lang="en-US" altLang="ja-JP" dirty="0"/>
              <a:t>0</a:t>
            </a:r>
            <a:r>
              <a:rPr lang="ja-JP" altLang="ja-JP" dirty="0"/>
              <a:t>.</a:t>
            </a:r>
            <a:r>
              <a:rPr lang="en-US" altLang="ja-JP" dirty="0"/>
              <a:t>98</a:t>
            </a:r>
            <a:r>
              <a:rPr lang="ja-JP" altLang="ja-JP" dirty="0"/>
              <a:t> ± 0.0</a:t>
            </a:r>
            <a:r>
              <a:rPr lang="en-US" altLang="ja-JP" dirty="0"/>
              <a:t>4</a:t>
            </a:r>
            <a:r>
              <a:rPr lang="ja-JP" altLang="ja-JP" dirty="0"/>
              <a:t> px、CNN：0.8</a:t>
            </a:r>
            <a:r>
              <a:rPr lang="en-US" altLang="ja-JP" dirty="0"/>
              <a:t>0</a:t>
            </a:r>
            <a:r>
              <a:rPr lang="ja-JP" altLang="ja-JP" dirty="0"/>
              <a:t> ± 0.0</a:t>
            </a:r>
            <a:r>
              <a:rPr lang="en-US" altLang="ja-JP" dirty="0"/>
              <a:t>3</a:t>
            </a:r>
            <a:r>
              <a:rPr lang="ja-JP" altLang="ja-JP" dirty="0"/>
              <a:t> px</a:t>
            </a:r>
            <a:endParaRPr lang="en-US" altLang="ja-JP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303C135-82CC-FEF2-CA72-BDAC791839B3}"/>
              </a:ext>
            </a:extLst>
          </p:cNvPr>
          <p:cNvSpPr/>
          <p:nvPr/>
        </p:nvSpPr>
        <p:spPr>
          <a:xfrm>
            <a:off x="8967536" y="4489094"/>
            <a:ext cx="3224464" cy="583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0F40971-757A-C627-3BA2-4ECCAF38D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3"/>
          <a:stretch>
            <a:fillRect/>
          </a:stretch>
        </p:blipFill>
        <p:spPr>
          <a:xfrm>
            <a:off x="264694" y="2055266"/>
            <a:ext cx="11662611" cy="310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71F6-3A36-A68A-87F7-92E56E41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/>
          <p:nvPr/>
        </p:nvSpPr>
        <p:spPr>
          <a:xfrm>
            <a:off x="0" y="1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/>
          <p:nvPr/>
        </p:nvSpPr>
        <p:spPr>
          <a:xfrm>
            <a:off x="0" y="6396182"/>
            <a:ext cx="12192000" cy="461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 txBox="1"/>
          <p:nvPr/>
        </p:nvSpPr>
        <p:spPr>
          <a:xfrm>
            <a:off x="249382" y="78362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今後の予定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802B732-0313-5706-4239-B9E4504E50BD}"/>
              </a:ext>
            </a:extLst>
          </p:cNvPr>
          <p:cNvSpPr/>
          <p:nvPr/>
        </p:nvSpPr>
        <p:spPr>
          <a:xfrm>
            <a:off x="8967536" y="4489094"/>
            <a:ext cx="3224464" cy="583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noGrp="1"/>
          </p:cNvSpPr>
          <p:nvPr/>
        </p:nvSpPr>
        <p:spPr>
          <a:xfrm>
            <a:off x="661784" y="1722576"/>
            <a:ext cx="90813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・比較用ベースライン手法の追加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　・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Zhang(2019)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：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　　エッジを短い楕円弧に分割し、同じ楕円に属する可能性が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　　高い弧を再結合した後に最小二乗楕円を適用。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endParaRPr lang="en-US" altLang="ja-JP" sz="2400" dirty="0">
              <a:latin typeface="Yu Gothic"/>
              <a:ea typeface="Yu Gothic"/>
              <a:cs typeface="Yu Gothic"/>
            </a:endParaRPr>
          </a:p>
        </p:txBody>
      </p:sp>
      <p:sp>
        <p:nvSpPr>
          <p:cNvPr id="8" name="テキスト ボックス 1">
            <a:extLst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noGrp="1"/>
          </p:cNvSpPr>
          <p:nvPr/>
        </p:nvSpPr>
        <p:spPr>
          <a:xfrm>
            <a:off x="661784" y="3752540"/>
            <a:ext cx="84705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・宇宙機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CAD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に依存しない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CNN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ベース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PAF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検出の検討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　・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PAF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内周の実直径とカメラ内部パラメータを既知とする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  <a:p>
            <a:pPr>
              <a:defRPr>
                <a:latin typeface="Yu Gothic"/>
                <a:ea typeface="Yu Gothic"/>
                <a:cs typeface="Yu Gothic"/>
              </a:defRPr>
            </a:pPr>
            <a:r>
              <a:rPr lang="ja-JP" altLang="en-US" sz="2400" dirty="0">
                <a:latin typeface="Yu Gothic"/>
                <a:ea typeface="Yu Gothic"/>
                <a:cs typeface="Yu Gothic"/>
              </a:rPr>
              <a:t>　・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CNN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により</a:t>
            </a:r>
            <a:r>
              <a:rPr lang="en-US" altLang="ja-JP" sz="2400" dirty="0">
                <a:latin typeface="Yu Gothic"/>
                <a:ea typeface="Yu Gothic"/>
                <a:cs typeface="Yu Gothic"/>
              </a:rPr>
              <a:t>PAF</a:t>
            </a:r>
            <a:r>
              <a:rPr lang="ja-JP" altLang="en-US" sz="2400" dirty="0">
                <a:latin typeface="Yu Gothic"/>
                <a:ea typeface="Yu Gothic"/>
                <a:cs typeface="Yu Gothic"/>
              </a:rPr>
              <a:t>内周らしい領域を抽出し楕円を検出</a:t>
            </a:r>
            <a:endParaRPr lang="en-US" altLang="ja-JP" sz="2400" dirty="0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576</Words>
  <Application>Microsoft Office PowerPoint</Application>
  <PresentationFormat>ワイド画面</PresentationFormat>
  <Paragraphs>88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ＭＳ ゴシック</vt:lpstr>
      <vt:lpstr>游ゴシック</vt:lpstr>
      <vt:lpstr>游ゴシック</vt:lpstr>
      <vt:lpstr>游ゴシック Light</vt:lpstr>
      <vt:lpstr>Arial</vt:lpstr>
      <vt:lpstr>Office テーマ</vt:lpstr>
      <vt:lpstr>第3回　カメラ班ミーティング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弘道</dc:creator>
  <cp:lastModifiedBy>伊藤　弘道</cp:lastModifiedBy>
  <cp:revision>1</cp:revision>
  <dcterms:created xsi:type="dcterms:W3CDTF">2026-07-16T18:27:16Z</dcterms:created>
  <dcterms:modified xsi:type="dcterms:W3CDTF">2026-07-17T05:54:01Z</dcterms:modified>
</cp:coreProperties>
</file>