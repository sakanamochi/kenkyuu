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67dd0dcfb54012" /><Relationship Type="http://schemas.openxmlformats.org/officeDocument/2006/relationships/extended-properties" Target="/docProps/app.xml" Id="R1e487d46e0e6488a" /><Relationship Type="http://schemas.openxmlformats.org/officeDocument/2006/relationships/officeDocument" Target="/ppt/presentation.xml" Id="R2053c0f2ac0a48d7" /></Relationships>
</file>

<file path=ppt/presentation.xml><?xml version="1.0" encoding="utf-8"?>
<p:presentation xmlns:p="http://schemas.openxmlformats.org/presentationml/2006/main">
  <p:sldMasterIdLst>
    <p:sldMasterId xmlns:r="http://schemas.openxmlformats.org/officeDocument/2006/relationships" id="2147483648" r:id="R3d3c7b4fd4ac4683"/>
  </p:sldMasterIdLst>
  <p:notesMasterIdLst>
    <p:notesMasterId xmlns:r="http://schemas.openxmlformats.org/officeDocument/2006/relationships" r:id="R370c6296f3054c43"/>
  </p:notesMasterIdLst>
  <p:sldIdLst>
    <p:sldId xmlns:r="http://schemas.openxmlformats.org/officeDocument/2006/relationships" id="256" r:id="R45f52198681d4912"/>
    <p:sldId xmlns:r="http://schemas.openxmlformats.org/officeDocument/2006/relationships" id="257" r:id="R788337ace5e24160"/>
    <p:sldId xmlns:r="http://schemas.openxmlformats.org/officeDocument/2006/relationships" id="258" r:id="Rb21becd75d7d4e1a"/>
    <p:sldId xmlns:r="http://schemas.openxmlformats.org/officeDocument/2006/relationships" id="259" r:id="Rf5420314d9034b25"/>
    <p:sldId xmlns:r="http://schemas.openxmlformats.org/officeDocument/2006/relationships" id="260" r:id="Rb531fe524eb644ef"/>
    <p:sldId xmlns:r="http://schemas.openxmlformats.org/officeDocument/2006/relationships" id="261" r:id="R2d5f5e7375ca489d"/>
    <p:sldId xmlns:r="http://schemas.openxmlformats.org/officeDocument/2006/relationships" id="262" r:id="R3a94695cfd094df0"/>
    <p:sldId xmlns:r="http://schemas.openxmlformats.org/officeDocument/2006/relationships" id="263" r:id="R5fb85784b6894244"/>
    <p:sldId xmlns:r="http://schemas.openxmlformats.org/officeDocument/2006/relationships" id="264" r:id="R6b8f6a374b054839"/>
    <p:sldId xmlns:r="http://schemas.openxmlformats.org/officeDocument/2006/relationships" id="265" r:id="R1b24d7596a6a4925"/>
    <p:sldId xmlns:r="http://schemas.openxmlformats.org/officeDocument/2006/relationships" id="266" r:id="Ra32ab09ed91c4ee2"/>
    <p:sldId xmlns:r="http://schemas.openxmlformats.org/officeDocument/2006/relationships" id="267" r:id="R6b7a30d047f140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978537714d340ea" /><Relationship Type="http://schemas.openxmlformats.org/officeDocument/2006/relationships/slideMaster" Target="/ppt/slideMasters/slideMaster1.xml" Id="R3d3c7b4fd4ac4683" /><Relationship Type="http://schemas.openxmlformats.org/officeDocument/2006/relationships/notesMaster" Target="/ppt/notesMasters/notesMaster1.xml" Id="R370c6296f3054c43" /><Relationship Type="http://schemas.openxmlformats.org/officeDocument/2006/relationships/presProps" Target="/ppt/presProps.xml" Id="R050a01e4a96541fe" /><Relationship Type="http://schemas.openxmlformats.org/officeDocument/2006/relationships/viewProps" Target="/ppt/viewProps.xml" Id="Re031c8ff8fa045fd" /><Relationship Type="http://schemas.openxmlformats.org/officeDocument/2006/relationships/tableStyles" Target="/ppt/tableStyles.xml" Id="Ra95ab8eeeb4b488e" /><Relationship Type="http://schemas.openxmlformats.org/officeDocument/2006/relationships/slide" Target="/ppt/slides/slide1.xml" Id="R45f52198681d4912" /><Relationship Type="http://schemas.openxmlformats.org/officeDocument/2006/relationships/slide" Target="/ppt/slides/slide2.xml" Id="R788337ace5e24160" /><Relationship Type="http://schemas.openxmlformats.org/officeDocument/2006/relationships/slide" Target="/ppt/slides/slide3.xml" Id="Rb21becd75d7d4e1a" /><Relationship Type="http://schemas.openxmlformats.org/officeDocument/2006/relationships/slide" Target="/ppt/slides/slide4.xml" Id="Rf5420314d9034b25" /><Relationship Type="http://schemas.openxmlformats.org/officeDocument/2006/relationships/slide" Target="/ppt/slides/slide5.xml" Id="Rb531fe524eb644ef" /><Relationship Type="http://schemas.openxmlformats.org/officeDocument/2006/relationships/slide" Target="/ppt/slides/slide6.xml" Id="R2d5f5e7375ca489d" /><Relationship Type="http://schemas.openxmlformats.org/officeDocument/2006/relationships/slide" Target="/ppt/slides/slide7.xml" Id="R3a94695cfd094df0" /><Relationship Type="http://schemas.openxmlformats.org/officeDocument/2006/relationships/slide" Target="/ppt/slides/slide8.xml" Id="R5fb85784b6894244" /><Relationship Type="http://schemas.openxmlformats.org/officeDocument/2006/relationships/slide" Target="/ppt/slides/slide9.xml" Id="R6b8f6a374b054839" /><Relationship Type="http://schemas.openxmlformats.org/officeDocument/2006/relationships/slide" Target="/ppt/slides/slide10.xml" Id="R1b24d7596a6a4925" /><Relationship Type="http://schemas.openxmlformats.org/officeDocument/2006/relationships/slide" Target="/ppt/slides/slide11.xml" Id="Ra32ab09ed91c4ee2" /><Relationship Type="http://schemas.openxmlformats.org/officeDocument/2006/relationships/slide" Target="/ppt/slides/slide12.xml" Id="R6b7a30d047f140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59894381d84e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a619bc6e934ef9" /><Relationship Type="http://schemas.openxmlformats.org/officeDocument/2006/relationships/notesMaster" Target="/ppt/notesMasters/notesMaster1.xml" Id="R25a0766d047445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7defb26c0349ed" /><Relationship Type="http://schemas.openxmlformats.org/officeDocument/2006/relationships/notesMaster" Target="/ppt/notesMasters/notesMaster1.xml" Id="R323a7954444845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6661a0546840f1" /><Relationship Type="http://schemas.openxmlformats.org/officeDocument/2006/relationships/notesMaster" Target="/ppt/notesMasters/notesMaster1.xml" Id="R6830ec6ac7b941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d0247e021740e9" /><Relationship Type="http://schemas.openxmlformats.org/officeDocument/2006/relationships/notesMaster" Target="/ppt/notesMasters/notesMaster1.xml" Id="R15e3518cf07742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4fd0e2c93f4591" /><Relationship Type="http://schemas.openxmlformats.org/officeDocument/2006/relationships/notesMaster" Target="/ppt/notesMasters/notesMaster1.xml" Id="R5bc3cc3958ff490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296d968ba54ee1" /><Relationship Type="http://schemas.openxmlformats.org/officeDocument/2006/relationships/notesMaster" Target="/ppt/notesMasters/notesMaster1.xml" Id="R3318cde13c1b4b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f249db243d44e0" /><Relationship Type="http://schemas.openxmlformats.org/officeDocument/2006/relationships/notesMaster" Target="/ppt/notesMasters/notesMaster1.xml" Id="R6057bfff97664c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303f63e96e4e1b" /><Relationship Type="http://schemas.openxmlformats.org/officeDocument/2006/relationships/notesMaster" Target="/ppt/notesMasters/notesMaster1.xml" Id="R54a2b57dfce749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64b587fd6f41cf" /><Relationship Type="http://schemas.openxmlformats.org/officeDocument/2006/relationships/notesMaster" Target="/ppt/notesMasters/notesMaster1.xml" Id="R3609f743ac434d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0592cd2c50451b" /><Relationship Type="http://schemas.openxmlformats.org/officeDocument/2006/relationships/notesMaster" Target="/ppt/notesMasters/notesMaster1.xml" Id="R04339f97f3fa45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b1a548ae694726" /><Relationship Type="http://schemas.openxmlformats.org/officeDocument/2006/relationships/notesMaster" Target="/ppt/notesMasters/notesMaster1.xml" Id="Rd834d3a10b4a4c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2f0bc307d64079" /><Relationship Type="http://schemas.openxmlformats.org/officeDocument/2006/relationships/notesMaster" Target="/ppt/notesMasters/notesMaster1.xml" Id="Rd43b239c963140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想定20秒。</a:t>
            </a:r>
          </a:p>
          <a:p xmlns:a="http://schemas.openxmlformats.org/drawingml/2006/main">
            <a:r>
              <a:t>今回はZhang 2019型（再現実装）の導入、仕組み、評価結果を報告する。</a:t>
            </a:r>
          </a:p>
          <a:p xmlns:a="http://schemas.openxmlformats.org/drawingml/2006/main">
            <a:r>
              <a:t/>
            </a:r>
          </a:p>
          <a:p xmlns:a="http://schemas.openxmlformats.org/drawingml/2006/main">
            <a:r>
              <a:t>[Sources]</a:t>
            </a:r>
          </a:p>
          <a:p xmlns:a="http://schemas.openxmlformats.org/drawingml/2006/main">
            <a:r>
              <a:t>- C:\Users\siomi\OneDrive\デスクトップ\第3回　カメラ班ミーティング.pptx（デザイン参照）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想定25秒。</a:t>
            </a:r>
          </a:p>
          <a:p xmlns:a="http://schemas.openxmlformats.org/drawingml/2006/main">
            <a:r>
              <a:t>今回再現したのは、Zhang、Pan、MaがSensorsに発表した2019年の論文。</a:t>
            </a:r>
          </a:p>
          <a:p xmlns:a="http://schemas.openxmlformats.org/drawingml/2006/main">
            <a:r>
              <a:t>宇宙機のドッキングリングを、画像上の楕円としてリアルタイム検出する手法を提案している。</a:t>
            </a:r>
          </a:p>
          <a:p xmlns:a="http://schemas.openxmlformats.org/drawingml/2006/main">
            <a:r>
              <a:t/>
            </a:r>
          </a:p>
          <a:p xmlns:a="http://schemas.openxmlformats.org/drawingml/2006/main">
            <a:r>
              <a:t>[Sources]</a:t>
            </a:r>
          </a:p>
          <a:p xmlns:a="http://schemas.openxmlformats.org/drawingml/2006/main">
            <a:r>
              <a:t>- https://doi.org/10.3390/s19235243</a:t>
            </a:r>
          </a:p>
          <a:p xmlns:a="http://schemas.openxmlformats.org/drawingml/2006/main">
            <a:r>
              <a:t>- https://pmc.ncbi.nlm.nih.gov/articles/PMC6928708/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想定35秒。</a:t>
            </a:r>
          </a:p>
          <a:p xmlns:a="http://schemas.openxmlformats.org/drawingml/2006/main">
            <a:r>
              <a:t>元論文の狙いは、画像上で楕円になったドッキングリング内周を高速に検出すること。</a:t>
            </a:r>
          </a:p>
          <a:p xmlns:a="http://schemas.openxmlformats.org/drawingml/2006/main">
            <a:r>
              <a:t>処理は円弧抽出、三円弧統合、楕円候補の検証の3段階。</a:t>
            </a:r>
          </a:p>
          <a:p xmlns:a="http://schemas.openxmlformats.org/drawingml/2006/main">
            <a:r>
              <a:t>次の3枚で、式を含めて順に説明する。</a:t>
            </a:r>
          </a:p>
          <a:p xmlns:a="http://schemas.openxmlformats.org/drawingml/2006/main">
            <a:r>
              <a:t/>
            </a:r>
          </a:p>
          <a:p xmlns:a="http://schemas.openxmlformats.org/drawingml/2006/main">
            <a:r>
              <a:t>[Sources]</a:t>
            </a:r>
          </a:p>
          <a:p xmlns:a="http://schemas.openxmlformats.org/drawingml/2006/main">
            <a:r>
              <a:t>- https://doi.org/10.3390/s19235243</a:t>
            </a:r>
          </a:p>
          <a:p xmlns:a="http://schemas.openxmlformats.org/drawingml/2006/main">
            <a:r>
              <a:t>- https://pmc.ncbi.nlm.nih.gov/articles/PMC6928708/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想定45秒。</a:t>
            </a:r>
          </a:p>
          <a:p xmlns:a="http://schemas.openxmlformats.org/drawingml/2006/main">
            <a:r>
              <a:t>まずCannyでエッジ点を得て、Sobel勾配の符号から4方向に分類する。</a:t>
            </a:r>
          </a:p>
          <a:p xmlns:a="http://schemas.openxmlformats.org/drawingml/2006/main">
            <a:r>
              <a:t>同じ分類の近傍点をつないで円弧を作り、短い円弧を除く。</a:t>
            </a:r>
          </a:p>
          <a:p xmlns:a="http://schemas.openxmlformats.org/drawingml/2006/main">
            <a:r>
              <a:t>端点間の弦に対して円弧がどちら側へ膨らむかを調べ、楕円の上下左右と矛盾する円弧も除外する。</a:t>
            </a:r>
          </a:p>
          <a:p xmlns:a="http://schemas.openxmlformats.org/drawingml/2006/main">
            <a:r>
              <a:t/>
            </a:r>
          </a:p>
          <a:p xmlns:a="http://schemas.openxmlformats.org/drawingml/2006/main">
            <a:r>
              <a:t>[Sources]</a:t>
            </a:r>
          </a:p>
          <a:p xmlns:a="http://schemas.openxmlformats.org/drawingml/2006/main">
            <a:r>
              <a:t>- https://doi.org/10.3390/s19235243</a:t>
            </a:r>
          </a:p>
          <a:p xmlns:a="http://schemas.openxmlformats.org/drawingml/2006/main">
            <a:r>
              <a:t>- https://pmc.ncbi.nlm.nih.gov/articles/PMC6928708/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想定50秒。</a:t>
            </a:r>
          </a:p>
          <a:p xmlns:a="http://schemas.openxmlformats.org/drawingml/2006/main">
            <a:r>
              <a:t>遮蔽を想定して完全な4方向の円弧は要求せず、隣接する3方向を組み合わせる。</a:t>
            </a:r>
          </a:p>
          <a:p xmlns:a="http://schemas.openxmlformats.org/drawingml/2006/main">
            <a:r>
              <a:t>端点位置、接線に対する相手円弧の位置、各円弧から推定した中心の近さで候補を絞る。</a:t>
            </a:r>
          </a:p>
          <a:p xmlns:a="http://schemas.openxmlformats.org/drawingml/2006/main">
            <a:r>
              <a:t>条件を通った3円弧の全点を一般二次曲線へ最小二乗で当てはめ、楕円パラメータを求める。</a:t>
            </a:r>
          </a:p>
          <a:p xmlns:a="http://schemas.openxmlformats.org/drawingml/2006/main">
            <a:r>
              <a:t/>
            </a:r>
          </a:p>
          <a:p xmlns:a="http://schemas.openxmlformats.org/drawingml/2006/main">
            <a:r>
              <a:t>[Sources]</a:t>
            </a:r>
          </a:p>
          <a:p xmlns:a="http://schemas.openxmlformats.org/drawingml/2006/main">
            <a:r>
              <a:t>- https://doi.org/10.3390/s19235243</a:t>
            </a:r>
          </a:p>
          <a:p xmlns:a="http://schemas.openxmlformats.org/drawingml/2006/main">
            <a:r>
              <a:t>- https://pmc.ncbi.nlm.nih.gov/articles/PMC6928708/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想定35秒。</a:t>
            </a:r>
          </a:p>
          <a:p xmlns:a="http://schemas.openxmlformats.org/drawingml/2006/main">
            <a:r>
              <a:t>当てはめだけでは背景輪郭の誤検出が残るため、元の弧点と候補楕円の一致度を確認する。</a:t>
            </a:r>
          </a:p>
          <a:p xmlns:a="http://schemas.openxmlformats.org/drawingml/2006/main">
            <a:r>
              <a:t>中心から見た楕円境界と弧点が近いものを適合点とし、その割合が閾値を超えた候補だけを残す。</a:t>
            </a:r>
          </a:p>
          <a:p xmlns:a="http://schemas.openxmlformats.org/drawingml/2006/main">
            <a:r>
              <a:t>赤線で削除指定された距離式とスコア定義式はスライドでは省略し、考え方だけを示している。</a:t>
            </a:r>
          </a:p>
          <a:p xmlns:a="http://schemas.openxmlformats.org/drawingml/2006/main">
            <a:r>
              <a:t/>
            </a:r>
          </a:p>
          <a:p xmlns:a="http://schemas.openxmlformats.org/drawingml/2006/main">
            <a:r>
              <a:t>[Sources]</a:t>
            </a:r>
          </a:p>
          <a:p xmlns:a="http://schemas.openxmlformats.org/drawingml/2006/main">
            <a:r>
              <a:t>- https://doi.org/10.3390/s19235243</a:t>
            </a:r>
          </a:p>
          <a:p xmlns:a="http://schemas.openxmlformats.org/drawingml/2006/main">
            <a:r>
              <a:t>- https://pmc.ncbi.nlm.nih.gov/articles/PMC6928708/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想定45秒。</a:t>
            </a:r>
          </a:p>
          <a:p xmlns:a="http://schemas.openxmlformats.org/drawingml/2006/main">
            <a:r>
              <a:t>ここまでの3段階を、再現実装の中間画像で確認する。</a:t>
            </a:r>
          </a:p>
          <a:p xmlns:a="http://schemas.openxmlformats.org/drawingml/2006/main">
            <a:r>
              <a:t>Cannyエッジから円弧を分類し、幾何制約を満たす三円弧を統合して楕円を当てる。</a:t>
            </a:r>
          </a:p>
          <a:p xmlns:a="http://schemas.openxmlformats.org/drawingml/2006/main">
            <a:r>
              <a:t>代表例では推定とCG正解のIoUは0.995。</a:t>
            </a:r>
          </a:p>
          <a:p xmlns:a="http://schemas.openxmlformats.org/drawingml/2006/main">
            <a:r>
              <a:t/>
            </a:r>
          </a:p>
          <a:p xmlns:a="http://schemas.openxmlformats.org/drawingml/2006/main">
            <a:r>
              <a:t>[Sources]</a:t>
            </a:r>
          </a:p>
          <a:p xmlns:a="http://schemas.openxmlformats.org/drawingml/2006/main">
            <a:r>
              <a:t>- https://doi.org/10.3390/s19235243</a:t>
            </a:r>
          </a:p>
          <a:p xmlns:a="http://schemas.openxmlformats.org/drawingml/2006/main">
            <a:r>
              <a:t>- C:\Users\siomi\OneDrive\デスクトップ\Kenkyuu\paf_ring_detection\methods\zhang2019.py</a:t>
            </a:r>
          </a:p>
          <a:p xmlns:a="http://schemas.openxmlformats.org/drawingml/2006/main">
            <a:r>
              <a:t>- C:\Users\siomi\OneDrive\デスクトップ\Kenkyuu\.codex\tmp\camera_meeting_4_20260731\generated-assets\zhang_visual_metrics.json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想定45秒。</a:t>
            </a:r>
          </a:p>
          <a:p xmlns:a="http://schemas.openxmlformats.org/drawingml/2006/main">
            <a:r>
              <a:t>著者コードの移植ではなく、論文の処理構成をPythonで再現したもの。</a:t>
            </a:r>
          </a:p>
          <a:p xmlns:a="http://schemas.openxmlformats.org/drawingml/2006/main">
            <a:r>
              <a:t>論文処理で候補を作った後、PAF向けの最終選択には2規則だけを使う。</a:t>
            </a:r>
          </a:p>
          <a:p xmlns:a="http://schemas.openxmlformats.org/drawingml/2006/main">
            <a:r>
              <a:t>内包関係があれば最も内側、内包関係がなければ全周支持率が最大の候補を選ぶ。</a:t>
            </a:r>
          </a:p>
          <a:p xmlns:a="http://schemas.openxmlformats.org/drawingml/2006/main">
            <a:r>
              <a:t/>
            </a:r>
          </a:p>
          <a:p xmlns:a="http://schemas.openxmlformats.org/drawingml/2006/main">
            <a:r>
              <a:t>[Sources]</a:t>
            </a:r>
          </a:p>
          <a:p xmlns:a="http://schemas.openxmlformats.org/drawingml/2006/main">
            <a:r>
              <a:t>- https://doi.org/10.3390/s19235243</a:t>
            </a:r>
          </a:p>
          <a:p xmlns:a="http://schemas.openxmlformats.org/drawingml/2006/main">
            <a:r>
              <a:t>- C:\Users\siomi\OneDrive\デスクトップ\Kenkyuu\paf_ring_detection\methods\zhang2019.py</a:t>
            </a:r>
          </a:p>
          <a:p xmlns:a="http://schemas.openxmlformats.org/drawingml/2006/main">
            <a:r>
              <a:t>- C:\Users\siomi\OneDrive\デスクトップ\Kenkyuu\paf_ring_detection\methods\zhang2019_paf.py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想定35秒。</a:t>
            </a:r>
          </a:p>
          <a:p xmlns:a="http://schemas.openxmlformats.org/drawingml/2006/main">
            <a:r>
              <a:t>評価は撮像診断1,456枚に一本化した。</a:t>
            </a:r>
          </a:p>
          <a:p xmlns:a="http://schemas.openxmlformats.org/drawingml/2006/main">
            <a:r>
              <a:t>基礎画像112枚へCleanと3種類の撮像劣化を4強度で適用した。</a:t>
            </a:r>
          </a:p>
          <a:p xmlns:a="http://schemas.openxmlformats.org/drawingml/2006/main">
            <a:r>
              <a:t>3方式を同じ画像、同じ成功基準の楕円IoU 0.80以上で比較した。</a:t>
            </a:r>
          </a:p>
          <a:p xmlns:a="http://schemas.openxmlformats.org/drawingml/2006/main">
            <a:r>
              <a:t/>
            </a:r>
          </a:p>
          <a:p xmlns:a="http://schemas.openxmlformats.org/drawingml/2006/main">
            <a:r>
              <a:t>[Sources]</a:t>
            </a:r>
          </a:p>
          <a:p xmlns:a="http://schemas.openxmlformats.org/drawingml/2006/main">
            <a:r>
              <a:t>- C:\Users\siomi\OneDrive\デスクトップ\Kenkyuu\config\experiment.json</a:t>
            </a:r>
          </a:p>
          <a:p xmlns:a="http://schemas.openxmlformats.org/drawingml/2006/main">
            <a:r>
              <a:t>- C:\Users\siomi\OneDrive\デスクトップ\Kenkyuu\output\datasets\diagnostic_evaluation\manifest.json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i="0">
                <a:solidFill>
                  <a:schemeClr val="tx1"/>
                </a:solidFill>
                <a:latin typeface="+mn-lt"/>
                <a:ea typeface="+mn-lt"/>
                <a:cs typeface="+mn-lt"/>
              </a:rPr>
              <a:t>想定45秒。</a:t>
            </a:r>
          </a:p>
          <a:p xmlns:a="http://schemas.openxmlformats.org/drawingml/2006/main">
            <a:r>
              <a:rPr sz="1200" b="0" i="0">
                <a:solidFill>
                  <a:schemeClr val="tx1"/>
                </a:solidFill>
                <a:latin typeface="+mn-lt"/>
                <a:ea typeface="+mn-lt"/>
                <a:cs typeface="+mn-lt"/>
              </a:rPr>
              <a:t>撮像診断1,456枚では、Zhang 2019型（再現実装）は693枚成功で47.6%。</a:t>
            </a:r>
          </a:p>
          <a:p xmlns:a="http://schemas.openxmlformats.org/drawingml/2006/main">
            <a:r>
              <a:rPr sz="1200" b="0" i="0">
                <a:solidFill>
                  <a:schemeClr val="tx1"/>
                </a:solidFill>
                <a:latin typeface="+mn-lt"/>
                <a:ea typeface="+mn-lt"/>
                <a:cs typeface="+mn-lt"/>
              </a:rPr>
              <a:t>Canny統制の46.8%とはほぼ同等。</a:t>
            </a:r>
          </a:p>
          <a:p xmlns:a="http://schemas.openxmlformats.org/drawingml/2006/main">
            <a:r>
              <a:rPr sz="1200" b="0" i="0">
                <a:solidFill>
                  <a:schemeClr val="tx1"/>
                </a:solidFill>
                <a:latin typeface="+mn-lt"/>
                <a:ea typeface="+mn-lt"/>
                <a:cs typeface="+mn-lt"/>
              </a:rPr>
              <a:t>CNN方式は74.5%で、Zhang型より26.9ポイント高い。</a:t>
            </a:r>
          </a:p>
          <a:p xmlns:a="http://schemas.openxmlformats.org/drawingml/2006/main">
            <a:r>
              <a:rPr sz="1200" b="0" i="0">
                <a:solidFill>
                  <a:schemeClr val="tx1"/>
                </a:solidFill>
                <a:latin typeface="+mn-lt"/>
                <a:ea typeface="+mn-lt"/>
                <a:cs typeface="+mn-lt"/>
              </a:rPr>
              <a:t/>
            </a:r>
          </a:p>
          <a:p xmlns:a="http://schemas.openxmlformats.org/drawingml/2006/main">
            <a:r>
              <a:rPr sz="1200" b="0" i="0">
                <a:solidFill>
                  <a:schemeClr val="tx1"/>
                </a:solidFill>
                <a:latin typeface="+mn-lt"/>
                <a:ea typeface="+mn-lt"/>
                <a:cs typeface="+mn-lt"/>
              </a:rPr>
              <a:t>[Sources]</a:t>
            </a:r>
          </a:p>
          <a:p xmlns:a="http://schemas.openxmlformats.org/drawingml/2006/main">
            <a:r>
              <a:rPr sz="1200" b="0" i="0">
                <a:solidFill>
                  <a:schemeClr val="tx1"/>
                </a:solidFill>
                <a:latin typeface="+mn-lt"/>
                <a:ea typeface="+mn-lt"/>
                <a:cs typeface="+mn-lt"/>
              </a:rPr>
              <a:t>- C:\Users\siomi\OneDrive\デスクトップ\Kenkyuu\output\results\summary.json</a:t>
            </a:r>
          </a:p>
          <a:p xmlns:a="http://schemas.openxmlformats.org/drawingml/2006/main">
            <a:r>
              <a:rPr sz="1200" b="0" i="0">
                <a:solidFill>
                  <a:schemeClr val="tx1"/>
                </a:solidFill>
                <a:latin typeface="+mn-lt"/>
                <a:ea typeface="+mn-lt"/>
                <a:cs typeface="+mn-lt"/>
              </a:rPr>
              <a:t>- C:\Users\siomi\OneDrive\デスクトップ\Kenkyuu\output\results\diagnostic\canny_contour_ransac.csv</a:t>
            </a:r>
          </a:p>
          <a:p xmlns:a="http://schemas.openxmlformats.org/drawingml/2006/main">
            <a:r>
              <a:rPr sz="1200" b="0" i="0">
                <a:solidFill>
                  <a:schemeClr val="tx1"/>
                </a:solidFill>
                <a:latin typeface="+mn-lt"/>
                <a:ea typeface="+mn-lt"/>
                <a:cs typeface="+mn-lt"/>
              </a:rPr>
              <a:t>- C:\Users\siomi\OneDrive\デスクトップ\Kenkyuu\output\results\diagnostic\zhang2019.csv</a:t>
            </a:r>
          </a:p>
          <a:p xmlns:a="http://schemas.openxmlformats.org/drawingml/2006/main">
            <a:r>
              <a:rPr sz="1200" b="0" i="0">
                <a:solidFill>
                  <a:schemeClr val="tx1"/>
                </a:solidFill>
                <a:latin typeface="+mn-lt"/>
                <a:ea typeface="+mn-lt"/>
                <a:cs typeface="+mn-lt"/>
              </a:rPr>
              <a:t>- C:\Users\siomi\OneDrive\デスクトップ\Kenkyuu\output\results\diagnostic\cnn_ransac.csv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想定45秒。</a:t>
            </a:r>
          </a:p>
          <a:p xmlns:a="http://schemas.openxmlformats.org/drawingml/2006/main">
            <a:r>
              <a:t>白飛びは強度100%でも83.9%。</a:t>
            </a:r>
          </a:p>
          <a:p xmlns:a="http://schemas.openxmlformats.org/drawingml/2006/main">
            <a:r>
              <a:t>黒矩形は50%で3.6%、75%以上で0%。</a:t>
            </a:r>
          </a:p>
          <a:p xmlns:a="http://schemas.openxmlformats.org/drawingml/2006/main">
            <a:r>
              <a:t>黒つぶれは75%で20.5%、100%で8.9%。</a:t>
            </a:r>
          </a:p>
          <a:p xmlns:a="http://schemas.openxmlformats.org/drawingml/2006/main">
            <a:r>
              <a:t>必要な円弧そのものが消える条件では、三円弧統合が成立しにくい。</a:t>
            </a:r>
          </a:p>
          <a:p xmlns:a="http://schemas.openxmlformats.org/drawingml/2006/main">
            <a:r>
              <a:t/>
            </a:r>
          </a:p>
          <a:p xmlns:a="http://schemas.openxmlformats.org/drawingml/2006/main">
            <a:r>
              <a:t>[Sources]</a:t>
            </a:r>
          </a:p>
          <a:p xmlns:a="http://schemas.openxmlformats.org/drawingml/2006/main">
            <a:r>
              <a:t>- C:\Users\siomi\OneDrive\デスクトップ\Kenkyuu\output\results\diagnostic\zhang2019.csv</a:t>
            </a:r>
          </a:p>
          <a:p xmlns:a="http://schemas.openxmlformats.org/drawingml/2006/main">
            <a:r>
              <a:t>- C:\Users\siomi\OneDrive\デスクトップ\Kenkyuu\output\results\diagnostic_by_severity.png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想定25秒。</a:t>
            </a:r>
          </a:p>
          <a:p xmlns:a="http://schemas.openxmlformats.org/drawingml/2006/main">
            <a:r>
              <a:t>Zhang 2019型（再現実装）は撮像診断で47.6%。</a:t>
            </a:r>
          </a:p>
          <a:p xmlns:a="http://schemas.openxmlformats.org/drawingml/2006/main">
            <a:r>
              <a:t>Canny統制と同等で、CNNより低かった。</a:t>
            </a:r>
          </a:p>
          <a:p xmlns:a="http://schemas.openxmlformats.org/drawingml/2006/main">
            <a:r>
              <a:t>遮蔽や黒つぶれで円弧自体が不足することが主な失敗要因。</a:t>
            </a:r>
          </a:p>
          <a:p xmlns:a="http://schemas.openxmlformats.org/drawingml/2006/main">
            <a:r>
              <a:t>未知条件への一般化は次回以降に扱う。</a:t>
            </a:r>
          </a:p>
          <a:p xmlns:a="http://schemas.openxmlformats.org/drawingml/2006/main">
            <a:r>
              <a:t/>
            </a:r>
          </a:p>
          <a:p xmlns:a="http://schemas.openxmlformats.org/drawingml/2006/main">
            <a:r>
              <a:t>[Sources]</a:t>
            </a:r>
          </a:p>
          <a:p xmlns:a="http://schemas.openxmlformats.org/drawingml/2006/main">
            <a:r>
              <a:t>- C:\Users\siomi\OneDrive\デスクトップ\Kenkyuu\.codex\PROJECT_CONTEXT.md</a:t>
            </a:r>
          </a:p>
          <a:p xmlns:a="http://schemas.openxmlformats.org/drawingml/2006/main">
            <a:r>
              <a:t>- C:\Users\siomi\OneDrive\デスクトップ\Kenkyuu\output\results\summary.json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229b4a3438435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2f6f2de29842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0b1372dd3446d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76259bd5c04f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37879d1c9e46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cf3a4f4f094c1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7e5613490364a5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d9671ce94b446e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9e2ca8fe8c94a9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83759ebf283421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ae1ba283c07449c" /></Relationships>
</file>

<file path=ppt/slideLayouts/slideLayout1.xml><?xml version="1.0" encoding="utf-8"?>
<p:sldLayout xmlns:p="http://schemas.openxmlformats.org/presentationml/2006/main" type="title" preserve="1">
  <p:cSld name="タイトル スライド">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3E2A3AC3-9BBA-8E11-E099-ABFE7904E516}"/>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マスター タイトルの書式設定</a:t>
            </a:r>
          </a:p>
        </p:txBody>
      </p:sp>
      <p:sp>
        <p:nvSpPr>
          <p:cNvPr id="3" name="字幕 2">
            <a:extLst xmlns:a="http://schemas.openxmlformats.org/drawingml/2006/main">
              <a:ext uri="{FF2B5EF4-FFF2-40B4-BE49-F238E27FC236}">
                <a16:creationId xmlns:a16="http://schemas.microsoft.com/office/drawing/2014/main" id="{2AD1EB0B-5808-8E08-B140-60549B47971B}"/>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マスター サブタイトルの書式設定</a:t>
            </a:r>
          </a:p>
        </p:txBody>
      </p:sp>
      <p:sp>
        <p:nvSpPr>
          <p:cNvPr id="4" name="日付プレースホルダー 3">
            <a:extLst xmlns:a="http://schemas.openxmlformats.org/drawingml/2006/main">
              <a:ext uri="{FF2B5EF4-FFF2-40B4-BE49-F238E27FC236}">
                <a16:creationId xmlns:a16="http://schemas.microsoft.com/office/drawing/2014/main" id="{113CC2F8-E577-30F3-50DF-1061F65995B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5" name="フッター プレースホルダー 4">
            <a:extLst xmlns:a="http://schemas.openxmlformats.org/drawingml/2006/main">
              <a:ext uri="{FF2B5EF4-FFF2-40B4-BE49-F238E27FC236}">
                <a16:creationId xmlns:a16="http://schemas.microsoft.com/office/drawing/2014/main" id="{0E47049D-B2A7-07E9-6233-CCEFAF0A19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ACC314B8-9D46-580D-7BE9-953E7A5A46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Layouts/slideLayout2.xml><?xml version="1.0" encoding="utf-8"?>
<p:sldLayout xmlns:p="http://schemas.openxmlformats.org/presentationml/2006/main" type="obj" preserve="1">
  <p:cSld name="タイトルと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AB0791A6-9BE5-6883-64C0-A28C3D91E77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0474A667-7BE3-31FA-8225-EA15EFC0DF9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2C4FF7B8-5C3E-D427-D0E5-B4A3D136B2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5" name="フッター プレースホルダー 4">
            <a:extLst xmlns:a="http://schemas.openxmlformats.org/drawingml/2006/main">
              <a:ext uri="{FF2B5EF4-FFF2-40B4-BE49-F238E27FC236}">
                <a16:creationId xmlns:a16="http://schemas.microsoft.com/office/drawing/2014/main" id="{FB37FFCD-B795-3C0B-43EF-8519A21CE0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CF98A99A-51B4-D55A-1505-F05648C9245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Layouts/slideLayout3.xml><?xml version="1.0" encoding="utf-8"?>
<p:sldLayout xmlns:p="http://schemas.openxmlformats.org/presentationml/2006/main" type="secHead" preserve="1">
  <p:cSld name="セクション見出し">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2AF3F076-BB2C-8431-AD9A-B59AFFA8947F}"/>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5545BAF1-BB01-21BF-48B6-F056CB8D127C}"/>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マスター テキストの書式設定</a:t>
            </a:r>
          </a:p>
        </p:txBody>
      </p:sp>
      <p:sp>
        <p:nvSpPr>
          <p:cNvPr id="4" name="日付プレースホルダー 3">
            <a:extLst xmlns:a="http://schemas.openxmlformats.org/drawingml/2006/main">
              <a:ext uri="{FF2B5EF4-FFF2-40B4-BE49-F238E27FC236}">
                <a16:creationId xmlns:a16="http://schemas.microsoft.com/office/drawing/2014/main" id="{32AD9E4E-D262-C6B4-5C1B-07881E1F01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5" name="フッター プレースホルダー 4">
            <a:extLst xmlns:a="http://schemas.openxmlformats.org/drawingml/2006/main">
              <a:ext uri="{FF2B5EF4-FFF2-40B4-BE49-F238E27FC236}">
                <a16:creationId xmlns:a16="http://schemas.microsoft.com/office/drawing/2014/main" id="{EDFA657B-3C63-50CC-C98B-EFE3E256D0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5B59865D-4826-7039-1633-3A01FA4F87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Layouts/slideLayout4.xml><?xml version="1.0" encoding="utf-8"?>
<p:sldLayout xmlns:p="http://schemas.openxmlformats.org/presentationml/2006/main" type="twoObj" preserve="1">
  <p:cSld name="2 つ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C64FADDA-495A-9346-8A7D-62748E35579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0F244336-5629-6429-0292-3D693F9C0D7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コンテンツ プレースホルダー 3">
            <a:extLst xmlns:a="http://schemas.openxmlformats.org/drawingml/2006/main">
              <a:ext uri="{FF2B5EF4-FFF2-40B4-BE49-F238E27FC236}">
                <a16:creationId xmlns:a16="http://schemas.microsoft.com/office/drawing/2014/main" id="{AF45223F-AC19-E344-CE33-4A4A639E99AB}"/>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日付プレースホルダー 4">
            <a:extLst xmlns:a="http://schemas.openxmlformats.org/drawingml/2006/main">
              <a:ext uri="{FF2B5EF4-FFF2-40B4-BE49-F238E27FC236}">
                <a16:creationId xmlns:a16="http://schemas.microsoft.com/office/drawing/2014/main" id="{C5CEDD68-9452-8248-C931-3F0237000E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6" name="フッター プレースホルダー 5">
            <a:extLst xmlns:a="http://schemas.openxmlformats.org/drawingml/2006/main">
              <a:ext uri="{FF2B5EF4-FFF2-40B4-BE49-F238E27FC236}">
                <a16:creationId xmlns:a16="http://schemas.microsoft.com/office/drawing/2014/main" id="{C90BEB63-73A5-6F32-B21A-756D2283FA6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スライド番号プレースホルダー 6">
            <a:extLst xmlns:a="http://schemas.openxmlformats.org/drawingml/2006/main">
              <a:ext uri="{FF2B5EF4-FFF2-40B4-BE49-F238E27FC236}">
                <a16:creationId xmlns:a16="http://schemas.microsoft.com/office/drawing/2014/main" id="{8B590089-F415-334F-3A15-EC8D88371D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Layouts/slideLayout5.xml><?xml version="1.0" encoding="utf-8"?>
<p:sldLayout xmlns:p="http://schemas.openxmlformats.org/presentationml/2006/main" type="twoTxTwoObj" preserve="1">
  <p:cSld name="比較">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9597C9EC-63F6-E6E3-8588-92793357E336}"/>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2C374482-8965-D6A8-039C-72D8B3EFE4B5}"/>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4" name="コンテンツ プレースホルダー 3">
            <a:extLst xmlns:a="http://schemas.openxmlformats.org/drawingml/2006/main">
              <a:ext uri="{FF2B5EF4-FFF2-40B4-BE49-F238E27FC236}">
                <a16:creationId xmlns:a16="http://schemas.microsoft.com/office/drawing/2014/main" id="{5EF2B11B-40A7-E61A-A614-DB7B4CCDF228}"/>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テキスト プレースホルダー 4">
            <a:extLst xmlns:a="http://schemas.openxmlformats.org/drawingml/2006/main">
              <a:ext uri="{FF2B5EF4-FFF2-40B4-BE49-F238E27FC236}">
                <a16:creationId xmlns:a16="http://schemas.microsoft.com/office/drawing/2014/main" id="{37B16BD6-6273-617F-B4E4-F189AC8F5B10}"/>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6" name="コンテンツ プレースホルダー 5">
            <a:extLst xmlns:a="http://schemas.openxmlformats.org/drawingml/2006/main">
              <a:ext uri="{FF2B5EF4-FFF2-40B4-BE49-F238E27FC236}">
                <a16:creationId xmlns:a16="http://schemas.microsoft.com/office/drawing/2014/main" id="{0EF30CE6-91F6-4442-47B6-2D3FDE71769E}"/>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7" name="日付プレースホルダー 6">
            <a:extLst xmlns:a="http://schemas.openxmlformats.org/drawingml/2006/main">
              <a:ext uri="{FF2B5EF4-FFF2-40B4-BE49-F238E27FC236}">
                <a16:creationId xmlns:a16="http://schemas.microsoft.com/office/drawing/2014/main" id="{7A9B2748-5946-96C3-3B11-AB7A851330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8" name="フッター プレースホルダー 7">
            <a:extLst xmlns:a="http://schemas.openxmlformats.org/drawingml/2006/main">
              <a:ext uri="{FF2B5EF4-FFF2-40B4-BE49-F238E27FC236}">
                <a16:creationId xmlns:a16="http://schemas.microsoft.com/office/drawing/2014/main" id="{D1F0C39E-8B53-0368-BEE8-CAFDC75D91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スライド番号プレースホルダー 8">
            <a:extLst xmlns:a="http://schemas.openxmlformats.org/drawingml/2006/main">
              <a:ext uri="{FF2B5EF4-FFF2-40B4-BE49-F238E27FC236}">
                <a16:creationId xmlns:a16="http://schemas.microsoft.com/office/drawing/2014/main" id="{E56FCE75-29AC-3F9A-49EB-BA2C535A9D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Layouts/slideLayout6.xml><?xml version="1.0" encoding="utf-8"?>
<p:sldLayout xmlns:p="http://schemas.openxmlformats.org/presentationml/2006/main" type="titleOnly" preserve="1">
  <p:cSld name="タイトルのみ">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77ADB89C-0C18-1E2F-C1EB-12A41095F6A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日付プレースホルダー 2">
            <a:extLst xmlns:a="http://schemas.openxmlformats.org/drawingml/2006/main">
              <a:ext uri="{FF2B5EF4-FFF2-40B4-BE49-F238E27FC236}">
                <a16:creationId xmlns:a16="http://schemas.microsoft.com/office/drawing/2014/main" id="{EF3DAFE2-E057-9515-4B31-C27746E7CB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4" name="フッター プレースホルダー 3">
            <a:extLst xmlns:a="http://schemas.openxmlformats.org/drawingml/2006/main">
              <a:ext uri="{FF2B5EF4-FFF2-40B4-BE49-F238E27FC236}">
                <a16:creationId xmlns:a16="http://schemas.microsoft.com/office/drawing/2014/main" id="{E22E4690-9E97-7F7A-6303-30D23973FD3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スライド番号プレースホルダー 4">
            <a:extLst xmlns:a="http://schemas.openxmlformats.org/drawingml/2006/main">
              <a:ext uri="{FF2B5EF4-FFF2-40B4-BE49-F238E27FC236}">
                <a16:creationId xmlns:a16="http://schemas.microsoft.com/office/drawing/2014/main" id="{CC376770-65B7-FFA9-D6CD-B8633F5F78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Layouts/slideLayout7.xml><?xml version="1.0" encoding="utf-8"?>
<p:sldLayout xmlns:p="http://schemas.openxmlformats.org/presentationml/2006/main" type="blank" preserve="1">
  <p:cSld name="白紙">
    <p:spTree>
      <p:nvGrpSpPr>
        <p:cNvPr id="1" name=""/>
        <p:cNvGrpSpPr/>
        <p:nvPr/>
      </p:nvGrpSpPr>
      <p:grpSpPr>
        <a:xfrm xmlns:a="http://schemas.openxmlformats.org/drawingml/2006/main"/>
      </p:grpSpPr>
      <p:sp>
        <p:nvSpPr>
          <p:cNvPr id="2" name="日付プレースホルダー 1">
            <a:extLst xmlns:a="http://schemas.openxmlformats.org/drawingml/2006/main">
              <a:ext uri="{FF2B5EF4-FFF2-40B4-BE49-F238E27FC236}">
                <a16:creationId xmlns:a16="http://schemas.microsoft.com/office/drawing/2014/main" id="{0EA9B5CA-48EF-D03F-CCEB-E5D73F30C8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3" name="フッター プレースホルダー 2">
            <a:extLst xmlns:a="http://schemas.openxmlformats.org/drawingml/2006/main">
              <a:ext uri="{FF2B5EF4-FFF2-40B4-BE49-F238E27FC236}">
                <a16:creationId xmlns:a16="http://schemas.microsoft.com/office/drawing/2014/main" id="{7CC048B7-12A3-FBDB-6A45-0967B3A88D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スライド番号プレースホルダー 3">
            <a:extLst xmlns:a="http://schemas.openxmlformats.org/drawingml/2006/main">
              <a:ext uri="{FF2B5EF4-FFF2-40B4-BE49-F238E27FC236}">
                <a16:creationId xmlns:a16="http://schemas.microsoft.com/office/drawing/2014/main" id="{F989B800-1A14-93DA-E0FC-80A776E6D7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Layouts/slideLayout8.xml><?xml version="1.0" encoding="utf-8"?>
<p:sldLayout xmlns:p="http://schemas.openxmlformats.org/presentationml/2006/main" type="objTx" preserve="1">
  <p:cSld name="タイトル付き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952CD4FE-6724-C35F-A0E3-018DA3AF7D9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2864462B-CEFC-9D53-3152-6E129D716C19}"/>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テキスト プレースホルダー 3">
            <a:extLst xmlns:a="http://schemas.openxmlformats.org/drawingml/2006/main">
              <a:ext uri="{FF2B5EF4-FFF2-40B4-BE49-F238E27FC236}">
                <a16:creationId xmlns:a16="http://schemas.microsoft.com/office/drawing/2014/main" id="{90F3A98B-52C3-BFC2-76AD-2EB3A5895B74}"/>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FAE5F531-10FF-CE18-0FE6-E27E2B3701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6" name="フッター プレースホルダー 5">
            <a:extLst xmlns:a="http://schemas.openxmlformats.org/drawingml/2006/main">
              <a:ext uri="{FF2B5EF4-FFF2-40B4-BE49-F238E27FC236}">
                <a16:creationId xmlns:a16="http://schemas.microsoft.com/office/drawing/2014/main" id="{2CF86881-52B9-C9FA-0957-DEA77521D2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スライド番号プレースホルダー 6">
            <a:extLst xmlns:a="http://schemas.openxmlformats.org/drawingml/2006/main">
              <a:ext uri="{FF2B5EF4-FFF2-40B4-BE49-F238E27FC236}">
                <a16:creationId xmlns:a16="http://schemas.microsoft.com/office/drawing/2014/main" id="{E6041AD4-B435-9451-B96D-C72E2D440E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Layouts/slideLayout9.xml><?xml version="1.0" encoding="utf-8"?>
<p:sldLayout xmlns:p="http://schemas.openxmlformats.org/presentationml/2006/main" type="picTx" preserve="1">
  <p:cSld name="タイトル付きの図">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C43D6106-9897-7CD8-D3C4-92AF681C9289}"/>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p>
        </p:txBody>
      </p:sp>
      <p:sp>
        <p:nvSpPr>
          <p:cNvPr id="3" name="図プレースホルダー 2">
            <a:extLst xmlns:a="http://schemas.openxmlformats.org/drawingml/2006/main">
              <a:ext uri="{FF2B5EF4-FFF2-40B4-BE49-F238E27FC236}">
                <a16:creationId xmlns:a16="http://schemas.microsoft.com/office/drawing/2014/main" id="{68507A9B-3DCC-E4BB-FC3B-144204154F3C}"/>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テキスト プレースホルダー 3">
            <a:extLst xmlns:a="http://schemas.openxmlformats.org/drawingml/2006/main">
              <a:ext uri="{FF2B5EF4-FFF2-40B4-BE49-F238E27FC236}">
                <a16:creationId xmlns:a16="http://schemas.microsoft.com/office/drawing/2014/main" id="{A56ACDFD-C498-ECEC-E952-C509D42AA5F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0F728F9A-A276-90D0-EAC8-98133EBC01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6" name="フッター プレースホルダー 5">
            <a:extLst xmlns:a="http://schemas.openxmlformats.org/drawingml/2006/main">
              <a:ext uri="{FF2B5EF4-FFF2-40B4-BE49-F238E27FC236}">
                <a16:creationId xmlns:a16="http://schemas.microsoft.com/office/drawing/2014/main" id="{2678CC1D-0AB7-726F-A95A-8C3817D804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スライド番号プレースホルダー 6">
            <a:extLst xmlns:a="http://schemas.openxmlformats.org/drawingml/2006/main">
              <a:ext uri="{FF2B5EF4-FFF2-40B4-BE49-F238E27FC236}">
                <a16:creationId xmlns:a16="http://schemas.microsoft.com/office/drawing/2014/main" id="{F4298B5D-256D-C98F-30B0-956EB1AC81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Layouts/slideLayout10.xml><?xml version="1.0" encoding="utf-8"?>
<p:sldLayout xmlns:p="http://schemas.openxmlformats.org/presentationml/2006/main" type="vertTx" preserve="1">
  <p:cSld name="タイトルと縦書きテキスト">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38AFCEC6-3140-ED8D-D9D8-E489E0B9A6D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EA85B470-FD5C-AA6D-A126-94A8737590D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A2B3C9A1-CFB1-C9A7-3C9B-74A7807867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5" name="フッター プレースホルダー 4">
            <a:extLst xmlns:a="http://schemas.openxmlformats.org/drawingml/2006/main">
              <a:ext uri="{FF2B5EF4-FFF2-40B4-BE49-F238E27FC236}">
                <a16:creationId xmlns:a16="http://schemas.microsoft.com/office/drawing/2014/main" id="{CB3D76AA-F206-C911-52EA-50042FCFF8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77A4500D-E8E0-D197-9FDD-D8933E19A5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Layouts/slideLayout11.xml><?xml version="1.0" encoding="utf-8"?>
<p:sldLayout xmlns:p="http://schemas.openxmlformats.org/presentationml/2006/main" type="vertTitleAndTx" preserve="1">
  <p:cSld name="縦書きタイトルと&#10;縦書きテキスト">
    <p:spTree>
      <p:nvGrpSpPr>
        <p:cNvPr id="1" name=""/>
        <p:cNvGrpSpPr/>
        <p:nvPr/>
      </p:nvGrpSpPr>
      <p:grpSpPr>
        <a:xfrm xmlns:a="http://schemas.openxmlformats.org/drawingml/2006/main"/>
      </p:grpSpPr>
      <p:sp>
        <p:nvSpPr>
          <p:cNvPr id="2" name="縦書きタイトル 1">
            <a:extLst xmlns:a="http://schemas.openxmlformats.org/drawingml/2006/main">
              <a:ext uri="{FF2B5EF4-FFF2-40B4-BE49-F238E27FC236}">
                <a16:creationId xmlns:a16="http://schemas.microsoft.com/office/drawing/2014/main" id="{4CF19B41-2514-C11C-36B5-28ACFF37F376}"/>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D055A9D3-BFE6-2AD5-CB55-3E580AF8B9AF}"/>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F0A5E879-2586-6EA7-CFC4-9AD8DA31D4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AF3A6A7-622A-4406-BADF-9C84EB479777}" type="datetimeFigureOut">
              <a:t>2026/7/17</a:t>
            </a:fld>
          </a:p>
        </p:txBody>
      </p:sp>
      <p:sp>
        <p:nvSpPr>
          <p:cNvPr id="5" name="フッター プレースホルダー 4">
            <a:extLst xmlns:a="http://schemas.openxmlformats.org/drawingml/2006/main">
              <a:ext uri="{FF2B5EF4-FFF2-40B4-BE49-F238E27FC236}">
                <a16:creationId xmlns:a16="http://schemas.microsoft.com/office/drawing/2014/main" id="{6A775971-8AB7-CB85-0BB4-3024D730B4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0FBEB35F-50AC-38DD-EBCD-0089B607DF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D5F6097-5CFC-49A7-8221-C8651BEB998E}"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2324385aa4448f" /><Relationship Type="http://schemas.openxmlformats.org/officeDocument/2006/relationships/slideLayout" Target="/ppt/slideLayouts/slideLayout1.xml" Id="Re375a7f8343a44c3" /><Relationship Type="http://schemas.openxmlformats.org/officeDocument/2006/relationships/slideLayout" Target="/ppt/slideLayouts/slideLayout2.xml" Id="Rc22142053c214691" /><Relationship Type="http://schemas.openxmlformats.org/officeDocument/2006/relationships/slideLayout" Target="/ppt/slideLayouts/slideLayout3.xml" Id="R3c63dbaa1f4e46f5" /><Relationship Type="http://schemas.openxmlformats.org/officeDocument/2006/relationships/slideLayout" Target="/ppt/slideLayouts/slideLayout4.xml" Id="R99a241b5a8ed4904" /><Relationship Type="http://schemas.openxmlformats.org/officeDocument/2006/relationships/slideLayout" Target="/ppt/slideLayouts/slideLayout5.xml" Id="R886b0e02f23a4a50" /><Relationship Type="http://schemas.openxmlformats.org/officeDocument/2006/relationships/slideLayout" Target="/ppt/slideLayouts/slideLayout6.xml" Id="R6c3dbc9c50df49d9" /><Relationship Type="http://schemas.openxmlformats.org/officeDocument/2006/relationships/slideLayout" Target="/ppt/slideLayouts/slideLayout7.xml" Id="Rb7ef7367bde7455d" /><Relationship Type="http://schemas.openxmlformats.org/officeDocument/2006/relationships/slideLayout" Target="/ppt/slideLayouts/slideLayout8.xml" Id="R0adf761efc304ca3" /><Relationship Type="http://schemas.openxmlformats.org/officeDocument/2006/relationships/slideLayout" Target="/ppt/slideLayouts/slideLayout9.xml" Id="R3db984a72fe34794" /><Relationship Type="http://schemas.openxmlformats.org/officeDocument/2006/relationships/slideLayout" Target="/ppt/slideLayouts/slideLayout10.xml" Id="R83c1a398d6b24806" /><Relationship Type="http://schemas.openxmlformats.org/officeDocument/2006/relationships/slideLayout" Target="/ppt/slideLayouts/slideLayout11.xml" Id="R3d4f2e13d3a14ca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タイトル プレースホルダー 1">
            <a:extLst xmlns:a="http://schemas.openxmlformats.org/drawingml/2006/main">
              <a:ext uri="{FF2B5EF4-FFF2-40B4-BE49-F238E27FC236}">
                <a16:creationId xmlns:a16="http://schemas.microsoft.com/office/drawing/2014/main" id="{B6658F7C-2114-F168-D611-E9406308EF3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DA1EA05B-3107-A64A-0EAC-A52B6C331E3F}"/>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77364495-EED0-3EA3-F067-A3DC8FE46315}"/>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FAF3A6A7-622A-4406-BADF-9C84EB479777}" type="datetimeFigureOut">
              <a:t>2026/7/17</a:t>
            </a:fld>
          </a:p>
        </p:txBody>
      </p:sp>
      <p:sp>
        <p:nvSpPr>
          <p:cNvPr id="5" name="フッター プレースホルダー 4">
            <a:extLst xmlns:a="http://schemas.openxmlformats.org/drawingml/2006/main">
              <a:ext uri="{FF2B5EF4-FFF2-40B4-BE49-F238E27FC236}">
                <a16:creationId xmlns:a16="http://schemas.microsoft.com/office/drawing/2014/main" id="{A61C3567-BEAB-29E8-8ACC-4D9457757B09}"/>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p:txBody>
      </p:sp>
      <p:sp>
        <p:nvSpPr>
          <p:cNvPr id="6" name="スライド番号プレースホルダー 5">
            <a:extLst xmlns:a="http://schemas.openxmlformats.org/drawingml/2006/main">
              <a:ext uri="{FF2B5EF4-FFF2-40B4-BE49-F238E27FC236}">
                <a16:creationId xmlns:a16="http://schemas.microsoft.com/office/drawing/2014/main" id="{2D1AA8FB-328D-A5DC-BC86-6CD607FBD650}"/>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DD5F6097-5CFC-49A7-8221-C8651BEB998E}"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75a7f8343a44c3"/>
    <p:sldLayoutId xmlns:r="http://schemas.openxmlformats.org/officeDocument/2006/relationships" id="2147483650" r:id="Rc22142053c214691"/>
    <p:sldLayoutId xmlns:r="http://schemas.openxmlformats.org/officeDocument/2006/relationships" id="2147483651" r:id="R3c63dbaa1f4e46f5"/>
    <p:sldLayoutId xmlns:r="http://schemas.openxmlformats.org/officeDocument/2006/relationships" id="2147483652" r:id="R99a241b5a8ed4904"/>
    <p:sldLayoutId xmlns:r="http://schemas.openxmlformats.org/officeDocument/2006/relationships" id="2147483653" r:id="R886b0e02f23a4a50"/>
    <p:sldLayoutId xmlns:r="http://schemas.openxmlformats.org/officeDocument/2006/relationships" id="2147483654" r:id="R6c3dbc9c50df49d9"/>
    <p:sldLayoutId xmlns:r="http://schemas.openxmlformats.org/officeDocument/2006/relationships" id="2147483655" r:id="Rb7ef7367bde7455d"/>
    <p:sldLayoutId xmlns:r="http://schemas.openxmlformats.org/officeDocument/2006/relationships" id="2147483656" r:id="R0adf761efc304ca3"/>
    <p:sldLayoutId xmlns:r="http://schemas.openxmlformats.org/officeDocument/2006/relationships" id="2147483657" r:id="R3db984a72fe34794"/>
    <p:sldLayoutId xmlns:r="http://schemas.openxmlformats.org/officeDocument/2006/relationships" id="2147483658" r:id="R83c1a398d6b24806"/>
    <p:sldLayoutId xmlns:r="http://schemas.openxmlformats.org/officeDocument/2006/relationships" id="2147483659" r:id="R3d4f2e13d3a14cad"/>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b984cddd294df6" /><Relationship Type="http://schemas.openxmlformats.org/officeDocument/2006/relationships/notesSlide" Target="/ppt/notesSlides/notesSlide1.xml" Id="R5d9219d7143f4f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e74e125b47433f" /><Relationship Type="http://schemas.openxmlformats.org/officeDocument/2006/relationships/notesSlide" Target="/ppt/notesSlides/notesSlide2.xml" Id="Rfa847fb2464940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0361cedcf542d5" /><Relationship Type="http://schemas.openxmlformats.org/officeDocument/2006/relationships/notesSlide" Target="/ppt/notesSlides/notesSlide3.xml" Id="Rea1786a082be43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8a8e76e7724dfe" /><Relationship Type="http://schemas.openxmlformats.org/officeDocument/2006/relationships/notesSlide" Target="/ppt/notesSlides/notesSlide4.xml" Id="Reb0987169bda40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ad918e4e5a4d66" /><Relationship Type="http://schemas.openxmlformats.org/officeDocument/2006/relationships/notesSlide" Target="/ppt/notesSlides/notesSlide5.xml" Id="R4f42285f5a574f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0112f96a694369" /><Relationship Type="http://schemas.openxmlformats.org/officeDocument/2006/relationships/notesSlide" Target="/ppt/notesSlides/notesSlide6.xml" Id="R200a700c0ce14b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15fec567904dcc" /><Relationship Type="http://schemas.openxmlformats.org/officeDocument/2006/relationships/image" Target="/ppt/media/image.png" Id="R7f3ef50a70894a65" /><Relationship Type="http://schemas.openxmlformats.org/officeDocument/2006/relationships/notesSlide" Target="/ppt/notesSlides/notesSlide7.xml" Id="Rc3077ae36f544a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14fc7b3f7a4265" /><Relationship Type="http://schemas.openxmlformats.org/officeDocument/2006/relationships/image" Target="/ppt/media/image2.png" Id="R5391c0ee9f9d4e31" /><Relationship Type="http://schemas.openxmlformats.org/officeDocument/2006/relationships/notesSlide" Target="/ppt/notesSlides/notesSlide8.xml" Id="Rd08c6e367d1d44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aa453f3175476f" /><Relationship Type="http://schemas.openxmlformats.org/officeDocument/2006/relationships/image" Target="/ppt/media/image3.png" Id="R351264ff5f3048ce" /><Relationship Type="http://schemas.openxmlformats.org/officeDocument/2006/relationships/image" Target="/ppt/media/image4.png" Id="Rd2e9e725e47648cf" /><Relationship Type="http://schemas.openxmlformats.org/officeDocument/2006/relationships/image" Target="/ppt/media/image5.png" Id="Rdf107864a38c4c3f" /><Relationship Type="http://schemas.openxmlformats.org/officeDocument/2006/relationships/image" Target="/ppt/media/image6.png" Id="R93525416e79e4679" /><Relationship Type="http://schemas.openxmlformats.org/officeDocument/2006/relationships/notesSlide" Target="/ppt/notesSlides/notesSlide9.xml" Id="Rf3f58623fb6242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4a547452f0f48ba" /><Relationship Type="http://schemas.openxmlformats.org/officeDocument/2006/relationships/chart" Target="/ppt/slides/charts/chart1.xml" Id="Rd80638c94e8e4078" /><Relationship Type="http://schemas.openxmlformats.org/officeDocument/2006/relationships/notesSlide" Target="/ppt/notesSlides/notesSlide10.xml" Id="R2ecccf96c7ba46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2ddcbe519a4328" /><Relationship Type="http://schemas.openxmlformats.org/officeDocument/2006/relationships/image" Target="/ppt/media/image7.png" Id="R842eaf08af044cbc" /><Relationship Type="http://schemas.openxmlformats.org/officeDocument/2006/relationships/notesSlide" Target="/ppt/notesSlides/notesSlide11.xml" Id="R8a82564f848d4e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800889c39464850" /><Relationship Type="http://schemas.openxmlformats.org/officeDocument/2006/relationships/notesSlide" Target="/ppt/notesSlides/notesSlide12.xml" Id="R9fb23976a5ad491e"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F2937"/>
                </a:solidFill>
              </a:rPr>
              <a:t>撮像診断 成功率（IoU ≥ 0.80）</a:t>
            </a:r>
          </a:p>
        </c:rich>
      </c:tx>
      <c:txPr>
        <a:bodyPr xmlns:a="http://schemas.openxmlformats.org/drawingml/2006/main" anchorCtr="1"/>
        <a:lstStyle xmlns:a="http://schemas.openxmlformats.org/drawingml/2006/main"/>
        <a:p xmlns:a="http://schemas.openxmlformats.org/drawingml/2006/main">
          <a:pPr>
            <a:defRPr sz="1350" b="1">
              <a:solidFill>
                <a:srgbClr val="1F2937"/>
              </a:solidFill>
            </a:defRPr>
          </a:pPr>
        </a:p>
      </c:txPr>
    </c:title>
    <c:plotArea>
      <c:barChart>
        <c:barDir val="col"/>
        <c:grouping val="clustered"/>
        <c:varyColors val="0"/>
        <c:ser>
          <c:idx val="0"/>
          <c:order val="0"/>
          <c:tx>
            <c:v>Canny＋輪郭別RANSAC</c:v>
          </c:tx>
          <c:spPr>
            <a:solidFill xmlns:a="http://schemas.openxmlformats.org/drawingml/2006/main">
              <a:srgbClr val="F39C12"/>
            </a:solidFill>
          </c:spPr>
          <c:cat>
            <c:strLit>
              <c:ptCount val="1"/>
              <c:pt idx="0">
                <c:v/>
              </c:pt>
            </c:strLit>
          </c:cat>
          <c:val>
            <c:numLit>
              <c:formatCode>0.0"%"</c:formatCode>
              <c:ptCount val="1"/>
              <c:pt idx="0">
                <c:v>46.8</c:v>
              </c:pt>
            </c:numLit>
          </c:val>
        </c:ser>
        <c:ser>
          <c:idx val="1"/>
          <c:order val="1"/>
          <c:tx>
            <c:v>Zhang 2019型（再現実装）</c:v>
          </c:tx>
          <c:spPr>
            <a:solidFill xmlns:a="http://schemas.openxmlformats.org/drawingml/2006/main">
              <a:srgbClr val="6B7280"/>
            </a:solidFill>
          </c:spPr>
          <c:cat>
            <c:strLit>
              <c:ptCount val="1"/>
              <c:pt idx="0">
                <c:v/>
              </c:pt>
            </c:strLit>
          </c:cat>
          <c:val>
            <c:numLit>
              <c:formatCode>0.0"%"</c:formatCode>
              <c:ptCount val="1"/>
              <c:pt idx="0">
                <c:v>47.6</c:v>
              </c:pt>
            </c:numLit>
          </c:val>
        </c:ser>
        <c:ser>
          <c:idx val="2"/>
          <c:order val="2"/>
          <c:tx>
            <c:v>CNN＋RANSAC</c:v>
          </c:tx>
          <c:spPr>
            <a:solidFill xmlns:a="http://schemas.openxmlformats.org/drawingml/2006/main">
              <a:srgbClr val="2563EB"/>
            </a:solidFill>
          </c:spPr>
          <c:cat>
            <c:strLit>
              <c:ptCount val="1"/>
              <c:pt idx="0">
                <c:v/>
              </c:pt>
            </c:strLit>
          </c:cat>
          <c:val>
            <c:numLit>
              <c:formatCode>0.0"%"</c:formatCode>
              <c:ptCount val="1"/>
              <c:pt idx="0">
                <c:v>74.5</c:v>
              </c:pt>
            </c:numLit>
          </c:val>
        </c:ser>
        <c:dLbls>
          <c:txPr>
            <a:bodyPr xmlns:a="http://schemas.openxmlformats.org/drawingml/2006/main" anchorCtr="1"/>
            <a:lstStyle xmlns:a="http://schemas.openxmlformats.org/drawingml/2006/main"/>
            <a:p xmlns:a="http://schemas.openxmlformats.org/drawingml/2006/main">
              <a:pPr>
                <a:defRPr sz="975" b="1">
                  <a:solidFill>
                    <a:srgbClr val="11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tickLblPos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lblAlgn val="ctr"/>
        <c:lblOffset val="100"/>
        <c:noMultiLvlLbl val="0"/>
      </c:catAx>
      <c:valAx>
        <c:axId val="48672768"/>
        <c:scaling>
          <c:orientation val="minMax"/>
          <c:max val="100"/>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975">
                    <a:solidFill>
                      <a:srgbClr val="374151"/>
                    </a:solidFill>
                  </a:rPr>
                  <a:t>成功率（%）</a:t>
                </a:r>
              </a:p>
            </c:rich>
          </c:tx>
          <c:txPr>
            <a:bodyPr xmlns:a="http://schemas.openxmlformats.org/drawingml/2006/main" anchorCtr="1"/>
            <a:lstStyle xmlns:a="http://schemas.openxmlformats.org/drawingml/2006/main"/>
            <a:p xmlns:a="http://schemas.openxmlformats.org/drawingml/2006/main">
              <a:pPr>
                <a:defRPr sz="975">
                  <a:solidFill>
                    <a:srgbClr val="374151"/>
                  </a:solidFill>
                </a:defRPr>
              </a:pPr>
            </a:p>
          </c:txPr>
        </c:title>
        <c:numFmt formatCode="0&quot;%&quot;"/>
        <c:majorTickMark val="none"/>
        <c:minorTickMark val="none"/>
        <c:spPr>
          <a:ln xmlns:a="http://schemas.openxmlformats.org/drawingml/2006/main" w="9525">
            <a:solidFill>
              <a:srgbClr val="9CA3AF"/>
            </a:solidFill>
            <a:prstDash val="solid"/>
          </a:ln>
        </c:spPr>
        <c:txPr>
          <a:bodyPr xmlns:a="http://schemas.openxmlformats.org/drawingml/2006/main" anchorCtr="1"/>
          <a:lstStyle xmlns:a="http://schemas.openxmlformats.org/drawingml/2006/main"/>
          <a:p xmlns:a="http://schemas.openxmlformats.org/drawingml/2006/main">
            <a:pPr>
              <a:defRPr sz="900">
                <a:solidFill>
                  <a:srgbClr val="4B5563"/>
                </a:solidFill>
              </a:defRPr>
            </a:pPr>
          </a:p>
        </c:txPr>
        <c:crossAx val="48650112"/>
        <c:crossBetween val="between"/>
        <c:majorUnit val="20"/>
      </c:valAx>
      <c:spPr>
        <a:solidFill xmlns:a="http://schemas.openxmlformats.org/drawingml/2006/main">
          <a:srgbClr val="FFFFFF"/>
        </a:solidFill>
        <a:ln xmlns:a="http://schemas.openxmlformats.org/drawingml/2006/main" w="0">
          <a:solidFill>
            <a:srgbClr val="FFFFFF"/>
          </a:solid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825">
              <a:solidFill>
                <a:srgbClr val="374151"/>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F06F4B5D-E5B3-38E8-A386-ABD099CC00CB}"/>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F59DEA71-F78D-DBCD-26FA-C9635AFFCF27}"/>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 name="タイトル 1">
            <a:extLst xmlns:a="http://schemas.openxmlformats.org/drawingml/2006/main">
              <a:ext uri="{FF2B5EF4-FFF2-40B4-BE49-F238E27FC236}">
                <a16:creationId xmlns:a16="http://schemas.microsoft.com/office/drawing/2014/main" id="{E014AA2A-C8D3-5B2D-ADBD-641918D5BB83}"/>
              </a:ext>
            </a:extLst>
          </p:cNvPr>
          <p:cNvSpPr>
            <a:spLocks xmlns:a="http://schemas.openxmlformats.org/drawingml/2006/main" noGrp="1"/>
          </p:cNvSpPr>
          <p:nvPr>
            <p:ph type="ctrTitle" idx="0"/>
          </p:nvPr>
        </p:nvSpPr>
        <p:spPr>
          <a:xfrm xmlns:a="http://schemas.openxmlformats.org/drawingml/2006/main">
            <a:off x="1066800" y="945765"/>
            <a:ext cx="10058400" cy="2348042"/>
          </a:xfrm>
        </p:spPr>
        <p:txBody>
          <a:bodyPr xmlns:a="http://schemas.openxmlformats.org/drawingml/2006/main">
            <a:normAutofit fontScale="100000"/>
          </a:bodyPr>
          <a:lstStyle xmlns:a="http://schemas.openxmlformats.org/drawingml/2006/main"/>
          <a:p xmlns:a="http://schemas.openxmlformats.org/drawingml/2006/main">
            <a:pPr algn="ctr">
              <a:buNone/>
            </a:pPr>
            <a:r>
              <a:rPr sz="5400">
                <a:latin typeface="ＭＳ ゴシック"/>
                <a:ea typeface="ＭＳ ゴシック"/>
                <a:cs typeface="ＭＳ ゴシック"/>
              </a:rPr>
              <a:t>第4回　カメラ班ミーティング</a:t>
            </a:r>
          </a:p>
        </p:txBody>
      </p:sp>
      <p:sp>
        <p:nvSpPr>
          <p:cNvPr id="3" name="字幕 2">
            <a:extLst xmlns:a="http://schemas.openxmlformats.org/drawingml/2006/main">
              <a:ext uri="{FF2B5EF4-FFF2-40B4-BE49-F238E27FC236}">
                <a16:creationId xmlns:a16="http://schemas.microsoft.com/office/drawing/2014/main" id="{74AE6774-3390-7CC7-6300-BA2FE1AF7293}"/>
              </a:ext>
            </a:extLst>
          </p:cNvPr>
          <p:cNvSpPr>
            <a:spLocks xmlns:a="http://schemas.openxmlformats.org/drawingml/2006/main" noGrp="1"/>
          </p:cNvSpPr>
          <p:nvPr>
            <p:ph type="subTitle" idx="1"/>
          </p:nvPr>
        </p:nvSpPr>
        <p:spPr>
          <a:xfrm xmlns:a="http://schemas.openxmlformats.org/drawingml/2006/main">
            <a:off x="1459887" y="4442737"/>
            <a:ext cx="10058400" cy="1143000"/>
          </a:xfrm>
        </p:spPr>
        <p:txBody>
          <a:bodyPr xmlns:a="http://schemas.openxmlformats.org/drawingml/2006/main"/>
          <a:lstStyle xmlns:a="http://schemas.openxmlformats.org/drawingml/2006/main"/>
          <a:p xmlns:a="http://schemas.openxmlformats.org/drawingml/2006/main">
            <a:pPr algn="l">
              <a:buNone/>
            </a:pPr>
            <a:r>
              <a:rPr>
                <a:solidFill>
                  <a:schemeClr val="tx1"/>
                </a:solidFill>
                <a:latin typeface="ＭＳ ゴシック"/>
                <a:ea typeface="ＭＳ ゴシック"/>
                <a:cs typeface="ＭＳ ゴシック"/>
              </a:rPr>
              <a:t>2026年7月31日</a:t>
            </a:r>
          </a:p>
          <a:p xmlns:a="http://schemas.openxmlformats.org/drawingml/2006/main">
            <a:pPr algn="l">
              <a:buNone/>
            </a:pPr>
            <a:r>
              <a:rPr>
                <a:solidFill>
                  <a:schemeClr val="tx1"/>
                </a:solidFill>
                <a:latin typeface="ＭＳ ゴシック"/>
                <a:ea typeface="ＭＳ ゴシック"/>
                <a:cs typeface="ＭＳ ゴシック"/>
              </a:rPr>
              <a:t>B4　伊藤弘道</a:t>
            </a:r>
          </a:p>
        </p:txBody>
      </p:sp>
    </p:spTree>
    <p:extLst>
      <p:ext uri="{BB962C8B-B14F-4D97-AF65-F5344CB8AC3E}">
        <p14:creationId xmlns:p14="http://schemas.microsoft.com/office/powerpoint/2010/main" val="419818497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3D39671C-5506-F240-41C6-8492CDC2ACD8}"/>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FA798665-1515-87D0-B600-99A944F5BB5E}"/>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テキスト ボックス 8">
            <a:extLst xmlns:a="http://schemas.openxmlformats.org/drawingml/2006/main">
              <a:ext uri="{FF2B5EF4-FFF2-40B4-BE49-F238E27FC236}">
                <a16:creationId xmlns:a16="http://schemas.microsoft.com/office/drawing/2014/main" id="{52E16C84-89CD-97CC-94FE-C55CC376D94B}"/>
              </a:ext>
            </a:extLst>
          </p:cNvPr>
          <p:cNvSpPr>
            <a:spLocks xmlns:a="http://schemas.openxmlformats.org/drawingml/2006/main" noGrp="1"/>
          </p:cNvSpPr>
          <p:nvPr/>
        </p:nvSpPr>
        <p:spPr>
          <a:xfrm xmlns:a="http://schemas.openxmlformats.org/drawingml/2006/main">
            <a:off x="476250" y="2274856"/>
            <a:ext cx="11239500" cy="3108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600"/>
              <a:t>Real-Time Docking Ring Detection Based on the</a:t>
            </a:r>
          </a:p>
          <a:p xmlns:a="http://schemas.openxmlformats.org/drawingml/2006/main">
            <a:pPr algn="ctr">
              <a:buNone/>
            </a:pPr>
            <a:r>
              <a:rPr sz="3600"/>
              <a:t>Geometrical Shape for an On-Orbit Spacecraft</a:t>
            </a:r>
          </a:p>
          <a:p xmlns:a="http://schemas.openxmlformats.org/drawingml/2006/main">
            <a:pPr algn="ctr">
              <a:buNone/>
            </a:pPr>
            <a:r>
              <a:t/>
            </a:r>
          </a:p>
          <a:p xmlns:a="http://schemas.openxmlformats.org/drawingml/2006/main">
            <a:pPr algn="ctr">
              <a:buNone/>
            </a:pPr>
            <a:r>
              <a:rPr sz="3600">
                <a:latin typeface="ＭＳ ゴシック"/>
                <a:ea typeface="ＭＳ ゴシック"/>
                <a:cs typeface="ＭＳ ゴシック"/>
              </a:rPr>
              <a:t>Zhang, Pan, Ma／Sensors 2019</a:t>
            </a:r>
          </a:p>
          <a:p xmlns:a="http://schemas.openxmlformats.org/drawingml/2006/main">
            <a:pPr algn="ctr">
              <a:buNone/>
            </a:pPr>
            <a:r>
              <a:rPr sz="3600">
                <a:latin typeface="ＭＳ ゴシック"/>
                <a:ea typeface="ＭＳ ゴシック"/>
                <a:cs typeface="ＭＳ ゴシック"/>
              </a:rPr>
              <a:t>DOI: 10.3390/s19235243</a:t>
            </a:r>
          </a:p>
        </p:txBody>
      </p:sp>
    </p:spTree>
    <p:extLst>
      <p:ext uri="{BB962C8B-B14F-4D97-AF65-F5344CB8AC3E}">
        <p14:creationId xmlns:p14="http://schemas.microsoft.com/office/powerpoint/2010/main" val="123147192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2D3E9BDD-6A74-5038-1C1A-F49765030CB0}"/>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CF9C13EB-857C-EC59-BDFA-3D2E3FDBD68E}"/>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テキスト ボックス 6">
            <a:extLst xmlns:a="http://schemas.openxmlformats.org/drawingml/2006/main">
              <a:ext uri="{FF2B5EF4-FFF2-40B4-BE49-F238E27FC236}">
                <a16:creationId xmlns:a16="http://schemas.microsoft.com/office/drawing/2014/main" id="{3C4926D2-C1B0-5EE4-E5D1-58AAA440A040}"/>
              </a:ext>
            </a:extLst>
          </p:cNvPr>
          <p:cNvSpPr>
            <a:spLocks xmlns:a="http://schemas.openxmlformats.org/drawingml/2006/main" noGrp="1"/>
          </p:cNvSpPr>
          <p:nvPr/>
        </p:nvSpPr>
        <p:spPr>
          <a:xfrm xmlns:a="http://schemas.openxmlformats.org/drawingml/2006/main">
            <a:off x="249365" y="581882"/>
            <a:ext cx="11239500" cy="5847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a:t>元論文はドッキングリング内周を3段階で検出</a:t>
            </a:r>
          </a:p>
        </p:txBody>
      </p:sp>
      <p:sp>
        <p:nvSpPr>
          <p:cNvPr id="8" name="テキスト ボックス 1">
            <a:extLst xmlns:a="http://schemas.openxmlformats.org/drawingml/2006/main">
              <a:ext uri="{FF2B5EF4-FFF2-40B4-BE49-F238E27FC236}">
                <a16:creationId xmlns:a16="http://schemas.microsoft.com/office/drawing/2014/main" id="{7DA67508-8B7B-5EBD-17AE-8004BD032324}"/>
              </a:ext>
            </a:extLst>
          </p:cNvPr>
          <p:cNvSpPr>
            <a:spLocks xmlns:a="http://schemas.openxmlformats.org/drawingml/2006/main" noGrp="1"/>
          </p:cNvSpPr>
          <p:nvPr/>
        </p:nvSpPr>
        <p:spPr>
          <a:xfrm xmlns:a="http://schemas.openxmlformats.org/drawingml/2006/main">
            <a:off x="666750" y="1638300"/>
            <a:ext cx="10572750" cy="40005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a:latin typeface="Yu Gothic"/>
                <a:ea typeface="Yu Gothic"/>
                <a:cs typeface="Yu Gothic"/>
              </a:defRPr>
            </a:pPr>
            <a:r>
              <a:rPr sz="2000">
                <a:latin typeface="Yu Gothic"/>
                <a:ea typeface="Yu Gothic"/>
                <a:cs typeface="Yu Gothic"/>
              </a:rPr>
              <a:t>【目的】</a:t>
            </a:r>
          </a:p>
          <a:p xmlns:a="http://schemas.openxmlformats.org/drawingml/2006/main">
            <a:pPr>
              <a:buNone/>
              <a:defRPr>
                <a:latin typeface="Yu Gothic"/>
                <a:ea typeface="Yu Gothic"/>
                <a:cs typeface="Yu Gothic"/>
              </a:defRPr>
            </a:pPr>
            <a:r>
              <a:rPr sz="2000">
                <a:latin typeface="Yu Gothic"/>
                <a:ea typeface="Yu Gothic"/>
                <a:cs typeface="Yu Gothic"/>
              </a:rPr>
              <a:t>宇宙機画像から、ドッキングリング内周の楕円パラメータを高速に求める</a:t>
            </a:r>
          </a:p>
          <a:p xmlns:a="http://schemas.openxmlformats.org/drawingml/2006/main">
            <a:pPr>
              <a:buNone/>
              <a:defRPr>
                <a:latin typeface="Yu Gothic"/>
                <a:ea typeface="Yu Gothic"/>
                <a:cs typeface="Yu Gothic"/>
              </a:defRPr>
            </a:pPr>
            <a:r>
              <a:rPr sz="2000">
                <a:latin typeface="Yu Gothic"/>
                <a:ea typeface="Yu Gothic"/>
                <a:cs typeface="Yu Gothic"/>
              </a:rPr>
              <a:t/>
            </a:r>
          </a:p>
          <a:p xmlns:a="http://schemas.openxmlformats.org/drawingml/2006/main">
            <a:pPr>
              <a:buNone/>
              <a:defRPr>
                <a:latin typeface="Yu Gothic"/>
                <a:ea typeface="Yu Gothic"/>
                <a:cs typeface="Yu Gothic"/>
              </a:defRPr>
            </a:pPr>
            <a:r>
              <a:rPr sz="2000">
                <a:latin typeface="Yu Gothic"/>
                <a:ea typeface="Yu Gothic"/>
                <a:cs typeface="Yu Gothic"/>
              </a:rPr>
              <a:t>【処理】</a:t>
            </a:r>
          </a:p>
          <a:p xmlns:a="http://schemas.openxmlformats.org/drawingml/2006/main">
            <a:pPr>
              <a:buNone/>
              <a:defRPr>
                <a:latin typeface="Yu Gothic"/>
                <a:ea typeface="Yu Gothic"/>
                <a:cs typeface="Yu Gothic"/>
              </a:defRPr>
            </a:pPr>
            <a:r>
              <a:rPr sz="2000">
                <a:latin typeface="Yu Gothic"/>
                <a:ea typeface="Yu Gothic"/>
                <a:cs typeface="Yu Gothic"/>
              </a:rPr>
              <a:t>① Cannyエッジから弧を抽出し、勾配方向と凸性で4象限に分類</a:t>
            </a:r>
          </a:p>
          <a:p xmlns:a="http://schemas.openxmlformats.org/drawingml/2006/main">
            <a:pPr>
              <a:buNone/>
              <a:defRPr>
                <a:latin typeface="Yu Gothic"/>
                <a:ea typeface="Yu Gothic"/>
                <a:cs typeface="Yu Gothic"/>
              </a:defRPr>
            </a:pPr>
            <a:r>
              <a:rPr sz="2000">
                <a:latin typeface="Yu Gothic"/>
                <a:ea typeface="Yu Gothic"/>
                <a:cs typeface="Yu Gothic"/>
              </a:rPr>
              <a:t>② 位置・接線・中心の幾何制約を満たす三弧を同一楕円として統合</a:t>
            </a:r>
          </a:p>
          <a:p xmlns:a="http://schemas.openxmlformats.org/drawingml/2006/main">
            <a:pPr>
              <a:buNone/>
              <a:defRPr>
                <a:latin typeface="Yu Gothic"/>
                <a:ea typeface="Yu Gothic"/>
                <a:cs typeface="Yu Gothic"/>
              </a:defRPr>
            </a:pPr>
            <a:r>
              <a:rPr sz="2000">
                <a:latin typeface="Yu Gothic"/>
                <a:ea typeface="Yu Gothic"/>
                <a:cs typeface="Yu Gothic"/>
              </a:rPr>
              <a:t>③ 最小二乗で楕円を推定し、弧点との適合度で候補を検証</a:t>
            </a:r>
          </a:p>
          <a:p xmlns:a="http://schemas.openxmlformats.org/drawingml/2006/main">
            <a:pPr>
              <a:buNone/>
              <a:defRPr>
                <a:latin typeface="Yu Gothic"/>
                <a:ea typeface="Yu Gothic"/>
                <a:cs typeface="Yu Gothic"/>
              </a:defRPr>
            </a:pPr>
            <a:r>
              <a:t/>
            </a:r>
          </a:p>
          <a:p xmlns:a="http://schemas.openxmlformats.org/drawingml/2006/main">
            <a:pPr>
              <a:buNone/>
              <a:defRPr>
                <a:latin typeface="Yu Gothic"/>
                <a:ea typeface="Yu Gothic"/>
                <a:cs typeface="Yu Gothic"/>
              </a:defRPr>
            </a:pPr>
            <a:r>
              <a:rPr sz="2000">
                <a:latin typeface="Yu Gothic"/>
                <a:ea typeface="Yu Gothic"/>
                <a:cs typeface="Yu Gothic"/>
              </a:rPr>
              <a:t>【論文中の評価】</a:t>
            </a:r>
          </a:p>
          <a:p xmlns:a="http://schemas.openxmlformats.org/drawingml/2006/main">
            <a:pPr>
              <a:buNone/>
              <a:defRPr>
                <a:latin typeface="Yu Gothic"/>
                <a:ea typeface="Yu Gothic"/>
                <a:cs typeface="Yu Gothic"/>
              </a:defRPr>
            </a:pPr>
            <a:r>
              <a:rPr sz="2000">
                <a:latin typeface="Yu Gothic"/>
                <a:ea typeface="Yu Gothic"/>
                <a:cs typeface="Yu Gothic"/>
              </a:rPr>
              <a:t>実画像31枚で検出性能を比較し、平均処理時間27.38 msを報告</a:t>
            </a:r>
          </a:p>
        </p:txBody>
      </p:sp>
    </p:spTree>
    <p:extLst>
      <p:ext uri="{BB962C8B-B14F-4D97-AF65-F5344CB8AC3E}">
        <p14:creationId xmlns:p14="http://schemas.microsoft.com/office/powerpoint/2010/main" val="299235170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2D3E9BDD-6A74-5038-1C1A-F49765030CB0}"/>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CF9C13EB-857C-EC59-BDFA-3D2E3FDBD68E}"/>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テキスト ボックス 6">
            <a:extLst xmlns:a="http://schemas.openxmlformats.org/drawingml/2006/main">
              <a:ext uri="{FF2B5EF4-FFF2-40B4-BE49-F238E27FC236}">
                <a16:creationId xmlns:a16="http://schemas.microsoft.com/office/drawing/2014/main" id="{3C4926D2-C1B0-5EE4-E5D1-58AAA440A040}"/>
              </a:ext>
            </a:extLst>
          </p:cNvPr>
          <p:cNvSpPr>
            <a:spLocks xmlns:a="http://schemas.openxmlformats.org/drawingml/2006/main" noGrp="1"/>
          </p:cNvSpPr>
          <p:nvPr/>
        </p:nvSpPr>
        <p:spPr>
          <a:xfrm xmlns:a="http://schemas.openxmlformats.org/drawingml/2006/main">
            <a:off x="249365" y="581882"/>
            <a:ext cx="11239500" cy="5847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a:t>① 勾配方向と凸性で楕円らしい円弧だけを残す</a:t>
            </a:r>
          </a:p>
        </p:txBody>
      </p:sp>
      <p:sp>
        <p:nvSpPr>
          <p:cNvPr id="8" name="テキスト ボックス 1">
            <a:extLst xmlns:a="http://schemas.openxmlformats.org/drawingml/2006/main">
              <a:ext uri="{FF2B5EF4-FFF2-40B4-BE49-F238E27FC236}">
                <a16:creationId xmlns:a16="http://schemas.microsoft.com/office/drawing/2014/main" id="{7DA67508-8B7B-5EBD-17AE-8004BD032324}"/>
              </a:ext>
            </a:extLst>
          </p:cNvPr>
          <p:cNvSpPr>
            <a:spLocks xmlns:a="http://schemas.openxmlformats.org/drawingml/2006/main" noGrp="1"/>
          </p:cNvSpPr>
          <p:nvPr/>
        </p:nvSpPr>
        <p:spPr>
          <a:xfrm xmlns:a="http://schemas.openxmlformats.org/drawingml/2006/main">
            <a:off x="666750" y="1638300"/>
            <a:ext cx="10572750" cy="40005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まずCanny法でエッジ点を抽出する。</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各点 eᵢ のSobel勾配を </a:t>
            </a:r>
            <a:r>
              <a:rPr sz="2000" b="1">
                <a:solidFill>
                  <a:schemeClr val="tx1"/>
                </a:solidFill>
                <a:latin typeface="Yu Gothic"/>
                <a:ea typeface="Yu Gothic"/>
                <a:cs typeface="Yu Gothic"/>
              </a:rPr>
              <a:t>(dₓ, dᵧ)</a:t>
            </a:r>
            <a:r>
              <a:rPr sz="2000">
                <a:solidFill>
                  <a:schemeClr val="tx1"/>
                </a:solidFill>
                <a:latin typeface="Yu Gothic"/>
                <a:ea typeface="Yu Gothic"/>
                <a:cs typeface="Yu Gothic"/>
              </a:rPr>
              <a:t> とし、符号で4方向に分類する。</a:t>
            </a:r>
          </a:p>
          <a:p xmlns:a="http://schemas.openxmlformats.org/drawingml/2006/main">
            <a:pPr>
              <a:buNone/>
              <a:defRPr>
                <a:latin typeface="Yu Gothic"/>
                <a:ea typeface="Yu Gothic"/>
                <a:cs typeface="Yu Gothic"/>
              </a:defRPr>
            </a:pPr>
            <a:r>
              <a:rPr sz="2000">
                <a:latin typeface="Yu Gothic"/>
                <a:ea typeface="Yu Gothic"/>
                <a:cs typeface="Yu Gothic"/>
              </a:rPr>
              <a:t/>
            </a:r>
          </a:p>
          <a:p xmlns:a="http://schemas.openxmlformats.org/drawingml/2006/main">
            <a:pPr algn="l">
              <a:buNone/>
              <a:defRPr sz="2000">
                <a:solidFill>
                  <a:schemeClr val="tx1"/>
                </a:solidFill>
                <a:latin typeface="Yu Gothic"/>
                <a:ea typeface="Yu Gothic"/>
                <a:cs typeface="Yu Gothic"/>
              </a:defRPr>
            </a:pPr>
            <a:r>
              <a:rPr sz="2000" b="1">
                <a:solidFill>
                  <a:schemeClr val="tx1"/>
                </a:solidFill>
                <a:latin typeface="Yu Gothic"/>
                <a:ea typeface="Yu Gothic"/>
                <a:cs typeface="Yu Gothic"/>
              </a:rPr>
              <a:t>D(eᵢ) = {</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　Ⅰ　dₓ &gt; 0,  dᵧ &gt; 0</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　Ⅱ　dₓ &lt; 0,  dᵧ &gt; 0</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　Ⅲ　dₓ &lt; 0,  dᵧ &lt; 0</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　Ⅳ　dₓ &gt; 0,  dᵧ &lt; 0</a:t>
            </a:r>
          </a:p>
          <a:p xmlns:a="http://schemas.openxmlformats.org/drawingml/2006/main">
            <a:pPr>
              <a:buNone/>
              <a:defRPr>
                <a:latin typeface="Yu Gothic"/>
                <a:ea typeface="Yu Gothic"/>
                <a:cs typeface="Yu Gothic"/>
              </a:defRPr>
            </a:pPr>
            <a:r>
              <a:rPr sz="2000">
                <a:latin typeface="Yu Gothic"/>
                <a:ea typeface="Yu Gothic"/>
                <a:cs typeface="Yu Gothic"/>
              </a:rPr>
              <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同じ分類の8近傍点を連結して円弧にし、短すぎるものを除外する。</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さらに弦に対する膨らみ方から凸・凹を判定し、</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楕円境界の上下左右と矛盾する円弧を除く。</a:t>
            </a:r>
          </a:p>
        </p:txBody>
      </p:sp>
    </p:spTree>
    <p:extLst>
      <p:ext uri="{BB962C8B-B14F-4D97-AF65-F5344CB8AC3E}">
        <p14:creationId xmlns:p14="http://schemas.microsoft.com/office/powerpoint/2010/main" val="299235170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2D3E9BDD-6A74-5038-1C1A-F49765030CB0}"/>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CF9C13EB-857C-EC59-BDFA-3D2E3FDBD68E}"/>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テキスト ボックス 6">
            <a:extLst xmlns:a="http://schemas.openxmlformats.org/drawingml/2006/main">
              <a:ext uri="{FF2B5EF4-FFF2-40B4-BE49-F238E27FC236}">
                <a16:creationId xmlns:a16="http://schemas.microsoft.com/office/drawing/2014/main" id="{3C4926D2-C1B0-5EE4-E5D1-58AAA440A040}"/>
              </a:ext>
            </a:extLst>
          </p:cNvPr>
          <p:cNvSpPr>
            <a:spLocks xmlns:a="http://schemas.openxmlformats.org/drawingml/2006/main" noGrp="1"/>
          </p:cNvSpPr>
          <p:nvPr/>
        </p:nvSpPr>
        <p:spPr>
          <a:xfrm xmlns:a="http://schemas.openxmlformats.org/drawingml/2006/main">
            <a:off x="249365" y="581882"/>
            <a:ext cx="11239500" cy="5847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a:t>② 幾何制約を満たす3円弧を1つの楕円にまとめる</a:t>
            </a:r>
          </a:p>
        </p:txBody>
      </p:sp>
      <p:sp>
        <p:nvSpPr>
          <p:cNvPr id="8" name="テキスト ボックス 1">
            <a:extLst xmlns:a="http://schemas.openxmlformats.org/drawingml/2006/main">
              <a:ext uri="{FF2B5EF4-FFF2-40B4-BE49-F238E27FC236}">
                <a16:creationId xmlns:a16="http://schemas.microsoft.com/office/drawing/2014/main" id="{7DA67508-8B7B-5EBD-17AE-8004BD032324}"/>
              </a:ext>
            </a:extLst>
          </p:cNvPr>
          <p:cNvSpPr>
            <a:spLocks xmlns:a="http://schemas.openxmlformats.org/drawingml/2006/main" noGrp="1"/>
          </p:cNvSpPr>
          <p:nvPr/>
        </p:nvSpPr>
        <p:spPr>
          <a:xfrm xmlns:a="http://schemas.openxmlformats.org/drawingml/2006/main">
            <a:off x="666750" y="1638300"/>
            <a:ext cx="10572750" cy="40233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遮蔽やノイズで輪郭が切れても、完全な4円弧は要求しない。</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隣接する3領域の円弧を、次の条件で絞り込む。</a:t>
            </a:r>
          </a:p>
          <a:p xmlns:a="http://schemas.openxmlformats.org/drawingml/2006/main">
            <a:pPr>
              <a:buNone/>
              <a:defRPr>
                <a:latin typeface="Yu Gothic"/>
                <a:ea typeface="Yu Gothic"/>
                <a:cs typeface="Yu Gothic"/>
              </a:defRPr>
            </a:pPr>
            <a:r>
              <a:rPr sz="2000">
                <a:latin typeface="Yu Gothic"/>
                <a:ea typeface="Yu Gothic"/>
                <a:cs typeface="Yu Gothic"/>
              </a:rPr>
              <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・隣接する勾配領域に属する</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・端点の位置が楕円の並びと矛盾しない</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・端点の接線に対し、相手円弧が楕円の内側にある</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・各円弧から推定した中心が互いに近い</a:t>
            </a:r>
          </a:p>
          <a:p xmlns:a="http://schemas.openxmlformats.org/drawingml/2006/main">
            <a:pPr>
              <a:buNone/>
              <a:defRPr>
                <a:latin typeface="Yu Gothic"/>
                <a:ea typeface="Yu Gothic"/>
                <a:cs typeface="Yu Gothic"/>
              </a:defRPr>
            </a:pPr>
            <a:r>
              <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条件を通った3円弧の全点を、一般二次曲線</a:t>
            </a:r>
          </a:p>
          <a:p xmlns:a="http://schemas.openxmlformats.org/drawingml/2006/main">
            <a:pPr>
              <a:buNone/>
              <a:defRPr>
                <a:latin typeface="Yu Gothic"/>
                <a:ea typeface="Yu Gothic"/>
                <a:cs typeface="Yu Gothic"/>
              </a:defRPr>
            </a:pPr>
            <a:r>
              <a:rPr sz="2000">
                <a:latin typeface="Yu Gothic"/>
                <a:ea typeface="Yu Gothic"/>
                <a:cs typeface="Yu Gothic"/>
              </a:rPr>
              <a:t/>
            </a:r>
          </a:p>
          <a:p xmlns:a="http://schemas.openxmlformats.org/drawingml/2006/main">
            <a:pPr algn="l">
              <a:buNone/>
              <a:defRPr sz="2000">
                <a:solidFill>
                  <a:schemeClr val="tx1"/>
                </a:solidFill>
                <a:latin typeface="Yu Gothic"/>
                <a:ea typeface="Yu Gothic"/>
                <a:cs typeface="Yu Gothic"/>
              </a:defRPr>
            </a:pPr>
            <a:r>
              <a:rPr sz="2000" b="1">
                <a:solidFill>
                  <a:schemeClr val="tx1"/>
                </a:solidFill>
                <a:latin typeface="Yu Gothic"/>
                <a:ea typeface="Yu Gothic"/>
                <a:cs typeface="Yu Gothic"/>
              </a:rPr>
              <a:t>Ax² + By² + Cxy + Dx + Ey + F = 0</a:t>
            </a:r>
          </a:p>
          <a:p xmlns:a="http://schemas.openxmlformats.org/drawingml/2006/main">
            <a:pPr>
              <a:buNone/>
              <a:defRPr>
                <a:latin typeface="Yu Gothic"/>
                <a:ea typeface="Yu Gothic"/>
                <a:cs typeface="Yu Gothic"/>
              </a:defRPr>
            </a:pPr>
            <a:r>
              <a:rPr sz="2000">
                <a:latin typeface="Yu Gothic"/>
                <a:ea typeface="Yu Gothic"/>
                <a:cs typeface="Yu Gothic"/>
              </a:rPr>
              <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に最小二乗で当てはめ、楕円の中心・回転角・長短軸を求める。</a:t>
            </a:r>
          </a:p>
        </p:txBody>
      </p:sp>
    </p:spTree>
    <p:extLst>
      <p:ext uri="{BB962C8B-B14F-4D97-AF65-F5344CB8AC3E}">
        <p14:creationId xmlns:p14="http://schemas.microsoft.com/office/powerpoint/2010/main" val="299235170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2D3E9BDD-6A74-5038-1C1A-F49765030CB0}"/>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CF9C13EB-857C-EC59-BDFA-3D2E3FDBD68E}"/>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テキスト ボックス 6">
            <a:extLst xmlns:a="http://schemas.openxmlformats.org/drawingml/2006/main">
              <a:ext uri="{FF2B5EF4-FFF2-40B4-BE49-F238E27FC236}">
                <a16:creationId xmlns:a16="http://schemas.microsoft.com/office/drawing/2014/main" id="{3C4926D2-C1B0-5EE4-E5D1-58AAA440A040}"/>
              </a:ext>
            </a:extLst>
          </p:cNvPr>
          <p:cNvSpPr>
            <a:spLocks xmlns:a="http://schemas.openxmlformats.org/drawingml/2006/main" noGrp="1"/>
          </p:cNvSpPr>
          <p:nvPr/>
        </p:nvSpPr>
        <p:spPr>
          <a:xfrm xmlns:a="http://schemas.openxmlformats.org/drawingml/2006/main">
            <a:off x="249365" y="581882"/>
            <a:ext cx="11239500" cy="5847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a:t>③ 弧点との一致度が高い楕円候補だけを残す</a:t>
            </a:r>
          </a:p>
        </p:txBody>
      </p:sp>
      <p:sp>
        <p:nvSpPr>
          <p:cNvPr id="8" name="テキスト ボックス 1">
            <a:extLst xmlns:a="http://schemas.openxmlformats.org/drawingml/2006/main">
              <a:ext uri="{FF2B5EF4-FFF2-40B4-BE49-F238E27FC236}">
                <a16:creationId xmlns:a16="http://schemas.microsoft.com/office/drawing/2014/main" id="{7DA67508-8B7B-5EBD-17AE-8004BD032324}"/>
              </a:ext>
            </a:extLst>
          </p:cNvPr>
          <p:cNvSpPr>
            <a:spLocks xmlns:a="http://schemas.openxmlformats.org/drawingml/2006/main" noGrp="1"/>
          </p:cNvSpPr>
          <p:nvPr/>
        </p:nvSpPr>
        <p:spPr>
          <a:xfrm xmlns:a="http://schemas.openxmlformats.org/drawingml/2006/main">
            <a:off x="666750" y="1638300"/>
            <a:ext cx="10572750" cy="40005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最小二乗だけでは、背景輪郭にも楕円が当てはまる可能性がある。</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そこで候補楕円と、統合に使った3円弧の一致を確認する。</a:t>
            </a:r>
          </a:p>
          <a:p xmlns:a="http://schemas.openxmlformats.org/drawingml/2006/main">
            <a:pPr>
              <a:buNone/>
              <a:defRPr>
                <a:latin typeface="Yu Gothic"/>
                <a:ea typeface="Yu Gothic"/>
                <a:cs typeface="Yu Gothic"/>
              </a:defRPr>
            </a:pPr>
            <a:r>
              <a:rPr sz="2000">
                <a:latin typeface="Yu Gothic"/>
                <a:ea typeface="Yu Gothic"/>
                <a:cs typeface="Yu Gothic"/>
              </a:rPr>
              <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・各弧点から楕円中心へ向かう直線と、楕円境界の交点を求める</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・弧点と交点が近ければ「適合点」と数える</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・3円弧全体に対する適合点の割合を一致度 s とする</a:t>
            </a:r>
          </a:p>
          <a:p xmlns:a="http://schemas.openxmlformats.org/drawingml/2006/main">
            <a:pPr>
              <a:buNone/>
              <a:defRPr>
                <a:latin typeface="Yu Gothic"/>
                <a:ea typeface="Yu Gothic"/>
                <a:cs typeface="Yu Gothic"/>
              </a:defRPr>
            </a:pPr>
            <a:r>
              <a:rPr sz="2000">
                <a:latin typeface="Yu Gothic"/>
                <a:ea typeface="Yu Gothic"/>
                <a:cs typeface="Yu Gothic"/>
              </a:rPr>
              <a:t/>
            </a:r>
          </a:p>
          <a:p xmlns:a="http://schemas.openxmlformats.org/drawingml/2006/main">
            <a:pPr algn="l">
              <a:buNone/>
              <a:defRPr sz="2000">
                <a:solidFill>
                  <a:schemeClr val="tx1"/>
                </a:solidFill>
                <a:latin typeface="Yu Gothic"/>
                <a:ea typeface="Yu Gothic"/>
                <a:cs typeface="Yu Gothic"/>
              </a:defRPr>
            </a:pPr>
            <a:r>
              <a:rPr sz="2000" b="1">
                <a:solidFill>
                  <a:schemeClr val="tx1"/>
                </a:solidFill>
                <a:latin typeface="Yu Gothic"/>
                <a:ea typeface="Yu Gothic"/>
                <a:cs typeface="Yu Gothic"/>
              </a:rPr>
              <a:t>s &gt; Tₛ</a:t>
            </a:r>
          </a:p>
          <a:p xmlns:a="http://schemas.openxmlformats.org/drawingml/2006/main">
            <a:pPr>
              <a:buNone/>
              <a:defRPr>
                <a:latin typeface="Yu Gothic"/>
                <a:ea typeface="Yu Gothic"/>
                <a:cs typeface="Yu Gothic"/>
              </a:defRPr>
            </a:pPr>
            <a:r>
              <a:rPr sz="2000">
                <a:latin typeface="Yu Gothic"/>
                <a:ea typeface="Yu Gothic"/>
                <a:cs typeface="Yu Gothic"/>
              </a:rPr>
              <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を満たす候補だけを残し、ほぼ同じ楕円なら一致度が高い方を採用する。</a:t>
            </a:r>
          </a:p>
          <a:p xmlns:a="http://schemas.openxmlformats.org/drawingml/2006/main">
            <a:pPr algn="l">
              <a:buNone/>
              <a:defRPr sz="2000">
                <a:solidFill>
                  <a:schemeClr val="tx1"/>
                </a:solidFill>
                <a:latin typeface="Yu Gothic"/>
                <a:ea typeface="Yu Gothic"/>
                <a:cs typeface="Yu Gothic"/>
              </a:defRPr>
            </a:pPr>
            <a:r>
              <a:rPr sz="2000">
                <a:solidFill>
                  <a:schemeClr val="tx1"/>
                </a:solidFill>
                <a:latin typeface="Yu Gothic"/>
                <a:ea typeface="Yu Gothic"/>
                <a:cs typeface="Yu Gothic"/>
              </a:rPr>
              <a:t>全周を総当たりせず、円弧分類と幾何制約で候補を絞るのが要点。</a:t>
            </a:r>
          </a:p>
        </p:txBody>
      </p:sp>
    </p:spTree>
    <p:extLst>
      <p:ext uri="{BB962C8B-B14F-4D97-AF65-F5344CB8AC3E}">
        <p14:creationId xmlns:p14="http://schemas.microsoft.com/office/powerpoint/2010/main" val="299235170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CBDF7773-56A6-51E7-FB9D-D81B66C6DF5E}"/>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6AFB57FB-CF07-597E-F409-5133DF0526D5}"/>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テキスト ボックス 6">
            <a:extLst xmlns:a="http://schemas.openxmlformats.org/drawingml/2006/main">
              <a:ext uri="{FF2B5EF4-FFF2-40B4-BE49-F238E27FC236}">
                <a16:creationId xmlns:a16="http://schemas.microsoft.com/office/drawing/2014/main" id="{A915CC3B-E80E-2CB4-2CD1-FB3F1A4CB7B0}"/>
              </a:ext>
            </a:extLst>
          </p:cNvPr>
          <p:cNvSpPr>
            <a:spLocks xmlns:a="http://schemas.openxmlformats.org/drawingml/2006/main" noGrp="1"/>
          </p:cNvSpPr>
          <p:nvPr/>
        </p:nvSpPr>
        <p:spPr>
          <a:xfrm xmlns:a="http://schemas.openxmlformats.org/drawingml/2006/main">
            <a:off x="249365" y="783622"/>
            <a:ext cx="11239500" cy="5847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a:t>三弧統合で分断エッジから内周楕円を復元</a:t>
            </a:r>
          </a:p>
        </p:txBody>
      </p:sp>
      <p:pic>
        <p:nvPicPr>
          <p:cNvPr id="35" name="図 20"/>
          <p:cNvPicPr>
            <a:picLocks xmlns:a="http://schemas.openxmlformats.org/drawingml/2006/main" noChangeAspect="1"/>
          </p:cNvPicPr>
          <p:nvPr/>
        </p:nvPicPr>
        <p:blipFill>
          <a:blip xmlns:r="http://schemas.openxmlformats.org/officeDocument/2006/relationships" xmlns:a="http://schemas.openxmlformats.org/drawingml/2006/main" r:embed="R7f3ef50a70894a65"/>
          <a:srcRect xmlns:a="http://schemas.openxmlformats.org/drawingml/2006/main" l="0" t="0" r="0" b="0"/>
          <a:stretch xmlns:a="http://schemas.openxmlformats.org/drawingml/2006/main">
            <a:fillRect l="0" t="0" r="0" b="0"/>
          </a:stretch>
        </p:blipFill>
        <p:spPr>
          <a:xfrm xmlns:a="http://schemas.openxmlformats.org/drawingml/2006/main" rot="0" flipH="0" flipV="0">
            <a:off x="368710" y="2093522"/>
            <a:ext cx="11454581" cy="2424122"/>
          </a:xfrm>
          <a:prstGeom xmlns:a="http://schemas.openxmlformats.org/drawingml/2006/main" prst="rect">
            <a:avLst/>
          </a:prstGeom>
        </p:spPr>
      </p:pic>
      <p:sp>
        <p:nvSpPr>
          <p:cNvPr id="28" name="テキスト ボックス 27">
            <a:extLst xmlns:a="http://schemas.openxmlformats.org/drawingml/2006/main">
              <a:ext uri="{FF2B5EF4-FFF2-40B4-BE49-F238E27FC236}">
                <a16:creationId xmlns:a16="http://schemas.microsoft.com/office/drawing/2014/main" id="{5F6B5D1C-350B-C163-7F30-62B3CDAB947E}"/>
              </a:ext>
            </a:extLst>
          </p:cNvPr>
          <p:cNvSpPr>
            <a:spLocks xmlns:a="http://schemas.openxmlformats.org/drawingml/2006/main" noGrp="1"/>
          </p:cNvSpPr>
          <p:nvPr/>
        </p:nvSpPr>
        <p:spPr>
          <a:xfrm xmlns:a="http://schemas.openxmlformats.org/drawingml/2006/main">
            <a:off x="3595956" y="1568605"/>
            <a:ext cx="5000087" cy="46166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400"/>
              <a:t>再現実装の中間処理（代表例）</a:t>
            </a:r>
          </a:p>
        </p:txBody>
      </p:sp>
      <p:sp>
        <p:nvSpPr>
          <p:cNvPr id="30" name="テキスト ボックス 1">
            <a:extLst xmlns:a="http://schemas.openxmlformats.org/drawingml/2006/main">
              <a:ext uri="{FF2B5EF4-FFF2-40B4-BE49-F238E27FC236}">
                <a16:creationId xmlns:a16="http://schemas.microsoft.com/office/drawing/2014/main" id="{C7F838DF-5CE1-D6CA-3EF4-EB082EB389A8}"/>
              </a:ext>
            </a:extLst>
          </p:cNvPr>
          <p:cNvSpPr>
            <a:spLocks xmlns:a="http://schemas.openxmlformats.org/drawingml/2006/main" noGrp="1"/>
          </p:cNvSpPr>
          <p:nvPr/>
        </p:nvSpPr>
        <p:spPr>
          <a:xfrm xmlns:a="http://schemas.openxmlformats.org/drawingml/2006/main">
            <a:off x="368710" y="4819816"/>
            <a:ext cx="9119804" cy="707886"/>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a:latin typeface="Yu Gothic"/>
                <a:ea typeface="Yu Gothic"/>
                <a:cs typeface="Yu Gothic"/>
              </a:defRPr>
            </a:pPr>
            <a:r>
              <a:rPr sz="2000">
                <a:latin typeface="Yu Gothic"/>
                <a:ea typeface="Yu Gothic"/>
                <a:cs typeface="Yu Gothic"/>
              </a:rPr>
              <a:t>・Canny後、勾配象限と凸性が整合する弧だけを残す</a:t>
            </a:r>
          </a:p>
          <a:p xmlns:a="http://schemas.openxmlformats.org/drawingml/2006/main">
            <a:pPr>
              <a:buNone/>
              <a:defRPr>
                <a:latin typeface="Yu Gothic"/>
                <a:ea typeface="Yu Gothic"/>
                <a:cs typeface="Yu Gothic"/>
              </a:defRPr>
            </a:pPr>
            <a:r>
              <a:rPr sz="2000">
                <a:latin typeface="Yu Gothic"/>
                <a:ea typeface="Yu Gothic"/>
                <a:cs typeface="Yu Gothic"/>
              </a:rPr>
              <a:t>・位置・接線制約と中心整合により、同一楕円らしい三弧を統合</a:t>
            </a:r>
          </a:p>
        </p:txBody>
      </p:sp>
      <p:sp>
        <p:nvSpPr>
          <p:cNvPr id="3" name="テキスト ボックス 1">
            <a:extLst xmlns:a="http://schemas.openxmlformats.org/drawingml/2006/main">
              <a:ext uri="{FF2B5EF4-FFF2-40B4-BE49-F238E27FC236}">
                <a16:creationId xmlns:a16="http://schemas.microsoft.com/office/drawing/2014/main" id="{EDE4D0C7-8FB5-6F22-90D8-E23A16106645}"/>
              </a:ext>
            </a:extLst>
          </p:cNvPr>
          <p:cNvSpPr>
            <a:spLocks xmlns:a="http://schemas.openxmlformats.org/drawingml/2006/main" noGrp="1"/>
          </p:cNvSpPr>
          <p:nvPr/>
        </p:nvSpPr>
        <p:spPr>
          <a:xfrm xmlns:a="http://schemas.openxmlformats.org/drawingml/2006/main">
            <a:off x="368710" y="5623399"/>
            <a:ext cx="8598829"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a:latin typeface="Yu Gothic"/>
                <a:ea typeface="Yu Gothic"/>
                <a:cs typeface="Yu Gothic"/>
              </a:defRPr>
            </a:pPr>
            <a:r>
              <a:rPr sz="2000">
                <a:latin typeface="Yu Gothic"/>
                <a:ea typeface="Yu Gothic"/>
                <a:cs typeface="Yu Gothic"/>
              </a:rPr>
              <a:t>・統合弧へ最小二乗楕円を当て、中心光線距離による適合点率で検証</a:t>
            </a:r>
          </a:p>
        </p:txBody>
      </p:sp>
    </p:spTree>
    <p:extLst>
      <p:ext uri="{BB962C8B-B14F-4D97-AF65-F5344CB8AC3E}">
        <p14:creationId xmlns:p14="http://schemas.microsoft.com/office/powerpoint/2010/main" val="257924034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6E41878F-CB80-CF99-7A7B-2E0D6B436DEF}"/>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32F5581A-C0E1-438D-B89D-FBFA924258C1}"/>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テキスト ボックス 6">
            <a:extLst xmlns:a="http://schemas.openxmlformats.org/drawingml/2006/main">
              <a:ext uri="{FF2B5EF4-FFF2-40B4-BE49-F238E27FC236}">
                <a16:creationId xmlns:a16="http://schemas.microsoft.com/office/drawing/2014/main" id="{BEE4E29B-8219-47F0-EFF9-5F8784A5DB76}"/>
              </a:ext>
            </a:extLst>
          </p:cNvPr>
          <p:cNvSpPr>
            <a:spLocks xmlns:a="http://schemas.openxmlformats.org/drawingml/2006/main" noGrp="1"/>
          </p:cNvSpPr>
          <p:nvPr/>
        </p:nvSpPr>
        <p:spPr>
          <a:xfrm xmlns:a="http://schemas.openxmlformats.org/drawingml/2006/main">
            <a:off x="249365" y="783622"/>
            <a:ext cx="11239500" cy="5847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a:t>Zhang 2019型（再現実装）は候補生成＋単純な最終選択</a:t>
            </a:r>
          </a:p>
        </p:txBody>
      </p:sp>
      <p:pic>
        <p:nvPicPr>
          <p:cNvPr id="20" name="図 2"/>
          <p:cNvPicPr>
            <a:picLocks xmlns:a="http://schemas.openxmlformats.org/drawingml/2006/main" noChangeAspect="1"/>
          </p:cNvPicPr>
          <p:nvPr/>
        </p:nvPicPr>
        <p:blipFill>
          <a:blip xmlns:r="http://schemas.openxmlformats.org/officeDocument/2006/relationships" xmlns:a="http://schemas.openxmlformats.org/drawingml/2006/main" r:embed="R5391c0ee9f9d4e31"/>
          <a:srcRect xmlns:a="http://schemas.openxmlformats.org/drawingml/2006/main" l="0" t="0" r="0" b="0"/>
          <a:stretch xmlns:a="http://schemas.openxmlformats.org/drawingml/2006/main">
            <a:fillRect l="0" t="0" r="0" b="0"/>
          </a:stretch>
        </p:blipFill>
        <p:spPr>
          <a:xfrm xmlns:a="http://schemas.openxmlformats.org/drawingml/2006/main" rot="0" flipH="0" flipV="0">
            <a:off x="857250" y="1830038"/>
            <a:ext cx="10382250" cy="2171700"/>
          </a:xfrm>
          <a:prstGeom xmlns:a="http://schemas.openxmlformats.org/drawingml/2006/main" prst="rect">
            <a:avLst/>
          </a:prstGeom>
        </p:spPr>
      </p:pic>
      <p:sp>
        <p:nvSpPr>
          <p:cNvPr id="11" name="テキスト ボックス 10">
            <a:extLst xmlns:a="http://schemas.openxmlformats.org/drawingml/2006/main">
              <a:ext uri="{FF2B5EF4-FFF2-40B4-BE49-F238E27FC236}">
                <a16:creationId xmlns:a16="http://schemas.microsoft.com/office/drawing/2014/main" id="{7ACF146E-6EB2-1EDF-776F-31898964AB88}"/>
              </a:ext>
            </a:extLst>
          </p:cNvPr>
          <p:cNvSpPr>
            <a:spLocks xmlns:a="http://schemas.openxmlformats.org/drawingml/2006/main" noGrp="1"/>
          </p:cNvSpPr>
          <p:nvPr/>
        </p:nvSpPr>
        <p:spPr>
          <a:xfrm xmlns:a="http://schemas.openxmlformats.org/drawingml/2006/main">
            <a:off x="2190750" y="1368362"/>
            <a:ext cx="9144000" cy="461677"/>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400"/>
              <a:t>内包関係があれば内側、なければ全周支持率最大</a:t>
            </a:r>
          </a:p>
        </p:txBody>
      </p:sp>
      <p:sp>
        <p:nvSpPr>
          <p:cNvPr id="13" name="テキスト ボックス 1">
            <a:extLst xmlns:a="http://schemas.openxmlformats.org/drawingml/2006/main">
              <a:ext uri="{FF2B5EF4-FFF2-40B4-BE49-F238E27FC236}">
                <a16:creationId xmlns:a16="http://schemas.microsoft.com/office/drawing/2014/main" id="{F6E0B222-7219-6A77-A12A-AEE40210D242}"/>
              </a:ext>
            </a:extLst>
          </p:cNvPr>
          <p:cNvSpPr>
            <a:spLocks xmlns:a="http://schemas.openxmlformats.org/drawingml/2006/main" noGrp="1"/>
          </p:cNvSpPr>
          <p:nvPr/>
        </p:nvSpPr>
        <p:spPr>
          <a:xfrm xmlns:a="http://schemas.openxmlformats.org/drawingml/2006/main">
            <a:off x="552510" y="4322407"/>
            <a:ext cx="4017446"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a:latin typeface="Yu Gothic"/>
                <a:ea typeface="Yu Gothic"/>
                <a:cs typeface="Yu Gothic"/>
              </a:defRPr>
            </a:pPr>
            <a:r>
              <a:rPr sz="2000">
                <a:latin typeface="Yu Gothic"/>
                <a:ea typeface="Yu Gothic"/>
                <a:cs typeface="Yu Gothic"/>
              </a:rPr>
              <a:t>① 候補生成（論文）：Canny → 弧分類 → 三弧統合 → 楕円当てはめ</a:t>
            </a:r>
          </a:p>
          <a:p xmlns:a="http://schemas.openxmlformats.org/drawingml/2006/main">
            <a:pPr>
              <a:buNone/>
              <a:defRPr>
                <a:latin typeface="Yu Gothic"/>
                <a:ea typeface="Yu Gothic"/>
                <a:cs typeface="Yu Gothic"/>
              </a:defRPr>
            </a:pPr>
            <a:r>
              <a:rPr sz="2000">
                <a:latin typeface="Yu Gothic"/>
                <a:ea typeface="Yu Gothic"/>
                <a:cs typeface="Yu Gothic"/>
              </a:rPr>
              <a:t>② 最終選択（追加）：内包あり→内側／なし→全周支持率最大</a:t>
            </a:r>
          </a:p>
        </p:txBody>
      </p:sp>
      <p:sp>
        <p:nvSpPr>
          <p:cNvPr id="15" name="テキスト ボックス 1">
            <a:extLst xmlns:a="http://schemas.openxmlformats.org/drawingml/2006/main">
              <a:ext uri="{FF2B5EF4-FFF2-40B4-BE49-F238E27FC236}">
                <a16:creationId xmlns:a16="http://schemas.microsoft.com/office/drawing/2014/main" id="{1E03CBAC-19D5-7CC7-9627-89892B32D97A}"/>
              </a:ext>
            </a:extLst>
          </p:cNvPr>
          <p:cNvSpPr>
            <a:spLocks xmlns:a="http://schemas.openxmlformats.org/drawingml/2006/main" noGrp="1"/>
          </p:cNvSpPr>
          <p:nvPr/>
        </p:nvSpPr>
        <p:spPr>
          <a:xfrm xmlns:a="http://schemas.openxmlformats.org/drawingml/2006/main">
            <a:off x="552510" y="5489601"/>
            <a:ext cx="6040436" cy="584775"/>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a:latin typeface="Yu Gothic"/>
                <a:ea typeface="Yu Gothic"/>
                <a:cs typeface="Yu Gothic"/>
              </a:defRPr>
            </a:pPr>
            <a:r>
              <a:rPr sz="1600">
                <a:latin typeface="Yu Gothic"/>
                <a:ea typeface="Yu Gothic"/>
                <a:cs typeface="Yu Gothic"/>
              </a:rPr>
              <a:t>著者コードの移植ではなく、論文の処理構成を参考にしたPython再現実装。</a:t>
            </a:r>
          </a:p>
        </p:txBody>
      </p:sp>
    </p:spTree>
    <p:extLst>
      <p:ext uri="{BB962C8B-B14F-4D97-AF65-F5344CB8AC3E}">
        <p14:creationId xmlns:p14="http://schemas.microsoft.com/office/powerpoint/2010/main" val="116807076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D1812B37-ADBF-8969-05AC-F5F6948FDFF8}"/>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C646147B-C52A-607E-CEC8-3D3E2DB9F832}"/>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テキスト ボックス 6">
            <a:extLst xmlns:a="http://schemas.openxmlformats.org/drawingml/2006/main">
              <a:ext uri="{FF2B5EF4-FFF2-40B4-BE49-F238E27FC236}">
                <a16:creationId xmlns:a16="http://schemas.microsoft.com/office/drawing/2014/main" id="{D3F1A647-BDE1-6F21-BBA2-B887678D0B95}"/>
              </a:ext>
            </a:extLst>
          </p:cNvPr>
          <p:cNvSpPr>
            <a:spLocks xmlns:a="http://schemas.openxmlformats.org/drawingml/2006/main" noGrp="1"/>
          </p:cNvSpPr>
          <p:nvPr/>
        </p:nvSpPr>
        <p:spPr>
          <a:xfrm xmlns:a="http://schemas.openxmlformats.org/drawingml/2006/main">
            <a:off x="249365" y="581882"/>
            <a:ext cx="11049000" cy="5847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a:t>撮像診断1,456枚で3方式を同条件比較</a:t>
            </a:r>
          </a:p>
        </p:txBody>
      </p:sp>
      <p:pic>
        <p:nvPicPr>
          <p:cNvPr id="53" name="図 16"/>
          <p:cNvPicPr>
            <a:picLocks xmlns:a="http://schemas.openxmlformats.org/drawingml/2006/main" noChangeAspect="1"/>
          </p:cNvPicPr>
          <p:nvPr/>
        </p:nvPicPr>
        <p:blipFill>
          <a:blip xmlns:r="http://schemas.openxmlformats.org/officeDocument/2006/relationships" xmlns:a="http://schemas.openxmlformats.org/drawingml/2006/main" r:embed="R351264ff5f3048ce"/>
          <a:srcRect xmlns:a="http://schemas.openxmlformats.org/drawingml/2006/main" l="0" t="0" r="0" b="0"/>
          <a:stretch xmlns:a="http://schemas.openxmlformats.org/drawingml/2006/main">
            <a:fillRect l="0" t="0" r="0" b="0"/>
          </a:stretch>
        </p:blipFill>
        <p:spPr>
          <a:xfrm xmlns:a="http://schemas.openxmlformats.org/drawingml/2006/main" flipH="0" flipV="0">
            <a:off x="1485805" y="1511658"/>
            <a:ext cx="1963984" cy="1963984"/>
          </a:xfrm>
          <a:prstGeom xmlns:a="http://schemas.openxmlformats.org/drawingml/2006/main" prst="rect">
            <a:avLst/>
          </a:prstGeom>
        </p:spPr>
      </p:pic>
      <p:pic>
        <p:nvPicPr>
          <p:cNvPr id="54" name="図 18"/>
          <p:cNvPicPr>
            <a:picLocks xmlns:a="http://schemas.openxmlformats.org/drawingml/2006/main" noChangeAspect="1"/>
          </p:cNvPicPr>
          <p:nvPr/>
        </p:nvPicPr>
        <p:blipFill>
          <a:blip xmlns:r="http://schemas.openxmlformats.org/officeDocument/2006/relationships" xmlns:a="http://schemas.openxmlformats.org/drawingml/2006/main" r:embed="Rd2e9e725e47648cf"/>
          <a:srcRect xmlns:a="http://schemas.openxmlformats.org/drawingml/2006/main" l="0" t="0" r="0" b="0"/>
          <a:stretch xmlns:a="http://schemas.openxmlformats.org/drawingml/2006/main">
            <a:fillRect l="0" t="0" r="0" b="0"/>
          </a:stretch>
        </p:blipFill>
        <p:spPr>
          <a:xfrm xmlns:a="http://schemas.openxmlformats.org/drawingml/2006/main" flipH="0" flipV="0">
            <a:off x="9211893" y="1544087"/>
            <a:ext cx="1385021" cy="1385021"/>
          </a:xfrm>
          <a:prstGeom xmlns:a="http://schemas.openxmlformats.org/drawingml/2006/main" prst="rect">
            <a:avLst/>
          </a:prstGeom>
        </p:spPr>
      </p:pic>
      <p:pic>
        <p:nvPicPr>
          <p:cNvPr id="55" name="図 20"/>
          <p:cNvPicPr>
            <a:picLocks xmlns:a="http://schemas.openxmlformats.org/drawingml/2006/main" noChangeAspect="1"/>
          </p:cNvPicPr>
          <p:nvPr/>
        </p:nvPicPr>
        <p:blipFill>
          <a:blip xmlns:r="http://schemas.openxmlformats.org/officeDocument/2006/relationships" xmlns:a="http://schemas.openxmlformats.org/drawingml/2006/main" r:embed="Rdf107864a38c4c3f"/>
          <a:srcRect xmlns:a="http://schemas.openxmlformats.org/drawingml/2006/main" l="0" t="0" r="0" b="0"/>
          <a:stretch xmlns:a="http://schemas.openxmlformats.org/drawingml/2006/main">
            <a:fillRect l="0" t="0" r="0" b="0"/>
          </a:stretch>
        </p:blipFill>
        <p:spPr>
          <a:xfrm xmlns:a="http://schemas.openxmlformats.org/drawingml/2006/main" flipH="0" flipV="0">
            <a:off x="7497435" y="1544734"/>
            <a:ext cx="1385021" cy="1385021"/>
          </a:xfrm>
          <a:prstGeom xmlns:a="http://schemas.openxmlformats.org/drawingml/2006/main" prst="rect">
            <a:avLst/>
          </a:prstGeom>
        </p:spPr>
      </p:pic>
      <p:pic>
        <p:nvPicPr>
          <p:cNvPr id="56" name="図 22"/>
          <p:cNvPicPr>
            <a:picLocks xmlns:a="http://schemas.openxmlformats.org/drawingml/2006/main" noChangeAspect="1"/>
          </p:cNvPicPr>
          <p:nvPr/>
        </p:nvPicPr>
        <p:blipFill>
          <a:blip xmlns:r="http://schemas.openxmlformats.org/officeDocument/2006/relationships" xmlns:a="http://schemas.openxmlformats.org/drawingml/2006/main" r:embed="R93525416e79e4679"/>
          <a:srcRect xmlns:a="http://schemas.openxmlformats.org/drawingml/2006/main" l="0" t="0" r="0" b="0"/>
          <a:stretch xmlns:a="http://schemas.openxmlformats.org/drawingml/2006/main">
            <a:fillRect l="0" t="0" r="0" b="0"/>
          </a:stretch>
        </p:blipFill>
        <p:spPr>
          <a:xfrm xmlns:a="http://schemas.openxmlformats.org/drawingml/2006/main" flipH="0" flipV="0">
            <a:off x="5782977" y="1544734"/>
            <a:ext cx="1385021" cy="1385021"/>
          </a:xfrm>
          <a:prstGeom xmlns:a="http://schemas.openxmlformats.org/drawingml/2006/main" prst="rect">
            <a:avLst/>
          </a:prstGeom>
        </p:spPr>
      </p:pic>
      <p:sp>
        <p:nvSpPr>
          <p:cNvPr id="24" name="テキスト ボックス 23">
            <a:extLst xmlns:a="http://schemas.openxmlformats.org/drawingml/2006/main">
              <a:ext uri="{FF2B5EF4-FFF2-40B4-BE49-F238E27FC236}">
                <a16:creationId xmlns:a16="http://schemas.microsoft.com/office/drawing/2014/main" id="{9B12733B-36EB-D1A5-A669-CD5276C9C3CE}"/>
              </a:ext>
            </a:extLst>
          </p:cNvPr>
          <p:cNvSpPr>
            <a:spLocks xmlns:a="http://schemas.openxmlformats.org/drawingml/2006/main" noGrp="1"/>
          </p:cNvSpPr>
          <p:nvPr/>
        </p:nvSpPr>
        <p:spPr>
          <a:xfrm xmlns:a="http://schemas.openxmlformats.org/drawingml/2006/main">
            <a:off x="6152321" y="1174755"/>
            <a:ext cx="646331"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黒矩形</a:t>
            </a:r>
          </a:p>
        </p:txBody>
      </p:sp>
      <p:sp>
        <p:nvSpPr>
          <p:cNvPr id="26" name="テキスト ボックス 25">
            <a:extLst xmlns:a="http://schemas.openxmlformats.org/drawingml/2006/main">
              <a:ext uri="{FF2B5EF4-FFF2-40B4-BE49-F238E27FC236}">
                <a16:creationId xmlns:a16="http://schemas.microsoft.com/office/drawing/2014/main" id="{B276B483-0750-3A69-4596-11160FF31D85}"/>
              </a:ext>
            </a:extLst>
          </p:cNvPr>
          <p:cNvSpPr>
            <a:spLocks xmlns:a="http://schemas.openxmlformats.org/drawingml/2006/main" noGrp="1"/>
          </p:cNvSpPr>
          <p:nvPr/>
        </p:nvSpPr>
        <p:spPr>
          <a:xfrm xmlns:a="http://schemas.openxmlformats.org/drawingml/2006/main">
            <a:off x="1175615" y="3549190"/>
            <a:ext cx="2584362" cy="276999"/>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200"/>
              <a:t>学習に未使用のカメラ条件・既知照明</a:t>
            </a:r>
          </a:p>
        </p:txBody>
      </p:sp>
      <p:sp>
        <p:nvSpPr>
          <p:cNvPr id="28" name="テキスト ボックス 27">
            <a:extLst xmlns:a="http://schemas.openxmlformats.org/drawingml/2006/main">
              <a:ext uri="{FF2B5EF4-FFF2-40B4-BE49-F238E27FC236}">
                <a16:creationId xmlns:a16="http://schemas.microsoft.com/office/drawing/2014/main" id="{2F06B9D7-B591-1EB2-43EB-78F0859ADC82}"/>
              </a:ext>
            </a:extLst>
          </p:cNvPr>
          <p:cNvSpPr>
            <a:spLocks xmlns:a="http://schemas.openxmlformats.org/drawingml/2006/main" noGrp="1"/>
          </p:cNvSpPr>
          <p:nvPr/>
        </p:nvSpPr>
        <p:spPr>
          <a:xfrm xmlns:a="http://schemas.openxmlformats.org/drawingml/2006/main">
            <a:off x="1798382" y="1196798"/>
            <a:ext cx="1338828"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Clean</a:t>
            </a:r>
          </a:p>
        </p:txBody>
      </p:sp>
      <p:sp>
        <p:nvSpPr>
          <p:cNvPr id="30" name="テキスト ボックス 29">
            <a:extLst xmlns:a="http://schemas.openxmlformats.org/drawingml/2006/main">
              <a:ext uri="{FF2B5EF4-FFF2-40B4-BE49-F238E27FC236}">
                <a16:creationId xmlns:a16="http://schemas.microsoft.com/office/drawing/2014/main" id="{AC19918C-97FE-8094-877F-FADAC6A89DE9}"/>
              </a:ext>
            </a:extLst>
          </p:cNvPr>
          <p:cNvSpPr>
            <a:spLocks xmlns:a="http://schemas.openxmlformats.org/drawingml/2006/main" noGrp="1"/>
          </p:cNvSpPr>
          <p:nvPr/>
        </p:nvSpPr>
        <p:spPr>
          <a:xfrm xmlns:a="http://schemas.openxmlformats.org/drawingml/2006/main">
            <a:off x="7751363" y="1166666"/>
            <a:ext cx="877163"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白飛び</a:t>
            </a:r>
          </a:p>
        </p:txBody>
      </p:sp>
      <p:sp>
        <p:nvSpPr>
          <p:cNvPr id="32" name="テキスト ボックス 31">
            <a:extLst xmlns:a="http://schemas.openxmlformats.org/drawingml/2006/main">
              <a:ext uri="{FF2B5EF4-FFF2-40B4-BE49-F238E27FC236}">
                <a16:creationId xmlns:a16="http://schemas.microsoft.com/office/drawing/2014/main" id="{8E32EC85-0F98-E758-CA69-970192B3B3D2}"/>
              </a:ext>
            </a:extLst>
          </p:cNvPr>
          <p:cNvSpPr>
            <a:spLocks xmlns:a="http://schemas.openxmlformats.org/drawingml/2006/main" noGrp="1"/>
          </p:cNvSpPr>
          <p:nvPr/>
        </p:nvSpPr>
        <p:spPr>
          <a:xfrm xmlns:a="http://schemas.openxmlformats.org/drawingml/2006/main">
            <a:off x="9350405" y="1166666"/>
            <a:ext cx="1107996"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黒つぶれ</a:t>
            </a:r>
          </a:p>
        </p:txBody>
      </p:sp>
      <p:sp>
        <p:nvSpPr>
          <p:cNvPr id="33" name="四角形: 角を丸くする 32">
            <a:extLst xmlns:a="http://schemas.openxmlformats.org/drawingml/2006/main">
              <a:ext uri="{FF2B5EF4-FFF2-40B4-BE49-F238E27FC236}">
                <a16:creationId xmlns:a16="http://schemas.microsoft.com/office/drawing/2014/main" id="{23735D3F-8105-E3F1-BEEC-D964F296C061}"/>
              </a:ext>
            </a:extLst>
          </p:cNvPr>
          <p:cNvSpPr>
            <a:spLocks xmlns:a="http://schemas.openxmlformats.org/drawingml/2006/main" noGrp="1"/>
          </p:cNvSpPr>
          <p:nvPr/>
        </p:nvSpPr>
        <p:spPr>
          <a:xfrm xmlns:a="http://schemas.openxmlformats.org/drawingml/2006/main">
            <a:off x="4003849" y="1716724"/>
            <a:ext cx="1272663" cy="457825"/>
          </a:xfrm>
          <a:prstGeom xmlns:a="http://schemas.openxmlformats.org/drawingml/2006/main" prst="roundRect">
            <a:avLst/>
          </a:prstGeom>
          <a:solidFill xmlns:a="http://schemas.openxmlformats.org/drawingml/2006/main">
            <a:schemeClr val="tx2">
              <a:lumMod val="25000"/>
              <a:lumOff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000" b="1">
                <a:solidFill>
                  <a:schemeClr val="tx1"/>
                </a:solidFill>
              </a:rPr>
              <a:t>基礎 112枚</a:t>
            </a:r>
          </a:p>
        </p:txBody>
      </p:sp>
      <p:sp>
        <p:nvSpPr>
          <p:cNvPr id="35" name="四角形: 角を丸くする 34">
            <a:extLst xmlns:a="http://schemas.openxmlformats.org/drawingml/2006/main">
              <a:ext uri="{FF2B5EF4-FFF2-40B4-BE49-F238E27FC236}">
                <a16:creationId xmlns:a16="http://schemas.microsoft.com/office/drawing/2014/main" id="{4BE341B5-F6DD-BCC3-5A61-0F2F61B729C8}"/>
              </a:ext>
            </a:extLst>
          </p:cNvPr>
          <p:cNvSpPr>
            <a:spLocks xmlns:a="http://schemas.openxmlformats.org/drawingml/2006/main" noGrp="1"/>
          </p:cNvSpPr>
          <p:nvPr/>
        </p:nvSpPr>
        <p:spPr>
          <a:xfrm xmlns:a="http://schemas.openxmlformats.org/drawingml/2006/main">
            <a:off x="4003849" y="2309634"/>
            <a:ext cx="1272663" cy="461818"/>
          </a:xfrm>
          <a:prstGeom xmlns:a="http://schemas.openxmlformats.org/drawingml/2006/main" prst="roundRect">
            <a:avLst/>
          </a:prstGeom>
          <a:solidFill xmlns:a="http://schemas.openxmlformats.org/drawingml/2006/main">
            <a:schemeClr val="tx2">
              <a:lumMod val="25000"/>
              <a:lumOff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000" b="1">
                <a:solidFill>
                  <a:schemeClr val="tx1"/>
                </a:solidFill>
              </a:rPr>
              <a:t>診断 1,456枚</a:t>
            </a:r>
          </a:p>
        </p:txBody>
      </p:sp>
      <p:sp>
        <p:nvSpPr>
          <p:cNvPr id="37" name="四角形: 角を丸くする 36">
            <a:extLst xmlns:a="http://schemas.openxmlformats.org/drawingml/2006/main">
              <a:ext uri="{FF2B5EF4-FFF2-40B4-BE49-F238E27FC236}">
                <a16:creationId xmlns:a16="http://schemas.microsoft.com/office/drawing/2014/main" id="{D9C00DB4-A4A9-4368-B395-31FEF993E2A0}"/>
              </a:ext>
            </a:extLst>
          </p:cNvPr>
          <p:cNvSpPr>
            <a:spLocks xmlns:a="http://schemas.openxmlformats.org/drawingml/2006/main" noGrp="1"/>
          </p:cNvSpPr>
          <p:nvPr/>
        </p:nvSpPr>
        <p:spPr>
          <a:xfrm xmlns:a="http://schemas.openxmlformats.org/drawingml/2006/main">
            <a:off x="4003849" y="2906537"/>
            <a:ext cx="1272663" cy="461818"/>
          </a:xfrm>
          <a:prstGeom xmlns:a="http://schemas.openxmlformats.org/drawingml/2006/main" prst="roundRect">
            <a:avLst/>
          </a:prstGeom>
          <a:solidFill xmlns:a="http://schemas.openxmlformats.org/drawingml/2006/main">
            <a:schemeClr val="tx2">
              <a:lumMod val="25000"/>
              <a:lumOff val="7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000" b="1">
                <a:solidFill>
                  <a:schemeClr val="tx1"/>
                </a:solidFill>
              </a:rPr>
              <a:t>IoU ≥ 0.80</a:t>
            </a:r>
          </a:p>
        </p:txBody>
      </p:sp>
      <p:sp>
        <p:nvSpPr>
          <p:cNvPr id="43" name="テキスト ボックス 1">
            <a:extLst xmlns:a="http://schemas.openxmlformats.org/drawingml/2006/main">
              <a:ext uri="{FF2B5EF4-FFF2-40B4-BE49-F238E27FC236}">
                <a16:creationId xmlns:a16="http://schemas.microsoft.com/office/drawing/2014/main" id="{C2F7EC8F-938F-D5C9-6FFF-CBBB5127BEA0}"/>
              </a:ext>
            </a:extLst>
          </p:cNvPr>
          <p:cNvSpPr>
            <a:spLocks xmlns:a="http://schemas.openxmlformats.org/drawingml/2006/main" noGrp="1"/>
          </p:cNvSpPr>
          <p:nvPr/>
        </p:nvSpPr>
        <p:spPr>
          <a:xfrm xmlns:a="http://schemas.openxmlformats.org/drawingml/2006/main">
            <a:off x="817004" y="3835843"/>
            <a:ext cx="4742004"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a:latin typeface="Yu Gothic"/>
                <a:ea typeface="Yu Gothic"/>
                <a:cs typeface="Yu Gothic"/>
              </a:defRPr>
            </a:pPr>
            <a:r>
              <a:rPr sz="2000">
                <a:latin typeface="Yu Gothic"/>
                <a:ea typeface="Yu Gothic"/>
                <a:cs typeface="Yu Gothic"/>
              </a:rPr>
              <a:t>【基礎画像】</a:t>
            </a:r>
          </a:p>
          <a:p xmlns:a="http://schemas.openxmlformats.org/drawingml/2006/main">
            <a:pPr>
              <a:buNone/>
              <a:defRPr>
                <a:latin typeface="Yu Gothic"/>
                <a:ea typeface="Yu Gothic"/>
                <a:cs typeface="Yu Gothic"/>
              </a:defRPr>
            </a:pPr>
            <a:r>
              <a:rPr sz="2000">
                <a:latin typeface="Yu Gothic"/>
                <a:ea typeface="Yu Gothic"/>
                <a:cs typeface="Yu Gothic"/>
              </a:rPr>
              <a:t>・学習に未使用の16カメラ条件</a:t>
            </a:r>
          </a:p>
          <a:p xmlns:a="http://schemas.openxmlformats.org/drawingml/2006/main">
            <a:pPr>
              <a:buNone/>
              <a:defRPr>
                <a:latin typeface="Yu Gothic"/>
                <a:ea typeface="Yu Gothic"/>
                <a:cs typeface="Yu Gothic"/>
              </a:defRPr>
            </a:pPr>
            <a:r>
              <a:rPr sz="2000">
                <a:latin typeface="Yu Gothic"/>
                <a:ea typeface="Yu Gothic"/>
                <a:cs typeface="Yu Gothic"/>
              </a:rPr>
              <a:t>・既知の7照明条件</a:t>
            </a:r>
          </a:p>
        </p:txBody>
      </p:sp>
      <p:sp>
        <p:nvSpPr>
          <p:cNvPr id="45" name="テキスト ボックス 2">
            <a:extLst xmlns:a="http://schemas.openxmlformats.org/drawingml/2006/main">
              <a:ext uri="{FF2B5EF4-FFF2-40B4-BE49-F238E27FC236}">
                <a16:creationId xmlns:a16="http://schemas.microsoft.com/office/drawing/2014/main" id="{EEBB221E-D462-6241-E436-6FC7CD0A6CCE}"/>
              </a:ext>
            </a:extLst>
          </p:cNvPr>
          <p:cNvSpPr>
            <a:spLocks xmlns:a="http://schemas.openxmlformats.org/drawingml/2006/main" noGrp="1"/>
          </p:cNvSpPr>
          <p:nvPr/>
        </p:nvSpPr>
        <p:spPr>
          <a:xfrm xmlns:a="http://schemas.openxmlformats.org/drawingml/2006/main">
            <a:off x="6309384" y="3826189"/>
            <a:ext cx="5258171"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a:latin typeface="Yu Gothic"/>
                <a:ea typeface="Yu Gothic"/>
                <a:cs typeface="Yu Gothic"/>
              </a:defRPr>
            </a:pPr>
            <a:r>
              <a:rPr sz="2000">
                <a:latin typeface="Yu Gothic"/>
                <a:ea typeface="Yu Gothic"/>
                <a:cs typeface="Yu Gothic"/>
              </a:rPr>
              <a:t>【撮像劣化】</a:t>
            </a:r>
          </a:p>
          <a:p xmlns:a="http://schemas.openxmlformats.org/drawingml/2006/main">
            <a:pPr>
              <a:buNone/>
              <a:defRPr>
                <a:latin typeface="Yu Gothic"/>
                <a:ea typeface="Yu Gothic"/>
                <a:cs typeface="Yu Gothic"/>
              </a:defRPr>
            </a:pPr>
            <a:r>
              <a:rPr sz="2000">
                <a:latin typeface="Yu Gothic"/>
                <a:ea typeface="Yu Gothic"/>
                <a:cs typeface="Yu Gothic"/>
              </a:rPr>
              <a:t>・Clean＋3効果×4強度</a:t>
            </a:r>
          </a:p>
          <a:p xmlns:a="http://schemas.openxmlformats.org/drawingml/2006/main">
            <a:pPr>
              <a:buNone/>
              <a:defRPr>
                <a:latin typeface="Yu Gothic"/>
                <a:ea typeface="Yu Gothic"/>
                <a:cs typeface="Yu Gothic"/>
              </a:defRPr>
            </a:pPr>
            <a:r>
              <a:rPr sz="2000">
                <a:latin typeface="Yu Gothic"/>
                <a:ea typeface="Yu Gothic"/>
                <a:cs typeface="Yu Gothic"/>
              </a:rPr>
              <a:t>・各効果・各強度112枚</a:t>
            </a:r>
          </a:p>
        </p:txBody>
      </p:sp>
    </p:spTree>
    <p:extLst>
      <p:ext uri="{BB962C8B-B14F-4D97-AF65-F5344CB8AC3E}">
        <p14:creationId xmlns:p14="http://schemas.microsoft.com/office/powerpoint/2010/main" val="298059851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840160D6-9D3B-7423-AD06-29A385B492D9}"/>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789C6FC1-D7E5-3EF8-1907-F62C12257CEF}"/>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テキスト ボックス 6">
            <a:extLst xmlns:a="http://schemas.openxmlformats.org/drawingml/2006/main">
              <a:ext uri="{FF2B5EF4-FFF2-40B4-BE49-F238E27FC236}">
                <a16:creationId xmlns:a16="http://schemas.microsoft.com/office/drawing/2014/main" id="{04B5FBB5-B3CF-A2F0-3A3F-F51A25679441}"/>
              </a:ext>
            </a:extLst>
          </p:cNvPr>
          <p:cNvSpPr>
            <a:spLocks xmlns:a="http://schemas.openxmlformats.org/drawingml/2006/main" noGrp="1"/>
          </p:cNvSpPr>
          <p:nvPr/>
        </p:nvSpPr>
        <p:spPr>
          <a:xfrm xmlns:a="http://schemas.openxmlformats.org/drawingml/2006/main">
            <a:off x="249365" y="783622"/>
            <a:ext cx="11239500" cy="5847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a:t>撮像診断：Zhang 2019型（再現実装）47.6%、CNN 74.5%</a:t>
            </a:r>
          </a:p>
        </p:txBody>
      </p:sp>
      <p:sp>
        <p:nvSpPr>
          <p:cNvPr id="5" name="テキスト ボックス 1">
            <a:extLst xmlns:a="http://schemas.openxmlformats.org/drawingml/2006/main">
              <a:ext uri="{FF2B5EF4-FFF2-40B4-BE49-F238E27FC236}">
                <a16:creationId xmlns:a16="http://schemas.microsoft.com/office/drawing/2014/main" id="{5E6428CC-E494-5ADC-1A26-981BFC7EE0A3}"/>
              </a:ext>
            </a:extLst>
          </p:cNvPr>
          <p:cNvSpPr>
            <a:spLocks xmlns:a="http://schemas.openxmlformats.org/drawingml/2006/main" noGrp="1"/>
          </p:cNvSpPr>
          <p:nvPr/>
        </p:nvSpPr>
        <p:spPr>
          <a:xfrm xmlns:a="http://schemas.openxmlformats.org/drawingml/2006/main">
            <a:off x="121045" y="2040689"/>
            <a:ext cx="4325223" cy="1200329"/>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a:latin typeface="Yu Gothic"/>
                <a:ea typeface="Yu Gothic"/>
                <a:cs typeface="Yu Gothic"/>
              </a:defRPr>
            </a:pPr>
            <a:r>
              <a:rPr sz="2400">
                <a:latin typeface="Yu Gothic"/>
                <a:ea typeface="Yu Gothic"/>
                <a:cs typeface="Yu Gothic"/>
              </a:rPr>
              <a:t>【1,456枚】</a:t>
            </a:r>
          </a:p>
          <a:p xmlns:a="http://schemas.openxmlformats.org/drawingml/2006/main">
            <a:pPr>
              <a:buNone/>
              <a:defRPr>
                <a:latin typeface="Yu Gothic"/>
                <a:ea typeface="Yu Gothic"/>
                <a:cs typeface="Yu Gothic"/>
              </a:defRPr>
            </a:pPr>
            <a:r>
              <a:rPr sz="2400">
                <a:latin typeface="Yu Gothic"/>
                <a:ea typeface="Yu Gothic"/>
                <a:cs typeface="Yu Gothic"/>
              </a:rPr>
              <a:t>Zhang 2019型（再現実装）</a:t>
            </a:r>
          </a:p>
          <a:p xmlns:a="http://schemas.openxmlformats.org/drawingml/2006/main">
            <a:pPr>
              <a:buNone/>
              <a:defRPr>
                <a:latin typeface="Yu Gothic"/>
                <a:ea typeface="Yu Gothic"/>
                <a:cs typeface="Yu Gothic"/>
              </a:defRPr>
            </a:pPr>
            <a:r>
              <a:rPr sz="2400">
                <a:latin typeface="Yu Gothic"/>
                <a:ea typeface="Yu Gothic"/>
                <a:cs typeface="Yu Gothic"/>
              </a:rPr>
              <a:t>693枚＝47.6%／Canny 46.8%</a:t>
            </a:r>
          </a:p>
        </p:txBody>
      </p:sp>
      <p:sp>
        <p:nvSpPr>
          <p:cNvPr id="12" name="テキスト ボックス 2">
            <a:extLst xmlns:a="http://schemas.openxmlformats.org/drawingml/2006/main">
              <a:ext uri="{FF2B5EF4-FFF2-40B4-BE49-F238E27FC236}">
                <a16:creationId xmlns:a16="http://schemas.microsoft.com/office/drawing/2014/main" id="{200278F5-5BDF-6B4A-16E8-4B3DF6E53C5B}"/>
              </a:ext>
            </a:extLst>
          </p:cNvPr>
          <p:cNvSpPr>
            <a:spLocks xmlns:a="http://schemas.openxmlformats.org/drawingml/2006/main" noGrp="1"/>
          </p:cNvSpPr>
          <p:nvPr/>
        </p:nvSpPr>
        <p:spPr>
          <a:xfrm xmlns:a="http://schemas.openxmlformats.org/drawingml/2006/main">
            <a:off x="121045" y="3619559"/>
            <a:ext cx="5054589" cy="1200329"/>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a:latin typeface="Yu Gothic"/>
                <a:ea typeface="Yu Gothic"/>
                <a:cs typeface="Yu Gothic"/>
              </a:defRPr>
            </a:pPr>
            <a:r>
              <a:rPr sz="2400">
                <a:latin typeface="Yu Gothic"/>
                <a:ea typeface="Yu Gothic"/>
                <a:cs typeface="Yu Gothic"/>
              </a:rPr>
              <a:t>CNN 74.5%</a:t>
            </a:r>
          </a:p>
          <a:p xmlns:a="http://schemas.openxmlformats.org/drawingml/2006/main">
            <a:pPr>
              <a:buNone/>
              <a:defRPr>
                <a:latin typeface="Yu Gothic"/>
                <a:ea typeface="Yu Gothic"/>
                <a:cs typeface="Yu Gothic"/>
              </a:defRPr>
            </a:pPr>
            <a:r>
              <a:rPr sz="2400">
                <a:latin typeface="Yu Gothic"/>
                <a:ea typeface="Yu Gothic"/>
                <a:cs typeface="Yu Gothic"/>
              </a:rPr>
              <a:t>→ 再現実装はCannyと同等</a:t>
            </a:r>
          </a:p>
          <a:p xmlns:a="http://schemas.openxmlformats.org/drawingml/2006/main">
            <a:pPr>
              <a:buNone/>
              <a:defRPr>
                <a:latin typeface="Yu Gothic"/>
                <a:ea typeface="Yu Gothic"/>
                <a:cs typeface="Yu Gothic"/>
              </a:defRPr>
            </a:pPr>
            <a:r>
              <a:rPr sz="2400">
                <a:latin typeface="Yu Gothic"/>
                <a:ea typeface="Yu Gothic"/>
                <a:cs typeface="Yu Gothic"/>
              </a:rPr>
              <a:t>　</a:t>
            </a:r>
            <a:r>
              <a:rPr sz="2400">
                <a:latin typeface="Yu Gothic"/>
                <a:ea typeface="Yu Gothic"/>
                <a:cs typeface="Yu Gothic"/>
              </a:rPr>
              <a:t>CNNより26.9pt低い</a:t>
            </a:r>
          </a:p>
        </p:txBody>
      </p:sp>
      <p:graphicFrame>
        <p:nvGraphicFramePr>
          <p:cNvPr id="19" name="Chart"/>
          <p:cNvGraphicFramePr/>
          <p:nvPr/>
        </p:nvGraphicFramePr>
        <p:xfrm>
          <a:off xmlns:a="http://schemas.openxmlformats.org/drawingml/2006/main" x="5519810" y="1623221"/>
          <a:ext xmlns:a="http://schemas.openxmlformats.org/drawingml/2006/main" cx="6422808" cy="3611558"/>
        </p:xfrm>
        <a:graphic xmlns:a="http://schemas.openxmlformats.org/drawingml/2006/main">
          <a:graphicData uri="http://schemas.openxmlformats.org/drawingml/2006/chart">
            <c:chart xmlns:r="http://schemas.openxmlformats.org/officeDocument/2006/relationships" xmlns:c="http://schemas.openxmlformats.org/drawingml/2006/chart" r:id="Rd80638c94e8e4078"/>
          </a:graphicData>
        </a:graphic>
      </p:graphicFrame>
    </p:spTree>
    <p:extLst>
      <p:ext uri="{BB962C8B-B14F-4D97-AF65-F5344CB8AC3E}">
        <p14:creationId xmlns:p14="http://schemas.microsoft.com/office/powerpoint/2010/main" val="348097079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771C022E-8A6D-D860-62C4-E82D91D2E037}"/>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2ABD56A1-D136-23BE-FA40-26916958864B}"/>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テキスト ボックス 6">
            <a:extLst xmlns:a="http://schemas.openxmlformats.org/drawingml/2006/main">
              <a:ext uri="{FF2B5EF4-FFF2-40B4-BE49-F238E27FC236}">
                <a16:creationId xmlns:a16="http://schemas.microsoft.com/office/drawing/2014/main" id="{DF0564DD-CCF5-2C5F-3CEE-04511364728A}"/>
              </a:ext>
            </a:extLst>
          </p:cNvPr>
          <p:cNvSpPr>
            <a:spLocks xmlns:a="http://schemas.openxmlformats.org/drawingml/2006/main" noGrp="1"/>
          </p:cNvSpPr>
          <p:nvPr/>
        </p:nvSpPr>
        <p:spPr>
          <a:xfrm xmlns:a="http://schemas.openxmlformats.org/drawingml/2006/main">
            <a:off x="249365" y="783622"/>
            <a:ext cx="11239500" cy="5847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a:t>白飛びに強く、遮蔽と黒つぶれに弱い</a:t>
            </a:r>
          </a:p>
        </p:txBody>
      </p:sp>
      <p:sp>
        <p:nvSpPr>
          <p:cNvPr id="21" name="テキスト ボックス 20">
            <a:extLst xmlns:a="http://schemas.openxmlformats.org/drawingml/2006/main">
              <a:ext uri="{FF2B5EF4-FFF2-40B4-BE49-F238E27FC236}">
                <a16:creationId xmlns:a16="http://schemas.microsoft.com/office/drawing/2014/main" id="{82085C5B-D0DA-DA20-1663-7DD0BA270B0E}"/>
              </a:ext>
            </a:extLst>
          </p:cNvPr>
          <p:cNvSpPr>
            <a:spLocks xmlns:a="http://schemas.openxmlformats.org/drawingml/2006/main" noGrp="1"/>
          </p:cNvSpPr>
          <p:nvPr/>
        </p:nvSpPr>
        <p:spPr>
          <a:xfrm xmlns:a="http://schemas.openxmlformats.org/drawingml/2006/main">
            <a:off x="249365" y="5410200"/>
            <a:ext cx="11334750" cy="81915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t>・白飛び100%でも83.9%　・黒矩形50%で3.6%、75%以上で0%</a:t>
            </a:r>
          </a:p>
          <a:p xmlns:a="http://schemas.openxmlformats.org/drawingml/2006/main">
            <a:r>
              <a:t>・</a:t>
            </a:r>
            <a:r>
              <a:t>黒つぶれ75%で20.5%</a:t>
            </a:r>
            <a:r>
              <a:t>、100%で8.9% → 弧の消失が支配的</a:t>
            </a:r>
          </a:p>
        </p:txBody>
      </p:sp>
      <p:pic>
        <p:nvPicPr>
          <p:cNvPr id="27" name="図 2"/>
          <p:cNvPicPr>
            <a:picLocks xmlns:a="http://schemas.openxmlformats.org/drawingml/2006/main" noChangeAspect="1"/>
          </p:cNvPicPr>
          <p:nvPr/>
        </p:nvPicPr>
        <p:blipFill>
          <a:blip xmlns:r="http://schemas.openxmlformats.org/officeDocument/2006/relationships" xmlns:a="http://schemas.openxmlformats.org/drawingml/2006/main" r:embed="R842eaf08af044cbc"/>
          <a:srcRect xmlns:a="http://schemas.openxmlformats.org/drawingml/2006/main" l="0" t="0" r="0" b="0"/>
          <a:stretch xmlns:a="http://schemas.openxmlformats.org/drawingml/2006/main">
            <a:fillRect l="0" t="0" r="0" b="0"/>
          </a:stretch>
        </p:blipFill>
        <p:spPr>
          <a:xfrm xmlns:a="http://schemas.openxmlformats.org/drawingml/2006/main" flipH="0" flipV="0">
            <a:off x="264694" y="2055266"/>
            <a:ext cx="11662611" cy="3104774"/>
          </a:xfrm>
          <a:prstGeom xmlns:a="http://schemas.openxmlformats.org/drawingml/2006/main" prst="rect">
            <a:avLst/>
          </a:prstGeom>
        </p:spPr>
      </p:pic>
    </p:spTree>
    <p:extLst>
      <p:ext uri="{BB962C8B-B14F-4D97-AF65-F5344CB8AC3E}">
        <p14:creationId xmlns:p14="http://schemas.microsoft.com/office/powerpoint/2010/main" val="155490976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正方形/長方形 3">
            <a:extLst xmlns:a="http://schemas.openxmlformats.org/drawingml/2006/main">
              <a:ext uri="{FF2B5EF4-FFF2-40B4-BE49-F238E27FC236}">
                <a16:creationId xmlns:a16="http://schemas.microsoft.com/office/drawing/2014/main" id="{EFEEEA7F-9EA7-343D-6CD1-532B15C63911}"/>
              </a:ext>
            </a:extLst>
          </p:cNvPr>
          <p:cNvSpPr>
            <a:spLocks xmlns:a="http://schemas.openxmlformats.org/drawingml/2006/main" noGrp="1"/>
          </p:cNvSpPr>
          <p:nvPr/>
        </p:nvSpPr>
        <p:spPr>
          <a:xfrm xmlns:a="http://schemas.openxmlformats.org/drawingml/2006/main">
            <a:off x="0" y="1"/>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正方形/長方形 5">
            <a:extLst xmlns:a="http://schemas.openxmlformats.org/drawingml/2006/main">
              <a:ext uri="{FF2B5EF4-FFF2-40B4-BE49-F238E27FC236}">
                <a16:creationId xmlns:a16="http://schemas.microsoft.com/office/drawing/2014/main" id="{3635DF84-E770-DECE-AEAD-AED7C1E6BF72}"/>
              </a:ext>
            </a:extLst>
          </p:cNvPr>
          <p:cNvSpPr>
            <a:spLocks xmlns:a="http://schemas.openxmlformats.org/drawingml/2006/main" noGrp="1"/>
          </p:cNvSpPr>
          <p:nvPr/>
        </p:nvSpPr>
        <p:spPr>
          <a:xfrm xmlns:a="http://schemas.openxmlformats.org/drawingml/2006/main">
            <a:off x="0" y="6396182"/>
            <a:ext cx="12192000" cy="461818"/>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テキスト ボックス 6">
            <a:extLst xmlns:a="http://schemas.openxmlformats.org/drawingml/2006/main">
              <a:ext uri="{FF2B5EF4-FFF2-40B4-BE49-F238E27FC236}">
                <a16:creationId xmlns:a16="http://schemas.microsoft.com/office/drawing/2014/main" id="{DA9B0679-3F6B-E09F-9FFB-0771D614433D}"/>
              </a:ext>
            </a:extLst>
          </p:cNvPr>
          <p:cNvSpPr>
            <a:spLocks xmlns:a="http://schemas.openxmlformats.org/drawingml/2006/main" noGrp="1"/>
          </p:cNvSpPr>
          <p:nvPr/>
        </p:nvSpPr>
        <p:spPr>
          <a:xfrm xmlns:a="http://schemas.openxmlformats.org/drawingml/2006/main">
            <a:off x="249365" y="783622"/>
            <a:ext cx="7620000" cy="5847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3200"/>
              <a:t>まとめと次回以降</a:t>
            </a:r>
          </a:p>
        </p:txBody>
      </p:sp>
      <p:sp>
        <p:nvSpPr>
          <p:cNvPr id="3" name="テキスト ボックス 1">
            <a:extLst xmlns:a="http://schemas.openxmlformats.org/drawingml/2006/main">
              <a:ext uri="{FF2B5EF4-FFF2-40B4-BE49-F238E27FC236}">
                <a16:creationId xmlns:a16="http://schemas.microsoft.com/office/drawing/2014/main" id="{C29DBFF2-3DAC-212D-F433-9494C81D49CA}"/>
              </a:ext>
            </a:extLst>
          </p:cNvPr>
          <p:cNvSpPr>
            <a:spLocks xmlns:a="http://schemas.openxmlformats.org/drawingml/2006/main" noGrp="1"/>
          </p:cNvSpPr>
          <p:nvPr/>
        </p:nvSpPr>
        <p:spPr>
          <a:xfrm xmlns:a="http://schemas.openxmlformats.org/drawingml/2006/main">
            <a:off x="661784" y="1722576"/>
            <a:ext cx="9081305" cy="193899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a:latin typeface="Yu Gothic"/>
                <a:ea typeface="Yu Gothic"/>
                <a:cs typeface="Yu Gothic"/>
              </a:defRPr>
            </a:pPr>
            <a:r>
              <a:rPr sz="2400">
                <a:latin typeface="Yu Gothic"/>
                <a:ea typeface="Yu Gothic"/>
                <a:cs typeface="Yu Gothic"/>
              </a:rPr>
              <a:t>【今回】</a:t>
            </a:r>
          </a:p>
          <a:p xmlns:a="http://schemas.openxmlformats.org/drawingml/2006/main">
            <a:pPr>
              <a:buNone/>
              <a:defRPr>
                <a:latin typeface="Yu Gothic"/>
                <a:ea typeface="Yu Gothic"/>
                <a:cs typeface="Yu Gothic"/>
              </a:defRPr>
            </a:pPr>
            <a:r>
              <a:rPr sz="2400">
                <a:latin typeface="Yu Gothic"/>
                <a:ea typeface="Yu Gothic"/>
                <a:cs typeface="Yu Gothic"/>
              </a:rPr>
              <a:t>・Zhang 2019型（再現実装）を導入</a:t>
            </a:r>
          </a:p>
          <a:p xmlns:a="http://schemas.openxmlformats.org/drawingml/2006/main">
            <a:pPr>
              <a:buNone/>
              <a:defRPr>
                <a:latin typeface="Yu Gothic"/>
                <a:ea typeface="Yu Gothic"/>
                <a:cs typeface="Yu Gothic"/>
              </a:defRPr>
            </a:pPr>
            <a:r>
              <a:rPr sz="2400">
                <a:latin typeface="Yu Gothic"/>
                <a:ea typeface="Yu Gothic"/>
                <a:cs typeface="Yu Gothic"/>
              </a:rPr>
              <a:t>・</a:t>
            </a:r>
            <a:r>
              <a:rPr sz="2400">
                <a:latin typeface="Yu Gothic"/>
                <a:ea typeface="Yu Gothic"/>
                <a:cs typeface="Yu Gothic"/>
              </a:rPr>
              <a:t>撮像診断で47.6%（Canny 46.8%、CNN 74.5%）</a:t>
            </a:r>
          </a:p>
          <a:p xmlns:a="http://schemas.openxmlformats.org/drawingml/2006/main">
            <a:pPr>
              <a:buNone/>
              <a:defRPr>
                <a:latin typeface="Yu Gothic"/>
                <a:ea typeface="Yu Gothic"/>
                <a:cs typeface="Yu Gothic"/>
              </a:defRPr>
            </a:pPr>
            <a:r>
              <a:rPr sz="2400">
                <a:latin typeface="Yu Gothic"/>
                <a:ea typeface="Yu Gothic"/>
                <a:cs typeface="Yu Gothic"/>
              </a:rPr>
              <a:t>・遮蔽／黒つぶれでは弧不足が主な失敗要因</a:t>
            </a:r>
          </a:p>
        </p:txBody>
      </p:sp>
      <p:sp>
        <p:nvSpPr>
          <p:cNvPr id="8" name="テキスト ボックス 1">
            <a:extLst xmlns:a="http://schemas.openxmlformats.org/drawingml/2006/main">
              <a:ext uri="{FF2B5EF4-FFF2-40B4-BE49-F238E27FC236}">
                <a16:creationId xmlns:a16="http://schemas.microsoft.com/office/drawing/2014/main" id="{2A373B9F-AE19-06CE-6ED4-8BFE17A86CF3}"/>
              </a:ext>
            </a:extLst>
          </p:cNvPr>
          <p:cNvSpPr>
            <a:spLocks xmlns:a="http://schemas.openxmlformats.org/drawingml/2006/main" noGrp="1"/>
          </p:cNvSpPr>
          <p:nvPr/>
        </p:nvSpPr>
        <p:spPr>
          <a:xfrm xmlns:a="http://schemas.openxmlformats.org/drawingml/2006/main">
            <a:off x="661784" y="3752540"/>
            <a:ext cx="8470589" cy="1200329"/>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a:latin typeface="Yu Gothic"/>
                <a:ea typeface="Yu Gothic"/>
                <a:cs typeface="Yu Gothic"/>
              </a:defRPr>
            </a:pPr>
            <a:r>
              <a:rPr sz="2400">
                <a:latin typeface="Yu Gothic"/>
                <a:ea typeface="Yu Gothic"/>
                <a:cs typeface="Yu Gothic"/>
              </a:rPr>
              <a:t>【次回以降】</a:t>
            </a:r>
          </a:p>
          <a:p xmlns:a="http://schemas.openxmlformats.org/drawingml/2006/main">
            <a:pPr>
              <a:buNone/>
              <a:defRPr>
                <a:latin typeface="Yu Gothic"/>
                <a:ea typeface="Yu Gothic"/>
                <a:cs typeface="Yu Gothic"/>
              </a:defRPr>
            </a:pPr>
            <a:r>
              <a:rPr sz="2400">
                <a:latin typeface="Yu Gothic"/>
                <a:ea typeface="Yu Gothic"/>
                <a:cs typeface="Yu Gothic"/>
              </a:rPr>
              <a:t>・model_generalization_studyで未知条件への一般化を検証</a:t>
            </a:r>
          </a:p>
          <a:p xmlns:a="http://schemas.openxmlformats.org/drawingml/2006/main">
            <a:pPr>
              <a:buNone/>
              <a:defRPr>
                <a:latin typeface="Yu Gothic"/>
                <a:ea typeface="Yu Gothic"/>
                <a:cs typeface="Yu Gothic"/>
              </a:defRPr>
            </a:pPr>
            <a:r>
              <a:rPr sz="2400">
                <a:latin typeface="Yu Gothic"/>
                <a:ea typeface="Yu Gothic"/>
                <a:cs typeface="Yu Gothic"/>
              </a:rPr>
              <a:t>・両方式の失敗例を条件別に整理</a:t>
            </a:r>
          </a:p>
        </p:txBody>
      </p:sp>
    </p:spTree>
    <p:extLst>
      <p:ext uri="{BB962C8B-B14F-4D97-AF65-F5344CB8AC3E}">
        <p14:creationId xmlns:p14="http://schemas.microsoft.com/office/powerpoint/2010/main" val="3945427089"/>
      </p:ext>
    </p:extLst>
  </p:cSld>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2026-07-30T19:53:52.6070000Z</dcterms:created>
  <dcterms:modified xsi:type="dcterms:W3CDTF">2026-07-30T19:53:52.6070000Z</dcterms:modified>
</coreProperties>
</file>