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1d81ca1f7b4089" /><Relationship Type="http://schemas.openxmlformats.org/officeDocument/2006/relationships/extended-properties" Target="/docProps/app.xml" Id="Re58ea81960774d2e" /><Relationship Type="http://schemas.openxmlformats.org/officeDocument/2006/relationships/officeDocument" Target="/ppt/presentation.xml" Id="R0a4616ecc14449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383cbadf5a48e4"/>
  </p:sldMasterIdLst>
  <p:notesMasterIdLst>
    <p:notesMasterId xmlns:r="http://schemas.openxmlformats.org/officeDocument/2006/relationships" r:id="R4150ab4e55e546e1"/>
  </p:notesMasterIdLst>
  <p:sldIdLst>
    <p:sldId xmlns:r="http://schemas.openxmlformats.org/officeDocument/2006/relationships" id="256" r:id="R9fc839f17dd241c9"/>
    <p:sldId xmlns:r="http://schemas.openxmlformats.org/officeDocument/2006/relationships" id="257" r:id="Re0cb38cbd4f945e0"/>
    <p:sldId xmlns:r="http://schemas.openxmlformats.org/officeDocument/2006/relationships" id="258" r:id="R83caf94fbaa442cc"/>
    <p:sldId xmlns:r="http://schemas.openxmlformats.org/officeDocument/2006/relationships" id="259" r:id="Ra30d40a41e454c13"/>
    <p:sldId xmlns:r="http://schemas.openxmlformats.org/officeDocument/2006/relationships" id="260" r:id="Rac869a9ca1c74dbd"/>
    <p:sldId xmlns:r="http://schemas.openxmlformats.org/officeDocument/2006/relationships" id="261" r:id="R024380111709431f"/>
    <p:sldId xmlns:r="http://schemas.openxmlformats.org/officeDocument/2006/relationships" id="262" r:id="Re27557d406544a1e"/>
    <p:sldId xmlns:r="http://schemas.openxmlformats.org/officeDocument/2006/relationships" id="263" r:id="Rbc60c0f3264f43e2"/>
    <p:sldId xmlns:r="http://schemas.openxmlformats.org/officeDocument/2006/relationships" id="264" r:id="R1983b97a18d74149"/>
    <p:sldId xmlns:r="http://schemas.openxmlformats.org/officeDocument/2006/relationships" id="265" r:id="R71f4daac9d914465"/>
    <p:sldId xmlns:r="http://schemas.openxmlformats.org/officeDocument/2006/relationships" id="266" r:id="R1f1a3566dbcb4ac1"/>
    <p:sldId xmlns:r="http://schemas.openxmlformats.org/officeDocument/2006/relationships" id="267" r:id="Rf490364e0cd149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34c03aad3b470a" /><Relationship Type="http://schemas.openxmlformats.org/officeDocument/2006/relationships/slideMaster" Target="/ppt/slideMasters/slideMaster1.xml" Id="R68383cbadf5a48e4" /><Relationship Type="http://schemas.openxmlformats.org/officeDocument/2006/relationships/notesMaster" Target="/ppt/notesMasters/notesMaster1.xml" Id="R4150ab4e55e546e1" /><Relationship Type="http://schemas.openxmlformats.org/officeDocument/2006/relationships/presProps" Target="/ppt/presProps.xml" Id="Rfaa0d37b28aa4b51" /><Relationship Type="http://schemas.openxmlformats.org/officeDocument/2006/relationships/viewProps" Target="/ppt/viewProps.xml" Id="R82ff2951ef924605" /><Relationship Type="http://schemas.openxmlformats.org/officeDocument/2006/relationships/tableStyles" Target="/ppt/tableStyles.xml" Id="R4ab0721947bc4a11" /><Relationship Type="http://schemas.openxmlformats.org/officeDocument/2006/relationships/slide" Target="/ppt/slides/slide1.xml" Id="R9fc839f17dd241c9" /><Relationship Type="http://schemas.openxmlformats.org/officeDocument/2006/relationships/slide" Target="/ppt/slides/slide2.xml" Id="Re0cb38cbd4f945e0" /><Relationship Type="http://schemas.openxmlformats.org/officeDocument/2006/relationships/slide" Target="/ppt/slides/slide3.xml" Id="R83caf94fbaa442cc" /><Relationship Type="http://schemas.openxmlformats.org/officeDocument/2006/relationships/slide" Target="/ppt/slides/slide4.xml" Id="Ra30d40a41e454c13" /><Relationship Type="http://schemas.openxmlformats.org/officeDocument/2006/relationships/slide" Target="/ppt/slides/slide5.xml" Id="Rac869a9ca1c74dbd" /><Relationship Type="http://schemas.openxmlformats.org/officeDocument/2006/relationships/slide" Target="/ppt/slides/slide6.xml" Id="R024380111709431f" /><Relationship Type="http://schemas.openxmlformats.org/officeDocument/2006/relationships/slide" Target="/ppt/slides/slide7.xml" Id="Re27557d406544a1e" /><Relationship Type="http://schemas.openxmlformats.org/officeDocument/2006/relationships/slide" Target="/ppt/slides/slide8.xml" Id="Rbc60c0f3264f43e2" /><Relationship Type="http://schemas.openxmlformats.org/officeDocument/2006/relationships/slide" Target="/ppt/slides/slide9.xml" Id="R1983b97a18d74149" /><Relationship Type="http://schemas.openxmlformats.org/officeDocument/2006/relationships/slide" Target="/ppt/slides/slide10.xml" Id="R71f4daac9d914465" /><Relationship Type="http://schemas.openxmlformats.org/officeDocument/2006/relationships/slide" Target="/ppt/slides/slide11.xml" Id="R1f1a3566dbcb4ac1" /><Relationship Type="http://schemas.openxmlformats.org/officeDocument/2006/relationships/slide" Target="/ppt/slides/slide12.xml" Id="Rf490364e0cd149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3ad0ff917a45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67da99261e458c" /><Relationship Type="http://schemas.openxmlformats.org/officeDocument/2006/relationships/notesMaster" Target="/ppt/notesMasters/notesMaster1.xml" Id="R18e659720f314a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b2dbdb830e4dea" /><Relationship Type="http://schemas.openxmlformats.org/officeDocument/2006/relationships/notesMaster" Target="/ppt/notesMasters/notesMaster1.xml" Id="R76c90655489f49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2a18ade37a41fb" /><Relationship Type="http://schemas.openxmlformats.org/officeDocument/2006/relationships/notesMaster" Target="/ppt/notesMasters/notesMaster1.xml" Id="R7f70ced842c449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2ad838c99448fd" /><Relationship Type="http://schemas.openxmlformats.org/officeDocument/2006/relationships/notesMaster" Target="/ppt/notesMasters/notesMaster1.xml" Id="Rf15cf6bde5c243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53276f89354571" /><Relationship Type="http://schemas.openxmlformats.org/officeDocument/2006/relationships/notesMaster" Target="/ppt/notesMasters/notesMaster1.xml" Id="R0f687257015b48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2e9876442a4be5" /><Relationship Type="http://schemas.openxmlformats.org/officeDocument/2006/relationships/notesMaster" Target="/ppt/notesMasters/notesMaster1.xml" Id="R9d859904f3584f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88d3371c6d4947" /><Relationship Type="http://schemas.openxmlformats.org/officeDocument/2006/relationships/notesMaster" Target="/ppt/notesMasters/notesMaster1.xml" Id="Rd62c296f0fb24d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c56427184c45cd" /><Relationship Type="http://schemas.openxmlformats.org/officeDocument/2006/relationships/notesMaster" Target="/ppt/notesMasters/notesMaster1.xml" Id="R2128c65bf31f42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abf7a97a067430c" /><Relationship Type="http://schemas.openxmlformats.org/officeDocument/2006/relationships/notesMaster" Target="/ppt/notesMasters/notesMaster1.xml" Id="R17e93f2f2eb140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71168e1a7a43da" /><Relationship Type="http://schemas.openxmlformats.org/officeDocument/2006/relationships/notesMaster" Target="/ppt/notesMasters/notesMaster1.xml" Id="Raf7dc8deeb734f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3a36539b6ad46e9" /><Relationship Type="http://schemas.openxmlformats.org/officeDocument/2006/relationships/notesMaster" Target="/ppt/notesMasters/notesMaster1.xml" Id="Reee5d72d36e64fd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aaa07f9abfe4835" /><Relationship Type="http://schemas.openxmlformats.org/officeDocument/2006/relationships/notesMaster" Target="/ppt/notesMasters/notesMaster1.xml" Id="Rfaccc5eeaff246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想定20秒。</a:t>
            </a:r>
          </a:p>
          <a:p xmlns:a="http://schemas.openxmlformats.org/drawingml/2006/main">
            <a:r>
              <a:t>今回はZhang 2019型（再現実装）の導入、仕組み、評価結果を報告する。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C:\Users\siomi\OneDrive\デスクトップ\第3回　カメラ班ミーティング.pptx（デザイン参照）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想定25秒。</a:t>
            </a:r>
          </a:p>
          <a:p xmlns:a="http://schemas.openxmlformats.org/drawingml/2006/main">
            <a:r>
              <a:t>今回再現したのは、Zhang、Pan、MaがSensorsに発表した2019年の論文。</a:t>
            </a:r>
          </a:p>
          <a:p xmlns:a="http://schemas.openxmlformats.org/drawingml/2006/main">
            <a:r>
              <a:t>宇宙機のドッキングリングを、画像上の楕円としてリアルタイム検出する手法を提案している。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https://doi.org/10.3390/s19235243</a:t>
            </a:r>
          </a:p>
          <a:p xmlns:a="http://schemas.openxmlformats.org/drawingml/2006/main">
            <a:r>
              <a:t>- https://pmc.ncbi.nlm.nih.gov/articles/PMC6928708/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想定65秒。</a:t>
            </a:r>
          </a:p>
          <a:p xmlns:a="http://schemas.openxmlformats.org/drawingml/2006/main">
            <a:r>
              <a:t>論文の目的は、宇宙機画像からドッキングリング内周の楕円パラメータを高速に求めること。</a:t>
            </a:r>
          </a:p>
          <a:p xmlns:a="http://schemas.openxmlformats.org/drawingml/2006/main">
            <a:r>
              <a:t>処理は、弧の抽出と分類、三弧の統合、楕円推定と検証の3段階。</a:t>
            </a:r>
          </a:p>
          <a:p xmlns:a="http://schemas.openxmlformats.org/drawingml/2006/main">
            <a:r>
              <a:t>分断された輪郭を連結成分ごとに扱うのではなく、幾何制約を満たす別々の弧を同じ楕円へまとめる点が特徴。</a:t>
            </a:r>
          </a:p>
          <a:p xmlns:a="http://schemas.openxmlformats.org/drawingml/2006/main">
            <a:r>
              <a:t>論文では実画像31枚で既存手法と比較し、平均処理時間27.38ミリ秒と報告している。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https://doi.org/10.3390/s19235243</a:t>
            </a:r>
          </a:p>
          <a:p xmlns:a="http://schemas.openxmlformats.org/drawingml/2006/main">
            <a:r>
              <a:t>- https://pmc.ncbi.nlm.nih.gov/articles/PMC6928708/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想定65秒。</a:t>
            </a:r>
          </a:p>
          <a:p xmlns:a="http://schemas.openxmlformats.org/drawingml/2006/main">
            <a:r>
              <a:t>論文の目的は、宇宙機画像からドッキングリング内周の楕円パラメータを高速に求めること。</a:t>
            </a:r>
          </a:p>
          <a:p xmlns:a="http://schemas.openxmlformats.org/drawingml/2006/main">
            <a:r>
              <a:t>処理は、弧の抽出と分類、三弧の統合、楕円推定と検証の3段階。</a:t>
            </a:r>
          </a:p>
          <a:p xmlns:a="http://schemas.openxmlformats.org/drawingml/2006/main">
            <a:r>
              <a:t>分断された輪郭を連結成分ごとに扱うのではなく、幾何制約を満たす別々の弧を同じ楕円へまとめる点が特徴。</a:t>
            </a:r>
          </a:p>
          <a:p xmlns:a="http://schemas.openxmlformats.org/drawingml/2006/main">
            <a:r>
              <a:t>論文では実画像31枚で既存手法と比較し、平均処理時間27.38ミリ秒と報告している。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https://doi.org/10.3390/s19235243</a:t>
            </a:r>
          </a:p>
          <a:p xmlns:a="http://schemas.openxmlformats.org/drawingml/2006/main">
            <a:r>
              <a:t>- https://pmc.ncbi.nlm.nih.gov/articles/PMC6928708/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想定65秒。</a:t>
            </a:r>
          </a:p>
          <a:p xmlns:a="http://schemas.openxmlformats.org/drawingml/2006/main">
            <a:r>
              <a:t>論文の目的は、宇宙機画像からドッキングリング内周の楕円パラメータを高速に求めること。</a:t>
            </a:r>
          </a:p>
          <a:p xmlns:a="http://schemas.openxmlformats.org/drawingml/2006/main">
            <a:r>
              <a:t>処理は、弧の抽出と分類、三弧の統合、楕円推定と検証の3段階。</a:t>
            </a:r>
          </a:p>
          <a:p xmlns:a="http://schemas.openxmlformats.org/drawingml/2006/main">
            <a:r>
              <a:t>分断された輪郭を連結成分ごとに扱うのではなく、幾何制約を満たす別々の弧を同じ楕円へまとめる点が特徴。</a:t>
            </a:r>
          </a:p>
          <a:p xmlns:a="http://schemas.openxmlformats.org/drawingml/2006/main">
            <a:r>
              <a:t>論文では実画像31枚で既存手法と比較し、平均処理時間27.38ミリ秒と報告している。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https://doi.org/10.3390/s19235243</a:t>
            </a:r>
          </a:p>
          <a:p xmlns:a="http://schemas.openxmlformats.org/drawingml/2006/main">
            <a:r>
              <a:t>- https://pmc.ncbi.nlm.nih.gov/articles/PMC6928708/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想定65秒。</a:t>
            </a:r>
          </a:p>
          <a:p xmlns:a="http://schemas.openxmlformats.org/drawingml/2006/main">
            <a:r>
              <a:t>論文の目的は、宇宙機画像からドッキングリング内周の楕円パラメータを高速に求めること。</a:t>
            </a:r>
          </a:p>
          <a:p xmlns:a="http://schemas.openxmlformats.org/drawingml/2006/main">
            <a:r>
              <a:t>処理は、弧の抽出と分類、三弧の統合、楕円推定と検証の3段階。</a:t>
            </a:r>
          </a:p>
          <a:p xmlns:a="http://schemas.openxmlformats.org/drawingml/2006/main">
            <a:r>
              <a:t>分断された輪郭を連結成分ごとに扱うのではなく、幾何制約を満たす別々の弧を同じ楕円へまとめる点が特徴。</a:t>
            </a:r>
          </a:p>
          <a:p xmlns:a="http://schemas.openxmlformats.org/drawingml/2006/main">
            <a:r>
              <a:t>論文では実画像31枚で既存手法と比較し、平均処理時間27.38ミリ秒と報告している。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https://doi.org/10.3390/s19235243</a:t>
            </a:r>
          </a:p>
          <a:p xmlns:a="http://schemas.openxmlformats.org/drawingml/2006/main">
            <a:r>
              <a:t>- https://pmc.ncbi.nlm.nih.gov/articles/PMC6928708/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想定85秒。</a:t>
            </a:r>
          </a:p>
          <a:p xmlns:a="http://schemas.openxmlformats.org/drawingml/2006/main">
            <a:r>
              <a:t>代表例は実際の再現実装から出力した中間処理。</a:t>
            </a:r>
          </a:p>
          <a:p xmlns:a="http://schemas.openxmlformats.org/drawingml/2006/main">
            <a:r>
              <a:t>CannyエッジにはPAF外周や放射状構造も含まれる。</a:t>
            </a:r>
          </a:p>
          <a:p xmlns:a="http://schemas.openxmlformats.org/drawingml/2006/main">
            <a:r>
              <a:t>勾配象限と凸性で弧を分類し、隣接象限の位置・接線条件を満たす組合せだけを残す。</a:t>
            </a:r>
          </a:p>
          <a:p xmlns:a="http://schemas.openxmlformats.org/drawingml/2006/main">
            <a:r>
              <a:t>三弧から別々に推定した中心が近い場合に統合し、最小二乗楕円を当てる。</a:t>
            </a:r>
          </a:p>
          <a:p xmlns:a="http://schemas.openxmlformats.org/drawingml/2006/main">
            <a:r>
              <a:t>代表例では推定とCG正解のIoUは0.995。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https://doi.org/10.3390/s19235243</a:t>
            </a:r>
          </a:p>
          <a:p xmlns:a="http://schemas.openxmlformats.org/drawingml/2006/main">
            <a:r>
              <a:t>- C:\Users\siomi\OneDrive\デスクトップ\Kenkyuu\paf_ring_detection\methods\zhang2019.py</a:t>
            </a:r>
          </a:p>
          <a:p xmlns:a="http://schemas.openxmlformats.org/drawingml/2006/main">
            <a:r>
              <a:t>- C:\Users\siomi\OneDrive\デスクトップ\Kenkyuu\.codex\tmp\camera_meeting_4_20260731\generated-assets\zhang_visual_metrics.json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想定60秒。</a:t>
            </a:r>
          </a:p>
          <a:p xmlns:a="http://schemas.openxmlformats.org/drawingml/2006/main">
            <a:r>
              <a:t>成果物では必ずZhang 2019型（再現実装）と表記する。</a:t>
            </a:r>
          </a:p>
          <a:p xmlns:a="http://schemas.openxmlformats.org/drawingml/2006/main">
            <a:r>
              <a:t>著者コードの移植ではなく、論文の処理構成をPythonで再現したもの。</a:t>
            </a:r>
          </a:p>
          <a:p xmlns:a="http://schemas.openxmlformats.org/drawingml/2006/main">
            <a:r>
              <a:t>まず論文と同様に、弧を分類・統合して候補楕円を作る。</a:t>
            </a:r>
          </a:p>
          <a:p xmlns:a="http://schemas.openxmlformats.org/drawingml/2006/main">
            <a:r>
              <a:t>PAF向けの最終選択は単純な2規則とした。</a:t>
            </a:r>
          </a:p>
          <a:p xmlns:a="http://schemas.openxmlformats.org/drawingml/2006/main">
            <a:r>
              <a:t>候補間に内包関係があれば最も内側を選び、内包関係がなければ全周支持率が最大の候補を選ぶ。</a:t>
            </a:r>
          </a:p>
          <a:p xmlns:a="http://schemas.openxmlformats.org/drawingml/2006/main">
            <a:r>
              <a:t>図の緑は楕円近傍にCannyエッジがある部分、赤はない部分で、緑の割合が全周支持率。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https://doi.org/10.3390/s19235243</a:t>
            </a:r>
          </a:p>
          <a:p xmlns:a="http://schemas.openxmlformats.org/drawingml/2006/main">
            <a:r>
              <a:t>- C:\Users\siomi\OneDrive\デスクトップ\Kenkyuu\paf_ring_detection\methods\zhang2019.py</a:t>
            </a:r>
          </a:p>
          <a:p xmlns:a="http://schemas.openxmlformats.org/drawingml/2006/main">
            <a:r>
              <a:t>- C:\Users\siomi\OneDrive\デスクトップ\Kenkyuu\paf_ring_detection\methods\zhang2019_paf.py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想定45秒。</a:t>
            </a:r>
          </a:p>
          <a:p xmlns:a="http://schemas.openxmlformats.org/drawingml/2006/main">
            <a:r>
              <a:t>評価は撮像診断1,456枚に一本化した。</a:t>
            </a:r>
          </a:p>
          <a:p xmlns:a="http://schemas.openxmlformats.org/drawingml/2006/main">
            <a:r>
              <a:t>基礎画像は学習に使っていない16のカメラ条件と、学習時にも使った7照明条件の組合せで112枚。</a:t>
            </a:r>
          </a:p>
          <a:p xmlns:a="http://schemas.openxmlformats.org/drawingml/2006/main">
            <a:r>
              <a:t>112枚それぞれに、Cleanと黒矩形・白飛び・黒つぶれの4強度を適用した。</a:t>
            </a:r>
          </a:p>
          <a:p xmlns:a="http://schemas.openxmlformats.org/drawingml/2006/main">
            <a:r>
              <a:t>3方式を同じ画像、同じ成功基準の楕円IoU 0.80以上で比較した。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C:\Users\siomi\OneDrive\デスクトップ\Kenkyuu\config\experiment.json</a:t>
            </a:r>
          </a:p>
          <a:p xmlns:a="http://schemas.openxmlformats.org/drawingml/2006/main">
            <a:r>
              <a:t>- C:\Users\siomi\OneDrive\デスクトップ\Kenkyuu\output\datasets\cnn_training\manifest.json</a:t>
            </a:r>
          </a:p>
          <a:p xmlns:a="http://schemas.openxmlformats.org/drawingml/2006/main">
            <a:r>
              <a:t>- C:\Users\siomi\OneDrive\デスクトップ\Kenkyuu\output\datasets\diagnostic_evaluation\manifest.json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想定55秒。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撮像診断1,456枚では、Zhang 2019型（再現実装）は693枚成功で47.6%。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Canny統制の46.8%とはほぼ同等。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CNN方式は74.5%で、Zhang型より26.9ポイント高い。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/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[Sources]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- C:\Users\siomi\OneDrive\デスクトップ\Kenkyuu\output\results\summary.json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- C:\Users\siomi\OneDrive\デスクトップ\Kenkyuu\output\results\diagnostic\canny_contour_ransac.csv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- C:\Users\siomi\OneDrive\デスクトップ\Kenkyuu\output\results\diagnostic\zhang2019.csv</a:t>
            </a:r>
          </a:p>
          <a:p xmlns:a="http://schemas.openxmlformats.org/drawingml/2006/main">
            <a:r>
              <a:rPr sz="1200" b="0" i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- C:\Users\siomi\OneDrive\デスクトップ\Kenkyuu\output\results\diagnostic\cnn_ransac.csv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想定65秒。</a:t>
            </a:r>
          </a:p>
          <a:p xmlns:a="http://schemas.openxmlformats.org/drawingml/2006/main">
            <a:r>
              <a:t>白飛びは明るくなっても境界勾配が残るため、Zhang型は強度100%でも83.9%。</a:t>
            </a:r>
          </a:p>
          <a:p xmlns:a="http://schemas.openxmlformats.org/drawingml/2006/main">
            <a:r>
              <a:t>黒矩形は50%で3.6%、75%以上で0%。隠れた側の弧が不足し、三弧条件を作れない。</a:t>
            </a:r>
          </a:p>
          <a:p xmlns:a="http://schemas.openxmlformats.org/drawingml/2006/main">
            <a:r>
              <a:t>黒つぶれも境界が背景へ埋まり、75%で20.5%、100%で8.9%。</a:t>
            </a:r>
          </a:p>
          <a:p xmlns:a="http://schemas.openxmlformats.org/drawingml/2006/main">
            <a:r>
              <a:t>幾何拘束は誤候補を減らせる一方、必要な弧そのものが消える条件には弱い。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C:\Users\siomi\OneDrive\デスクトップ\Kenkyuu\output\results\diagnostic\zhang2019.csv</a:t>
            </a:r>
          </a:p>
          <a:p xmlns:a="http://schemas.openxmlformats.org/drawingml/2006/main">
            <a:r>
              <a:t>- C:\Users\siomi\OneDrive\デスクトップ\Kenkyuu\output\results\diagnostic_by_severity.png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想定35秒。</a:t>
            </a:r>
          </a:p>
          <a:p xmlns:a="http://schemas.openxmlformats.org/drawingml/2006/main">
            <a:r>
              <a:t>評価は撮像診断に一本化した。</a:t>
            </a:r>
          </a:p>
          <a:p xmlns:a="http://schemas.openxmlformats.org/drawingml/2006/main">
            <a:r>
              <a:t>Zhang 2019型（再現実装）は47.6%で、Canny統制と同等、CNNより低かった。</a:t>
            </a:r>
          </a:p>
          <a:p xmlns:a="http://schemas.openxmlformats.org/drawingml/2006/main">
            <a:r>
              <a:t>遮蔽や黒つぶれで弧自体が不足すると、三弧統合が成立しない。</a:t>
            </a:r>
          </a:p>
          <a:p xmlns:a="http://schemas.openxmlformats.org/drawingml/2006/main">
            <a:r>
              <a:t>model_generalization_studyは今回の本編から外し、次回以降にCNNの未知条件一般化として扱う。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C:\Users\siomi\OneDrive\デスクトップ\Kenkyuu\.codex\PROJECT_CONTEXT.md</a:t>
            </a:r>
          </a:p>
          <a:p xmlns:a="http://schemas.openxmlformats.org/drawingml/2006/main">
            <a:r>
              <a:t>- C:\Users\siomi\OneDrive\デスクトップ\Kenkyuu\output\results\summary.json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7c80f63b504d3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c3ff65e09b447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a54051351f401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e414e373224d6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2549342a334fe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4fc5112e5d401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66f2dffe944c9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966733390b4ea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e2665e6ab348f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729d2d16ce48b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568765bd114593" /></Relationships>
</file>

<file path=ppt/slideLayouts/slideLayout1.xml><?xml version="1.0" encoding="utf-8"?>
<p:sldLayout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3E2A3AC3-9BBA-8E11-E099-ABFE7904E51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字幕 2">
            <a:extLst xmlns:a="http://schemas.openxmlformats.org/drawingml/2006/main">
              <a:ext uri="{FF2B5EF4-FFF2-40B4-BE49-F238E27FC236}">
                <a16:creationId xmlns:a16="http://schemas.microsoft.com/office/drawing/2014/main" id="{2AD1EB0B-5808-8E08-B140-60549B4797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マスター サブタイトルの書式設定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113CC2F8-E577-30F3-50DF-1061F65995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0E47049D-B2A7-07E9-6233-CCEFAF0A19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ACC314B8-9D46-580D-7BE9-953E7A5A46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AB0791A6-9BE5-6883-64C0-A28C3D91E7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コンテンツ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0474A667-7BE3-31FA-8225-EA15EFC0DF9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2C4FF7B8-5C3E-D427-D0E5-B4A3D136B2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FB37FFCD-B795-3C0B-43EF-8519A21CE0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CF98A99A-51B4-D55A-1505-F05648C924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2AF3F076-BB2C-8431-AD9A-B59AFFA894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5545BAF1-BB01-21BF-48B6-F056CB8D12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32AD9E4E-D262-C6B4-5C1B-07881E1F01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EDFA657B-3C63-50CC-C98B-EFE3E256D0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5B59865D-4826-7039-1633-3A01FA4F87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C64FADDA-495A-9346-8A7D-62748E3557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コンテンツ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0F244336-5629-6429-0292-3D693F9C0D7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AF45223F-AC19-E344-CE33-4A4A639E99A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日付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C5CEDD68-9452-8248-C931-3F0237000E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6" name="フッター 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C90BEB63-73A5-6F32-B21A-756D2283FA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スライド番号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8B590089-F415-334F-3A15-EC8D88371D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9597C9EC-63F6-E6E3-8588-92793357E3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2C374482-8965-D6A8-039C-72D8B3EFE4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5EF2B11B-40A7-E61A-A614-DB7B4CCDF22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テキスト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37B16BD6-6273-617F-B4E4-F189AC8F5B1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6" name="コンテンツ 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0EF30CE6-91F6-4442-47B6-2D3FDE71769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7" name="日付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7A9B2748-5946-96C3-3B11-AB7A851330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8" name="フッター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D1F0C39E-8B53-0368-BEE8-CAFDC75D91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スライド番号プレースホルダー 8">
            <a:extLst xmlns:a="http://schemas.openxmlformats.org/drawingml/2006/main">
              <a:ext uri="{FF2B5EF4-FFF2-40B4-BE49-F238E27FC236}">
                <a16:creationId xmlns:a16="http://schemas.microsoft.com/office/drawing/2014/main" id="{E56FCE75-29AC-3F9A-49EB-BA2C535A9D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77ADB89C-0C18-1E2F-C1EB-12A41095F6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日付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EF3DAFE2-E057-9515-4B31-C27746E7CB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E22E4690-9E97-7F7A-6303-30D23973FD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スライド番号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CC376770-65B7-FFA9-D6CD-B8633F5F78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付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0EA9B5CA-48EF-D03F-CCEB-E5D73F30C8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3" name="フッター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7CC048B7-12A3-FBDB-6A45-0967B3A88D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スライド番号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F989B800-1A14-93DA-E0FC-80A776E6D7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952CD4FE-6724-C35F-A0E3-018DA3AF7D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コンテンツ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2864462B-CEFC-9D53-3152-6E129D716C1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テキスト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90F3A98B-52C3-BFC2-76AD-2EB3A5895B7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FAE5F531-10FF-CE18-0FE6-E27E2B3701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6" name="フッター 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2CF86881-52B9-C9FA-0957-DEA77521D2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スライド番号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E6041AD4-B435-9451-B96D-C72E2D440E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C43D6106-9897-7CD8-D3C4-92AF681C92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図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68507A9B-3DCC-E4BB-FC3B-144204154F3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テキスト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A56ACDFD-C498-ECEC-E952-C509D42AA5F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0F728F9A-A276-90D0-EAC8-98133EBC01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6" name="フッター 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2678CC1D-0AB7-726F-A95A-8C3817D804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スライド番号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F4298B5D-256D-C98F-30B0-956EB1AC81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38AFCEC6-3140-ED8D-D9D8-E489E0B9A6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縦書き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EA85B470-FD5C-AA6D-A126-94A8737590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A2B3C9A1-CFB1-C9A7-3C9B-74A7807867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CB3D76AA-F206-C911-52EA-50042FCFF8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77A4500D-E8E0-D197-9FDD-D8933E19A5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縦書きタイトル 1">
            <a:extLst xmlns:a="http://schemas.openxmlformats.org/drawingml/2006/main">
              <a:ext uri="{FF2B5EF4-FFF2-40B4-BE49-F238E27FC236}">
                <a16:creationId xmlns:a16="http://schemas.microsoft.com/office/drawing/2014/main" id="{4CF19B41-2514-C11C-36B5-28ACFF37F3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縦書き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D055A9D3-BFE6-2AD5-CB55-3E580AF8B9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F0A5E879-2586-6EA7-CFC4-9AD8DA31D4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6A775971-8AB7-CB85-0BB4-3024D730B4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0FBEB35F-50AC-38DD-EBCD-0089B607DF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24a4c539a04f52" /><Relationship Type="http://schemas.openxmlformats.org/officeDocument/2006/relationships/slideLayout" Target="/ppt/slideLayouts/slideLayout1.xml" Id="Rb4b2c1d57134485f" /><Relationship Type="http://schemas.openxmlformats.org/officeDocument/2006/relationships/slideLayout" Target="/ppt/slideLayouts/slideLayout2.xml" Id="R16af5b3546e94b2f" /><Relationship Type="http://schemas.openxmlformats.org/officeDocument/2006/relationships/slideLayout" Target="/ppt/slideLayouts/slideLayout3.xml" Id="R85437ae088ca4353" /><Relationship Type="http://schemas.openxmlformats.org/officeDocument/2006/relationships/slideLayout" Target="/ppt/slideLayouts/slideLayout4.xml" Id="R4d39bff7c3314751" /><Relationship Type="http://schemas.openxmlformats.org/officeDocument/2006/relationships/slideLayout" Target="/ppt/slideLayouts/slideLayout5.xml" Id="Ra773783a389e425e" /><Relationship Type="http://schemas.openxmlformats.org/officeDocument/2006/relationships/slideLayout" Target="/ppt/slideLayouts/slideLayout6.xml" Id="R4fb817e2b5a14295" /><Relationship Type="http://schemas.openxmlformats.org/officeDocument/2006/relationships/slideLayout" Target="/ppt/slideLayouts/slideLayout7.xml" Id="R567ecd7808104a7e" /><Relationship Type="http://schemas.openxmlformats.org/officeDocument/2006/relationships/slideLayout" Target="/ppt/slideLayouts/slideLayout8.xml" Id="Rbf3ee6795c8f4711" /><Relationship Type="http://schemas.openxmlformats.org/officeDocument/2006/relationships/slideLayout" Target="/ppt/slideLayouts/slideLayout9.xml" Id="R0620f3ea36b845f4" /><Relationship Type="http://schemas.openxmlformats.org/officeDocument/2006/relationships/slideLayout" Target="/ppt/slideLayouts/slideLayout10.xml" Id="R09bbbeb7998149e1" /><Relationship Type="http://schemas.openxmlformats.org/officeDocument/2006/relationships/slideLayout" Target="/ppt/slideLayouts/slideLayout11.xml" Id="Rc6934dbaf95345d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B6658F7C-2114-F168-D611-E9406308EF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DA1EA05B-3107-A64A-0EAC-A52B6C331E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7364495-EED0-3EA3-F067-A3DC8FE4631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FAF3A6A7-622A-4406-BADF-9C84EB479777}" type="datetimeFigureOut">
              <a:t>2026/7/17</a:t>
            </a:fld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A61C3567-BEAB-29E8-8ACC-4D9457757B0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2D1AA8FB-328D-A5DC-BC86-6CD607FBD65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D5F6097-5CFC-49A7-8221-C8651BEB998E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b2c1d57134485f"/>
    <p:sldLayoutId xmlns:r="http://schemas.openxmlformats.org/officeDocument/2006/relationships" id="2147483650" r:id="R16af5b3546e94b2f"/>
    <p:sldLayoutId xmlns:r="http://schemas.openxmlformats.org/officeDocument/2006/relationships" id="2147483651" r:id="R85437ae088ca4353"/>
    <p:sldLayoutId xmlns:r="http://schemas.openxmlformats.org/officeDocument/2006/relationships" id="2147483652" r:id="R4d39bff7c3314751"/>
    <p:sldLayoutId xmlns:r="http://schemas.openxmlformats.org/officeDocument/2006/relationships" id="2147483653" r:id="Ra773783a389e425e"/>
    <p:sldLayoutId xmlns:r="http://schemas.openxmlformats.org/officeDocument/2006/relationships" id="2147483654" r:id="R4fb817e2b5a14295"/>
    <p:sldLayoutId xmlns:r="http://schemas.openxmlformats.org/officeDocument/2006/relationships" id="2147483655" r:id="R567ecd7808104a7e"/>
    <p:sldLayoutId xmlns:r="http://schemas.openxmlformats.org/officeDocument/2006/relationships" id="2147483656" r:id="Rbf3ee6795c8f4711"/>
    <p:sldLayoutId xmlns:r="http://schemas.openxmlformats.org/officeDocument/2006/relationships" id="2147483657" r:id="R0620f3ea36b845f4"/>
    <p:sldLayoutId xmlns:r="http://schemas.openxmlformats.org/officeDocument/2006/relationships" id="2147483658" r:id="R09bbbeb7998149e1"/>
    <p:sldLayoutId xmlns:r="http://schemas.openxmlformats.org/officeDocument/2006/relationships" id="2147483659" r:id="Rc6934dbaf95345d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53c2b3c87406c" /><Relationship Type="http://schemas.openxmlformats.org/officeDocument/2006/relationships/notesSlide" Target="/ppt/notesSlides/notesSlide1.xml" Id="R199e27c7b5d342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62146fe8947fd" /><Relationship Type="http://schemas.openxmlformats.org/officeDocument/2006/relationships/notesSlide" Target="/ppt/notesSlides/notesSlide2.xml" Id="R63a8c0ec854546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a59115f5345e2" /><Relationship Type="http://schemas.openxmlformats.org/officeDocument/2006/relationships/notesSlide" Target="/ppt/notesSlides/notesSlide3.xml" Id="R43a77c12107a4a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485e8495648ba" /><Relationship Type="http://schemas.openxmlformats.org/officeDocument/2006/relationships/notesSlide" Target="/ppt/notesSlides/notesSlide4.xml" Id="Rdcc1d783f6aa4c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2cfa78f994837" /><Relationship Type="http://schemas.openxmlformats.org/officeDocument/2006/relationships/notesSlide" Target="/ppt/notesSlides/notesSlide5.xml" Id="Rc4cb3cb9ba224a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29c3a3b20b42b2" /><Relationship Type="http://schemas.openxmlformats.org/officeDocument/2006/relationships/notesSlide" Target="/ppt/notesSlides/notesSlide6.xml" Id="R873cca3767f943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9c1d38d374442" /><Relationship Type="http://schemas.openxmlformats.org/officeDocument/2006/relationships/image" Target="/ppt/media/image.png" Id="Rb18d7598090a4f2d" /><Relationship Type="http://schemas.openxmlformats.org/officeDocument/2006/relationships/notesSlide" Target="/ppt/notesSlides/notesSlide7.xml" Id="R4b68acafad824d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ae3302ba6c43ba" /><Relationship Type="http://schemas.openxmlformats.org/officeDocument/2006/relationships/image" Target="/ppt/media/image2.png" Id="R8231c56fe2d4461a" /><Relationship Type="http://schemas.openxmlformats.org/officeDocument/2006/relationships/notesSlide" Target="/ppt/notesSlides/notesSlide8.xml" Id="Re88c038809df41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c1aa6b33941c6" /><Relationship Type="http://schemas.openxmlformats.org/officeDocument/2006/relationships/image" Target="/ppt/media/image3.png" Id="Ra8847764259340cc" /><Relationship Type="http://schemas.openxmlformats.org/officeDocument/2006/relationships/image" Target="/ppt/media/image4.png" Id="R66e45177412440ea" /><Relationship Type="http://schemas.openxmlformats.org/officeDocument/2006/relationships/image" Target="/ppt/media/image5.png" Id="R21f2521625de4afb" /><Relationship Type="http://schemas.openxmlformats.org/officeDocument/2006/relationships/image" Target="/ppt/media/image6.png" Id="Rfea8161f6a624c2c" /><Relationship Type="http://schemas.openxmlformats.org/officeDocument/2006/relationships/notesSlide" Target="/ppt/notesSlides/notesSlide9.xml" Id="R514f7500fe3249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aea3e89634861" /><Relationship Type="http://schemas.openxmlformats.org/officeDocument/2006/relationships/chart" Target="/ppt/slides/charts/chart1.xml" Id="R2cc8260471f949cb" /><Relationship Type="http://schemas.openxmlformats.org/officeDocument/2006/relationships/notesSlide" Target="/ppt/notesSlides/notesSlide10.xml" Id="Ra80cb17ece654e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1699f178d4907" /><Relationship Type="http://schemas.openxmlformats.org/officeDocument/2006/relationships/image" Target="/ppt/media/image7.png" Id="R4f9fdda1fde749ea" /><Relationship Type="http://schemas.openxmlformats.org/officeDocument/2006/relationships/notesSlide" Target="/ppt/notesSlides/notesSlide11.xml" Id="R39f3d6251e6444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d42ec0aa64a19" /><Relationship Type="http://schemas.openxmlformats.org/officeDocument/2006/relationships/notesSlide" Target="/ppt/notesSlides/notesSlide12.xml" Id="R04fbab4ea9be48c4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F2937"/>
                </a:solidFill>
              </a:rPr>
              <a:t>撮像診断 成功率（IoU ≥ 0.80）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F2937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Canny＋輪郭別RANSAC</c:v>
          </c:tx>
          <c:spPr>
            <a:solidFill xmlns:a="http://schemas.openxmlformats.org/drawingml/2006/main">
              <a:srgbClr val="F39C12"/>
            </a:solidFill>
          </c:spPr>
          <c:cat>
            <c:strLit>
              <c:ptCount val="1"/>
              <c:pt idx="0">
                <c:v/>
              </c:pt>
            </c:strLit>
          </c:cat>
          <c:val>
            <c:numLit>
              <c:formatCode>0.0"%"</c:formatCode>
              <c:ptCount val="1"/>
              <c:pt idx="0">
                <c:v>46.8</c:v>
              </c:pt>
            </c:numLit>
          </c:val>
        </c:ser>
        <c:ser>
          <c:idx val="1"/>
          <c:order val="1"/>
          <c:tx>
            <c:v>Zhang 2019型（再現実装）</c:v>
          </c:tx>
          <c:spPr>
            <a:solidFill xmlns:a="http://schemas.openxmlformats.org/drawingml/2006/main">
              <a:srgbClr val="6B7280"/>
            </a:solidFill>
          </c:spPr>
          <c:cat>
            <c:strLit>
              <c:ptCount val="1"/>
              <c:pt idx="0">
                <c:v/>
              </c:pt>
            </c:strLit>
          </c:cat>
          <c:val>
            <c:numLit>
              <c:formatCode>0.0"%"</c:formatCode>
              <c:ptCount val="1"/>
              <c:pt idx="0">
                <c:v>47.6</c:v>
              </c:pt>
            </c:numLit>
          </c:val>
        </c:ser>
        <c:ser>
          <c:idx val="2"/>
          <c:order val="2"/>
          <c:tx>
            <c:v>CNN＋RANSAC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1"/>
              <c:pt idx="0">
                <c:v/>
              </c:pt>
            </c:strLit>
          </c:cat>
          <c:val>
            <c:numLit>
              <c:formatCode>0.0"%"</c:formatCode>
              <c:ptCount val="1"/>
              <c:pt idx="0">
                <c:v>74.5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374151"/>
                    </a:solidFill>
                  </a:rPr>
                  <a:t>成功率（%）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374151"/>
                  </a:solidFill>
                </a:defRPr>
              </a:pPr>
            </a:p>
          </c:txPr>
        </c:title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9CA3A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563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374151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F06F4B5D-E5B3-38E8-A386-ABD099CC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F59DEA71-F78D-DBCD-26FA-C9635AFF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E014AA2A-C8D3-5B2D-ADBD-641918D5BB8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066800" y="945765"/>
            <a:ext cx="10058400" cy="2348042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>
                <a:latin typeface="ＭＳ ゴシック"/>
                <a:ea typeface="ＭＳ ゴシック"/>
                <a:cs typeface="ＭＳ ゴシック"/>
              </a:rPr>
              <a:t>第4回　カメラ班ミーティング</a:t>
            </a:r>
          </a:p>
        </p:txBody>
      </p:sp>
      <p:sp>
        <p:nvSpPr>
          <p:cNvPr id="3" name="字幕 2">
            <a:extLst xmlns:a="http://schemas.openxmlformats.org/drawingml/2006/main">
              <a:ext uri="{FF2B5EF4-FFF2-40B4-BE49-F238E27FC236}">
                <a16:creationId xmlns:a16="http://schemas.microsoft.com/office/drawing/2014/main" id="{74AE6774-3390-7CC7-6300-BA2FE1AF729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59887" y="4442737"/>
            <a:ext cx="100584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>
                <a:solidFill>
                  <a:schemeClr val="tx1"/>
                </a:solidFill>
                <a:latin typeface="ＭＳ ゴシック"/>
                <a:ea typeface="ＭＳ ゴシック"/>
                <a:cs typeface="ＭＳ ゴシック"/>
              </a:rPr>
              <a:t>2026年7月31日</a:t>
            </a:r>
          </a:p>
          <a:p xmlns:a="http://schemas.openxmlformats.org/drawingml/2006/main">
            <a:pPr algn="l">
              <a:buNone/>
            </a:pPr>
            <a:r>
              <a:rPr>
                <a:solidFill>
                  <a:schemeClr val="tx1"/>
                </a:solidFill>
                <a:latin typeface="ＭＳ ゴシック"/>
                <a:ea typeface="ＭＳ ゴシック"/>
                <a:cs typeface="ＭＳ ゴシック"/>
              </a:rPr>
              <a:t>B4　伊藤弘道</a:t>
            </a:r>
          </a:p>
        </p:txBody>
      </p:sp>
    </p:spTree>
    <p:extLst>
      <p:ext uri="{BB962C8B-B14F-4D97-AF65-F5344CB8AC3E}">
        <p14:creationId xmlns:p14="http://schemas.microsoft.com/office/powerpoint/2010/main" val="41981849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3D39671C-5506-F240-41C6-8492CDC2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FA798665-1515-87D0-B600-99A944F5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52E16C84-89CD-97CC-94FE-C55CC376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74856"/>
            <a:ext cx="11239500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/>
              <a:t>Real-Time Docking Ring Detection Based on the</a:t>
            </a:r>
          </a:p>
          <a:p xmlns:a="http://schemas.openxmlformats.org/drawingml/2006/main">
            <a:pPr algn="ctr">
              <a:buNone/>
            </a:pPr>
            <a:r>
              <a:rPr sz="3600"/>
              <a:t>Geometrical Shape for an On-Orbit Spacecraft</a:t>
            </a:r>
          </a:p>
          <a:p xmlns:a="http://schemas.openxmlformats.org/drawingml/2006/main">
            <a:pPr algn="ctr">
              <a:buNone/>
            </a:pPr>
            <a:r>
              <a:t/>
            </a:r>
          </a:p>
          <a:p xmlns:a="http://schemas.openxmlformats.org/drawingml/2006/main">
            <a:pPr algn="ctr">
              <a:buNone/>
            </a:pPr>
            <a:r>
              <a:rPr sz="3600">
                <a:latin typeface="ＭＳ ゴシック"/>
                <a:ea typeface="ＭＳ ゴシック"/>
                <a:cs typeface="ＭＳ ゴシック"/>
              </a:rPr>
              <a:t>Zhang, Pan, Ma／Sensors 2019</a:t>
            </a:r>
          </a:p>
          <a:p xmlns:a="http://schemas.openxmlformats.org/drawingml/2006/main">
            <a:pPr algn="ctr">
              <a:buNone/>
            </a:pPr>
            <a:r>
              <a:rPr sz="3600">
                <a:latin typeface="ＭＳ ゴシック"/>
                <a:ea typeface="ＭＳ ゴシック"/>
                <a:cs typeface="ＭＳ ゴシック"/>
              </a:rPr>
              <a:t>DOI: 10.3390/s19235243</a:t>
            </a:r>
          </a:p>
        </p:txBody>
      </p:sp>
    </p:spTree>
    <p:extLst>
      <p:ext uri="{BB962C8B-B14F-4D97-AF65-F5344CB8AC3E}">
        <p14:creationId xmlns:p14="http://schemas.microsoft.com/office/powerpoint/2010/main" val="123147192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2D3E9BDD-6A74-5038-1C1A-F4976503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CF9C13EB-857C-EC59-BDFA-3D2E3FDB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テキスト ボックス 6">
            <a:extLst xmlns:a="http://schemas.openxmlformats.org/drawingml/2006/main">
              <a:ext uri="{FF2B5EF4-FFF2-40B4-BE49-F238E27FC236}">
                <a16:creationId xmlns:a16="http://schemas.microsoft.com/office/drawing/2014/main" id="{3C4926D2-C1B0-5EE4-E5D1-58AAA440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5" y="581882"/>
            <a:ext cx="11239500" cy="584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/>
              <a:t>元論文はドッキングリング内周を3段階で検出</a:t>
            </a:r>
          </a:p>
        </p:txBody>
      </p:sp>
      <p:sp>
        <p:nvSpPr>
          <p:cNvPr id="8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7DA67508-8B7B-5EBD-17AE-8004BD03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10572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【目的】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宇宙機画像から、ドッキングリング内周の楕円パラメータを高速に求める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/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【処理】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① Cannyエッジから弧を抽出し、勾配方向と凸性で4象限に分類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② 位置・接線・中心の幾何制約を満たす三弧を同一楕円として統合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③ 最小二乗で楕円を推定し、弧点との適合度で候補を検証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t/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【論文中の評価】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実画像31枚で検出性能を比較し、平均処理時間27.38 msを報告</a:t>
            </a:r>
          </a:p>
        </p:txBody>
      </p:sp>
    </p:spTree>
    <p:extLst>
      <p:ext uri="{BB962C8B-B14F-4D97-AF65-F5344CB8AC3E}">
        <p14:creationId xmlns:p14="http://schemas.microsoft.com/office/powerpoint/2010/main" val="29923517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2D3E9BDD-6A74-5038-1C1A-F4976503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CF9C13EB-857C-EC59-BDFA-3D2E3FDB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テキスト ボックス 6">
            <a:extLst xmlns:a="http://schemas.openxmlformats.org/drawingml/2006/main">
              <a:ext uri="{FF2B5EF4-FFF2-40B4-BE49-F238E27FC236}">
                <a16:creationId xmlns:a16="http://schemas.microsoft.com/office/drawing/2014/main" id="{3C4926D2-C1B0-5EE4-E5D1-58AAA440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5" y="581882"/>
            <a:ext cx="11239500" cy="584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/>
              <a:t>元論文はドッキングリング内周を3段階で検出</a:t>
            </a:r>
          </a:p>
        </p:txBody>
      </p:sp>
      <p:sp>
        <p:nvSpPr>
          <p:cNvPr id="8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7DA67508-8B7B-5EBD-17AE-8004BD03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10572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【目的】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宇宙機画像から、ドッキングリング内周の楕円パラメータを高速に求める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/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【処理】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① Cannyエッジから弧を抽出し、勾配方向と凸性で4象限に分類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② 位置・接線・中心の幾何制約を満たす三弧を同一楕円として統合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③ 最小二乗で楕円を推定し、弧点との適合度で候補を検証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t/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【論文中の評価】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実画像31枚で検出性能を比較し、平均処理時間27.38 msを報告</a:t>
            </a:r>
          </a:p>
        </p:txBody>
      </p:sp>
    </p:spTree>
    <p:extLst>
      <p:ext uri="{BB962C8B-B14F-4D97-AF65-F5344CB8AC3E}">
        <p14:creationId xmlns:p14="http://schemas.microsoft.com/office/powerpoint/2010/main" val="29923517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2D3E9BDD-6A74-5038-1C1A-F4976503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CF9C13EB-857C-EC59-BDFA-3D2E3FDB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テキスト ボックス 6">
            <a:extLst xmlns:a="http://schemas.openxmlformats.org/drawingml/2006/main">
              <a:ext uri="{FF2B5EF4-FFF2-40B4-BE49-F238E27FC236}">
                <a16:creationId xmlns:a16="http://schemas.microsoft.com/office/drawing/2014/main" id="{3C4926D2-C1B0-5EE4-E5D1-58AAA440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5" y="581882"/>
            <a:ext cx="11239500" cy="584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/>
              <a:t>元論文はドッキングリング内周を3段階で検出</a:t>
            </a:r>
          </a:p>
        </p:txBody>
      </p:sp>
      <p:sp>
        <p:nvSpPr>
          <p:cNvPr id="8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7DA67508-8B7B-5EBD-17AE-8004BD03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10572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【目的】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宇宙機画像から、ドッキングリング内周の楕円パラメータを高速に求める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/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【処理】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① Cannyエッジから弧を抽出し、勾配方向と凸性で4象限に分類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② 位置・接線・中心の幾何制約を満たす三弧を同一楕円として統合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③ 最小二乗で楕円を推定し、弧点との適合度で候補を検証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t/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【論文中の評価】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実画像31枚で検出性能を比較し、平均処理時間27.38 msを報告</a:t>
            </a:r>
          </a:p>
        </p:txBody>
      </p:sp>
    </p:spTree>
    <p:extLst>
      <p:ext uri="{BB962C8B-B14F-4D97-AF65-F5344CB8AC3E}">
        <p14:creationId xmlns:p14="http://schemas.microsoft.com/office/powerpoint/2010/main" val="29923517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2D3E9BDD-6A74-5038-1C1A-F4976503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CF9C13EB-857C-EC59-BDFA-3D2E3FDB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テキスト ボックス 6">
            <a:extLst xmlns:a="http://schemas.openxmlformats.org/drawingml/2006/main">
              <a:ext uri="{FF2B5EF4-FFF2-40B4-BE49-F238E27FC236}">
                <a16:creationId xmlns:a16="http://schemas.microsoft.com/office/drawing/2014/main" id="{3C4926D2-C1B0-5EE4-E5D1-58AAA440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5" y="581882"/>
            <a:ext cx="11239500" cy="584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/>
              <a:t>元論文はドッキングリング内周を3段階で検出</a:t>
            </a:r>
          </a:p>
        </p:txBody>
      </p:sp>
      <p:sp>
        <p:nvSpPr>
          <p:cNvPr id="8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7DA67508-8B7B-5EBD-17AE-8004BD03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10572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【目的】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宇宙機画像から、ドッキングリング内周の楕円パラメータを高速に求める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/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【処理】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① Cannyエッジから弧を抽出し、勾配方向と凸性で4象限に分類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② 位置・接線・中心の幾何制約を満たす三弧を同一楕円として統合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③ 最小二乗で楕円を推定し、弧点との適合度で候補を検証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t/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【論文中の評価】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実画像31枚で検出性能を比較し、平均処理時間27.38 msを報告</a:t>
            </a:r>
          </a:p>
        </p:txBody>
      </p:sp>
    </p:spTree>
    <p:extLst>
      <p:ext uri="{BB962C8B-B14F-4D97-AF65-F5344CB8AC3E}">
        <p14:creationId xmlns:p14="http://schemas.microsoft.com/office/powerpoint/2010/main" val="29923517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CBDF7773-56A6-51E7-FB9D-D81B66C6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6AFB57FB-CF07-597E-F409-5133DF05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テキスト ボックス 6">
            <a:extLst xmlns:a="http://schemas.openxmlformats.org/drawingml/2006/main">
              <a:ext uri="{FF2B5EF4-FFF2-40B4-BE49-F238E27FC236}">
                <a16:creationId xmlns:a16="http://schemas.microsoft.com/office/drawing/2014/main" id="{A915CC3B-E80E-2CB4-2CD1-FB3F1A4C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5" y="783622"/>
            <a:ext cx="11239500" cy="584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/>
              <a:t>三弧統合で分断エッジから内周楕円を復元</a:t>
            </a:r>
          </a:p>
        </p:txBody>
      </p:sp>
      <p:pic>
        <p:nvPicPr>
          <p:cNvPr id="35" name="図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8d7598090a4f2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68710" y="2093522"/>
            <a:ext cx="11454581" cy="2424122"/>
          </a:xfrm>
          <a:prstGeom xmlns:a="http://schemas.openxmlformats.org/drawingml/2006/main" prst="rect">
            <a:avLst/>
          </a:prstGeom>
        </p:spPr>
      </p:pic>
      <p:sp>
        <p:nvSpPr>
          <p:cNvPr id="28" name="テキスト ボックス 27">
            <a:extLst xmlns:a="http://schemas.openxmlformats.org/drawingml/2006/main">
              <a:ext uri="{FF2B5EF4-FFF2-40B4-BE49-F238E27FC236}">
                <a16:creationId xmlns:a16="http://schemas.microsoft.com/office/drawing/2014/main" id="{5F6B5D1C-350B-C163-7F30-62B3CDAB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956" y="1568605"/>
            <a:ext cx="500008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400"/>
              <a:t>再現実装の中間処理（代表例）</a:t>
            </a:r>
          </a:p>
        </p:txBody>
      </p:sp>
      <p:sp>
        <p:nvSpPr>
          <p:cNvPr id="30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C7F838DF-5CE1-D6CA-3EF4-EB082EB3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710" y="4819816"/>
            <a:ext cx="9119804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・Canny後、勾配象限と凸性が整合する弧だけを残す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・位置・接線制約と中心整合により、同一楕円らしい三弧を統合</a:t>
            </a:r>
          </a:p>
        </p:txBody>
      </p:sp>
      <p:sp>
        <p:nvSpPr>
          <p:cNvPr id="3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EDE4D0C7-8FB5-6F22-90D8-E23A1610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710" y="5623399"/>
            <a:ext cx="8598829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・統合弧へ最小二乗楕円を当て、中心光線距離による適合点率で検証</a:t>
            </a:r>
          </a:p>
        </p:txBody>
      </p:sp>
    </p:spTree>
    <p:extLst>
      <p:ext uri="{BB962C8B-B14F-4D97-AF65-F5344CB8AC3E}">
        <p14:creationId xmlns:p14="http://schemas.microsoft.com/office/powerpoint/2010/main" val="257924034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6E41878F-CB80-CF99-7A7B-2E0D6B43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32F5581A-C0E1-438D-B89D-FBFA9242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テキスト ボックス 6">
            <a:extLst xmlns:a="http://schemas.openxmlformats.org/drawingml/2006/main">
              <a:ext uri="{FF2B5EF4-FFF2-40B4-BE49-F238E27FC236}">
                <a16:creationId xmlns:a16="http://schemas.microsoft.com/office/drawing/2014/main" id="{BEE4E29B-8219-47F0-EFF9-5F8784A5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5" y="783622"/>
            <a:ext cx="11239500" cy="584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/>
              <a:t>Zhang 2019型（再現実装）は候補生成＋単純な最終選択</a:t>
            </a:r>
          </a:p>
        </p:txBody>
      </p:sp>
      <p:pic>
        <p:nvPicPr>
          <p:cNvPr id="20" name="図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31c56fe2d4461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57250" y="1830038"/>
            <a:ext cx="10382250" cy="2171700"/>
          </a:xfrm>
          <a:prstGeom xmlns:a="http://schemas.openxmlformats.org/drawingml/2006/main" prst="rect">
            <a:avLst/>
          </a:prstGeom>
        </p:spPr>
      </p:pic>
      <p:sp>
        <p:nvSpPr>
          <p:cNvPr id="11" name="テキスト ボックス 10">
            <a:extLst xmlns:a="http://schemas.openxmlformats.org/drawingml/2006/main">
              <a:ext uri="{FF2B5EF4-FFF2-40B4-BE49-F238E27FC236}">
                <a16:creationId xmlns:a16="http://schemas.microsoft.com/office/drawing/2014/main" id="{7ACF146E-6EB2-1EDF-776F-31898964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368362"/>
            <a:ext cx="9144000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2400"/>
              <a:t>内包関係があれば内側、なければ全周支持率最大</a:t>
            </a:r>
          </a:p>
        </p:txBody>
      </p:sp>
      <p:sp>
        <p:nvSpPr>
          <p:cNvPr id="13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F6E0B222-7219-6A77-A12A-AEE40210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510" y="4322407"/>
            <a:ext cx="4017446" cy="101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① 候補生成（論文）：Canny → 弧分類 → 三弧統合 → 楕円当てはめ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② 最終選択（追加）：内包あり→内側／なし→全周支持率最大</a:t>
            </a:r>
          </a:p>
        </p:txBody>
      </p:sp>
      <p:sp>
        <p:nvSpPr>
          <p:cNvPr id="15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1E03CBAC-19D5-7CC7-9627-89892B32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510" y="5489601"/>
            <a:ext cx="6040436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1600">
                <a:latin typeface="Yu Gothic"/>
                <a:ea typeface="Yu Gothic"/>
                <a:cs typeface="Yu Gothic"/>
              </a:rPr>
              <a:t>著者コードの移植ではなく、論文の処理構成を参考にしたPython再現実装。</a:t>
            </a:r>
          </a:p>
        </p:txBody>
      </p:sp>
    </p:spTree>
    <p:extLst>
      <p:ext uri="{BB962C8B-B14F-4D97-AF65-F5344CB8AC3E}">
        <p14:creationId xmlns:p14="http://schemas.microsoft.com/office/powerpoint/2010/main" val="116807076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D1812B37-ADBF-8969-05AC-F5F6948F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C646147B-C52A-607E-CEC8-3D3E2DB9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テキスト ボックス 6">
            <a:extLst xmlns:a="http://schemas.openxmlformats.org/drawingml/2006/main">
              <a:ext uri="{FF2B5EF4-FFF2-40B4-BE49-F238E27FC236}">
                <a16:creationId xmlns:a16="http://schemas.microsoft.com/office/drawing/2014/main" id="{D3F1A647-BDE1-6F21-BBA2-B887678D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5" y="581882"/>
            <a:ext cx="11049000" cy="584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/>
              <a:t>撮像診断1,456枚で3方式を同条件比較</a:t>
            </a:r>
          </a:p>
        </p:txBody>
      </p:sp>
      <p:pic>
        <p:nvPicPr>
          <p:cNvPr id="53" name="図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847764259340c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485805" y="1511658"/>
            <a:ext cx="1963984" cy="1963984"/>
          </a:xfrm>
          <a:prstGeom xmlns:a="http://schemas.openxmlformats.org/drawingml/2006/main" prst="rect">
            <a:avLst/>
          </a:prstGeom>
        </p:spPr>
      </p:pic>
      <p:pic>
        <p:nvPicPr>
          <p:cNvPr id="54" name="図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e45177412440e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9211893" y="1544087"/>
            <a:ext cx="1385021" cy="1385021"/>
          </a:xfrm>
          <a:prstGeom xmlns:a="http://schemas.openxmlformats.org/drawingml/2006/main" prst="rect">
            <a:avLst/>
          </a:prstGeom>
        </p:spPr>
      </p:pic>
      <p:pic>
        <p:nvPicPr>
          <p:cNvPr id="55" name="図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f2521625de4af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97435" y="1544734"/>
            <a:ext cx="1385021" cy="1385021"/>
          </a:xfrm>
          <a:prstGeom xmlns:a="http://schemas.openxmlformats.org/drawingml/2006/main" prst="rect">
            <a:avLst/>
          </a:prstGeom>
        </p:spPr>
      </p:pic>
      <p:pic>
        <p:nvPicPr>
          <p:cNvPr id="56" name="図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a8161f6a624c2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782977" y="1544734"/>
            <a:ext cx="1385021" cy="1385021"/>
          </a:xfrm>
          <a:prstGeom xmlns:a="http://schemas.openxmlformats.org/drawingml/2006/main" prst="rect">
            <a:avLst/>
          </a:prstGeom>
        </p:spPr>
      </p:pic>
      <p:sp>
        <p:nvSpPr>
          <p:cNvPr id="24" name="テキスト ボックス 23">
            <a:extLst xmlns:a="http://schemas.openxmlformats.org/drawingml/2006/main">
              <a:ext uri="{FF2B5EF4-FFF2-40B4-BE49-F238E27FC236}">
                <a16:creationId xmlns:a16="http://schemas.microsoft.com/office/drawing/2014/main" id="{9B12733B-36EB-D1A5-A669-CD5276C9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2321" y="1174755"/>
            <a:ext cx="6463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黒矩形</a:t>
            </a:r>
          </a:p>
        </p:txBody>
      </p:sp>
      <p:sp>
        <p:nvSpPr>
          <p:cNvPr id="26" name="テキスト ボックス 25">
            <a:extLst xmlns:a="http://schemas.openxmlformats.org/drawingml/2006/main">
              <a:ext uri="{FF2B5EF4-FFF2-40B4-BE49-F238E27FC236}">
                <a16:creationId xmlns:a16="http://schemas.microsoft.com/office/drawing/2014/main" id="{B276B483-0750-3A69-4596-11160FF3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615" y="3549190"/>
            <a:ext cx="2584362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200"/>
              <a:t>学習に未使用のカメラ条件・既知照明</a:t>
            </a:r>
          </a:p>
        </p:txBody>
      </p:sp>
      <p:sp>
        <p:nvSpPr>
          <p:cNvPr id="28" name="テキスト ボックス 27">
            <a:extLst xmlns:a="http://schemas.openxmlformats.org/drawingml/2006/main">
              <a:ext uri="{FF2B5EF4-FFF2-40B4-BE49-F238E27FC236}">
                <a16:creationId xmlns:a16="http://schemas.microsoft.com/office/drawing/2014/main" id="{2F06B9D7-B591-1EB2-43EB-78F0859A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382" y="1196798"/>
            <a:ext cx="133882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Clean</a:t>
            </a:r>
          </a:p>
        </p:txBody>
      </p:sp>
      <p:sp>
        <p:nvSpPr>
          <p:cNvPr id="30" name="テキスト ボックス 29">
            <a:extLst xmlns:a="http://schemas.openxmlformats.org/drawingml/2006/main">
              <a:ext uri="{FF2B5EF4-FFF2-40B4-BE49-F238E27FC236}">
                <a16:creationId xmlns:a16="http://schemas.microsoft.com/office/drawing/2014/main" id="{AC19918C-97FE-8094-877F-FADAC6A8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1363" y="1166666"/>
            <a:ext cx="87716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白飛び</a:t>
            </a:r>
          </a:p>
        </p:txBody>
      </p:sp>
      <p:sp>
        <p:nvSpPr>
          <p:cNvPr id="32" name="テキスト ボックス 31">
            <a:extLst xmlns:a="http://schemas.openxmlformats.org/drawingml/2006/main">
              <a:ext uri="{FF2B5EF4-FFF2-40B4-BE49-F238E27FC236}">
                <a16:creationId xmlns:a16="http://schemas.microsoft.com/office/drawing/2014/main" id="{8E32EC85-0F98-E758-CA69-970192B3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0405" y="1166666"/>
            <a:ext cx="110799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黒つぶれ</a:t>
            </a:r>
          </a:p>
        </p:txBody>
      </p:sp>
      <p:sp>
        <p:nvSpPr>
          <p:cNvPr id="33" name="四角形: 角を丸くする 32">
            <a:extLst xmlns:a="http://schemas.openxmlformats.org/drawingml/2006/main">
              <a:ext uri="{FF2B5EF4-FFF2-40B4-BE49-F238E27FC236}">
                <a16:creationId xmlns:a16="http://schemas.microsoft.com/office/drawing/2014/main" id="{23735D3F-8105-E3F1-BEEC-D964F296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3849" y="1716724"/>
            <a:ext cx="1272663" cy="4578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tx2">
              <a:lumMod val="25000"/>
              <a:lumOff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</a:rPr>
              <a:t>基礎 112枚</a:t>
            </a:r>
          </a:p>
        </p:txBody>
      </p:sp>
      <p:sp>
        <p:nvSpPr>
          <p:cNvPr id="35" name="四角形: 角を丸くする 34">
            <a:extLst xmlns:a="http://schemas.openxmlformats.org/drawingml/2006/main">
              <a:ext uri="{FF2B5EF4-FFF2-40B4-BE49-F238E27FC236}">
                <a16:creationId xmlns:a16="http://schemas.microsoft.com/office/drawing/2014/main" id="{4BE341B5-F6DD-BCC3-5A61-0F2F61B7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3849" y="2309634"/>
            <a:ext cx="1272663" cy="46181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tx2">
              <a:lumMod val="25000"/>
              <a:lumOff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</a:rPr>
              <a:t>診断 1,456枚</a:t>
            </a:r>
          </a:p>
        </p:txBody>
      </p:sp>
      <p:sp>
        <p:nvSpPr>
          <p:cNvPr id="37" name="四角形: 角を丸くする 36">
            <a:extLst xmlns:a="http://schemas.openxmlformats.org/drawingml/2006/main">
              <a:ext uri="{FF2B5EF4-FFF2-40B4-BE49-F238E27FC236}">
                <a16:creationId xmlns:a16="http://schemas.microsoft.com/office/drawing/2014/main" id="{D9C00DB4-A4A9-4368-B395-31FEF993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3849" y="2906537"/>
            <a:ext cx="1272663" cy="46181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tx2">
              <a:lumMod val="25000"/>
              <a:lumOff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chemeClr val="tx1"/>
                </a:solidFill>
              </a:rPr>
              <a:t>IoU ≥ 0.80</a:t>
            </a:r>
          </a:p>
        </p:txBody>
      </p:sp>
      <p:sp>
        <p:nvSpPr>
          <p:cNvPr id="43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C2F7EC8F-938F-D5C9-6FFF-CBBB5127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004" y="3835843"/>
            <a:ext cx="4742004" cy="101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【基礎画像】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・学習に未使用の16カメラ条件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・既知の7照明条件</a:t>
            </a:r>
          </a:p>
        </p:txBody>
      </p:sp>
      <p:sp>
        <p:nvSpPr>
          <p:cNvPr id="45" name="テキスト ボックス 2">
            <a:extLst xmlns:a="http://schemas.openxmlformats.org/drawingml/2006/main">
              <a:ext uri="{FF2B5EF4-FFF2-40B4-BE49-F238E27FC236}">
                <a16:creationId xmlns:a16="http://schemas.microsoft.com/office/drawing/2014/main" id="{EEBB221E-D462-6241-E436-6FC7CD0A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84" y="3826189"/>
            <a:ext cx="5258171" cy="10156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【撮像劣化】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・Clean＋3効果×4強度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000">
                <a:latin typeface="Yu Gothic"/>
                <a:ea typeface="Yu Gothic"/>
                <a:cs typeface="Yu Gothic"/>
              </a:rPr>
              <a:t>・各効果・各強度112枚</a:t>
            </a:r>
          </a:p>
        </p:txBody>
      </p:sp>
    </p:spTree>
    <p:extLst>
      <p:ext uri="{BB962C8B-B14F-4D97-AF65-F5344CB8AC3E}">
        <p14:creationId xmlns:p14="http://schemas.microsoft.com/office/powerpoint/2010/main" val="298059851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840160D6-9D3B-7423-AD06-29A385B4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789C6FC1-D7E5-3EF8-1907-F62C1225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テキスト ボックス 6">
            <a:extLst xmlns:a="http://schemas.openxmlformats.org/drawingml/2006/main">
              <a:ext uri="{FF2B5EF4-FFF2-40B4-BE49-F238E27FC236}">
                <a16:creationId xmlns:a16="http://schemas.microsoft.com/office/drawing/2014/main" id="{04B5FBB5-B3CF-A2F0-3A3F-F51A2567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5" y="783622"/>
            <a:ext cx="11239500" cy="584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/>
              <a:t>撮像診断：Zhang 2019型（再現実装）47.6%、CNN 74.5%</a:t>
            </a:r>
          </a:p>
        </p:txBody>
      </p:sp>
      <p:sp>
        <p:nvSpPr>
          <p:cNvPr id="5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5E6428CC-E494-5ADC-1A26-981BFC7E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45" y="2040689"/>
            <a:ext cx="4325223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【1,456枚】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Zhang 2019型（再現実装）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693枚＝47.6%／Canny 46.8%</a:t>
            </a:r>
          </a:p>
        </p:txBody>
      </p:sp>
      <p:sp>
        <p:nvSpPr>
          <p:cNvPr id="12" name="テキスト ボックス 2">
            <a:extLst xmlns:a="http://schemas.openxmlformats.org/drawingml/2006/main">
              <a:ext uri="{FF2B5EF4-FFF2-40B4-BE49-F238E27FC236}">
                <a16:creationId xmlns:a16="http://schemas.microsoft.com/office/drawing/2014/main" id="{200278F5-5BDF-6B4A-16E8-4B3DF6E5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45" y="3619559"/>
            <a:ext cx="5054589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CNN 74.5%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→ 再現実装はCannyと同等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　</a:t>
            </a:r>
            <a:r>
              <a:rPr sz="2400">
                <a:latin typeface="Yu Gothic"/>
                <a:ea typeface="Yu Gothic"/>
                <a:cs typeface="Yu Gothic"/>
              </a:rPr>
              <a:t>CNNより26.9pt低い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5519810" y="1623221"/>
          <a:ext xmlns:a="http://schemas.openxmlformats.org/drawingml/2006/main" cx="6422808" cy="361155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cc8260471f949cb"/>
          </a:graphicData>
        </a:graphic>
      </p:graphicFrame>
    </p:spTree>
    <p:extLst>
      <p:ext uri="{BB962C8B-B14F-4D97-AF65-F5344CB8AC3E}">
        <p14:creationId xmlns:p14="http://schemas.microsoft.com/office/powerpoint/2010/main" val="348097079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771C022E-8A6D-D860-62C4-E82D91D2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2ABD56A1-D136-23BE-FA40-26916958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テキスト ボックス 6">
            <a:extLst xmlns:a="http://schemas.openxmlformats.org/drawingml/2006/main">
              <a:ext uri="{FF2B5EF4-FFF2-40B4-BE49-F238E27FC236}">
                <a16:creationId xmlns:a16="http://schemas.microsoft.com/office/drawing/2014/main" id="{DF0564DD-CCF5-2C5F-3CEE-04511364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5" y="783622"/>
            <a:ext cx="11239500" cy="584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/>
              <a:t>白飛びに強く、遮蔽と黒つぶれに弱い</a:t>
            </a:r>
          </a:p>
        </p:txBody>
      </p:sp>
      <p:sp>
        <p:nvSpPr>
          <p:cNvPr id="21" name="テキスト ボックス 20">
            <a:extLst xmlns:a="http://schemas.openxmlformats.org/drawingml/2006/main">
              <a:ext uri="{FF2B5EF4-FFF2-40B4-BE49-F238E27FC236}">
                <a16:creationId xmlns:a16="http://schemas.microsoft.com/office/drawing/2014/main" id="{82085C5B-D0DA-DA20-1663-7DD0BA27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5" y="5410200"/>
            <a:ext cx="1133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・白飛び100%でも83.9%　・黒矩形50%で3.6%、75%以上で0%</a:t>
            </a:r>
          </a:p>
          <a:p xmlns:a="http://schemas.openxmlformats.org/drawingml/2006/main">
            <a:r>
              <a:t>・</a:t>
            </a:r>
            <a:r>
              <a:t>黒つぶれ75%で20.5%</a:t>
            </a:r>
            <a:r>
              <a:t>、100%で8.9% → 弧の消失が支配的</a:t>
            </a:r>
          </a:p>
        </p:txBody>
      </p:sp>
      <p:pic>
        <p:nvPicPr>
          <p:cNvPr id="27" name="図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9fdda1fde749e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264694" y="2055266"/>
            <a:ext cx="11662611" cy="310477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90976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正方形/長方形 3">
            <a:extLst xmlns:a="http://schemas.openxmlformats.org/drawingml/2006/main">
              <a:ext uri="{FF2B5EF4-FFF2-40B4-BE49-F238E27FC236}">
                <a16:creationId xmlns:a16="http://schemas.microsoft.com/office/drawing/2014/main" id="{EFEEEA7F-9EA7-343D-6CD1-532B15C6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3635DF84-E770-DECE-AEAD-AED7C1E6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96182"/>
            <a:ext cx="12192000" cy="46181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テキスト ボックス 6">
            <a:extLst xmlns:a="http://schemas.openxmlformats.org/drawingml/2006/main">
              <a:ext uri="{FF2B5EF4-FFF2-40B4-BE49-F238E27FC236}">
                <a16:creationId xmlns:a16="http://schemas.microsoft.com/office/drawing/2014/main" id="{DA9B0679-3F6B-E09F-9FFB-0771D614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5" y="783622"/>
            <a:ext cx="7620000" cy="5847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200"/>
              <a:t>まとめと次回以降</a:t>
            </a:r>
          </a:p>
        </p:txBody>
      </p:sp>
      <p:sp>
        <p:nvSpPr>
          <p:cNvPr id="3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C29DBFF2-3DAC-212D-F433-9494C81D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784" y="1722576"/>
            <a:ext cx="9081305" cy="193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【今回】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・Zhang 2019型（再現実装）を導入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・</a:t>
            </a:r>
            <a:r>
              <a:rPr sz="2400">
                <a:latin typeface="Yu Gothic"/>
                <a:ea typeface="Yu Gothic"/>
                <a:cs typeface="Yu Gothic"/>
              </a:rPr>
              <a:t>撮像診断で47.6%（Canny 46.8%、CNN 74.5%）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・遮蔽／黒つぶれでは弧不足が主な失敗要因</a:t>
            </a:r>
          </a:p>
        </p:txBody>
      </p:sp>
      <p:sp>
        <p:nvSpPr>
          <p:cNvPr id="8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2A373B9F-AE19-06CE-6ED4-8BFE17A8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784" y="3752540"/>
            <a:ext cx="8470589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【次回以降】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・model_generalization_studyで未知条件への一般化を検証</a:t>
            </a:r>
          </a:p>
          <a:p xmlns:a="http://schemas.openxmlformats.org/drawingml/2006/main">
            <a:pPr>
              <a:buNone/>
              <a:defRPr>
                <a:latin typeface="Yu Gothic"/>
                <a:ea typeface="Yu Gothic"/>
                <a:cs typeface="Yu Gothic"/>
              </a:defRPr>
            </a:pPr>
            <a:r>
              <a:rPr sz="2400">
                <a:latin typeface="Yu Gothic"/>
                <a:ea typeface="Yu Gothic"/>
                <a:cs typeface="Yu Gothic"/>
              </a:rPr>
              <a:t>・両方式の失敗例を条件別に整理</a:t>
            </a:r>
          </a:p>
        </p:txBody>
      </p:sp>
    </p:spTree>
    <p:extLst>
      <p:ext uri="{BB962C8B-B14F-4D97-AF65-F5344CB8AC3E}">
        <p14:creationId xmlns:p14="http://schemas.microsoft.com/office/powerpoint/2010/main" val="3945427089"/>
      </p:ext>
    </p:extLst>
  </p:cSld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2026-07-30T19:50:10.9510000Z</dcterms:created>
  <dcterms:modified xsi:type="dcterms:W3CDTF">2026-07-30T19:50:10.9510000Z</dcterms:modified>
</coreProperties>
</file>