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8d28401a44479" /><Relationship Type="http://schemas.openxmlformats.org/officeDocument/2006/relationships/extended-properties" Target="/docProps/app.xml" Id="R10577aa0fb654658" /><Relationship Type="http://schemas.openxmlformats.org/officeDocument/2006/relationships/officeDocument" Target="/ppt/presentation.xml" Id="Rf7db17d880e54f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afb3b0e5640c0"/>
  </p:sldMasterIdLst>
  <p:notesMasterIdLst>
    <p:notesMasterId xmlns:r="http://schemas.openxmlformats.org/officeDocument/2006/relationships" r:id="R07fbcc8f6c784419"/>
  </p:notesMasterIdLst>
  <p:sldIdLst>
    <p:sldId xmlns:r="http://schemas.openxmlformats.org/officeDocument/2006/relationships" id="256" r:id="R8b5ddb2667ca4260"/>
    <p:sldId xmlns:r="http://schemas.openxmlformats.org/officeDocument/2006/relationships" id="257" r:id="Ra2619706d27a42cf"/>
    <p:sldId xmlns:r="http://schemas.openxmlformats.org/officeDocument/2006/relationships" id="258" r:id="R58b17fab68594c44"/>
    <p:sldId xmlns:r="http://schemas.openxmlformats.org/officeDocument/2006/relationships" id="259" r:id="Rfc10de5295bc48f6"/>
    <p:sldId xmlns:r="http://schemas.openxmlformats.org/officeDocument/2006/relationships" id="260" r:id="Re1c68b9a98e14591"/>
    <p:sldId xmlns:r="http://schemas.openxmlformats.org/officeDocument/2006/relationships" id="261" r:id="R996d6319b2ef44c1"/>
    <p:sldId xmlns:r="http://schemas.openxmlformats.org/officeDocument/2006/relationships" id="262" r:id="Reb4ceabb418241ad"/>
    <p:sldId xmlns:r="http://schemas.openxmlformats.org/officeDocument/2006/relationships" id="263" r:id="Rf272156ecd4e4ada"/>
    <p:sldId xmlns:r="http://schemas.openxmlformats.org/officeDocument/2006/relationships" id="264" r:id="R52a0c5e36c1246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e16ce96db4f2d" /><Relationship Type="http://schemas.openxmlformats.org/officeDocument/2006/relationships/slideMaster" Target="/ppt/slideMasters/slideMaster1.xml" Id="Racbafb3b0e5640c0" /><Relationship Type="http://schemas.openxmlformats.org/officeDocument/2006/relationships/notesMaster" Target="/ppt/notesMasters/notesMaster1.xml" Id="R07fbcc8f6c784419" /><Relationship Type="http://schemas.openxmlformats.org/officeDocument/2006/relationships/presProps" Target="/ppt/presProps.xml" Id="R723f63d52dab4dd2" /><Relationship Type="http://schemas.openxmlformats.org/officeDocument/2006/relationships/viewProps" Target="/ppt/viewProps.xml" Id="R1cfafdc664a14b3b" /><Relationship Type="http://schemas.openxmlformats.org/officeDocument/2006/relationships/tableStyles" Target="/ppt/tableStyles.xml" Id="R658833b7e072477a" /><Relationship Type="http://schemas.openxmlformats.org/officeDocument/2006/relationships/slide" Target="/ppt/slides/slide1.xml" Id="R8b5ddb2667ca4260" /><Relationship Type="http://schemas.openxmlformats.org/officeDocument/2006/relationships/slide" Target="/ppt/slides/slide2.xml" Id="Ra2619706d27a42cf" /><Relationship Type="http://schemas.openxmlformats.org/officeDocument/2006/relationships/slide" Target="/ppt/slides/slide3.xml" Id="R58b17fab68594c44" /><Relationship Type="http://schemas.openxmlformats.org/officeDocument/2006/relationships/slide" Target="/ppt/slides/slide4.xml" Id="Rfc10de5295bc48f6" /><Relationship Type="http://schemas.openxmlformats.org/officeDocument/2006/relationships/slide" Target="/ppt/slides/slide5.xml" Id="Re1c68b9a98e14591" /><Relationship Type="http://schemas.openxmlformats.org/officeDocument/2006/relationships/slide" Target="/ppt/slides/slide6.xml" Id="R996d6319b2ef44c1" /><Relationship Type="http://schemas.openxmlformats.org/officeDocument/2006/relationships/slide" Target="/ppt/slides/slide7.xml" Id="Reb4ceabb418241ad" /><Relationship Type="http://schemas.openxmlformats.org/officeDocument/2006/relationships/slide" Target="/ppt/slides/slide8.xml" Id="Rf272156ecd4e4ada" /><Relationship Type="http://schemas.openxmlformats.org/officeDocument/2006/relationships/slide" Target="/ppt/slides/slide9.xml" Id="R52a0c5e36c1246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8c8278998a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105d288274035" /><Relationship Type="http://schemas.openxmlformats.org/officeDocument/2006/relationships/notesMaster" Target="/ppt/notesMasters/notesMaster1.xml" Id="R398c6d624389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1deec505b4932" /><Relationship Type="http://schemas.openxmlformats.org/officeDocument/2006/relationships/notesMaster" Target="/ppt/notesMasters/notesMaster1.xml" Id="R6fe9f62ece7d4a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605a66de5457c" /><Relationship Type="http://schemas.openxmlformats.org/officeDocument/2006/relationships/notesMaster" Target="/ppt/notesMasters/notesMaster1.xml" Id="Rfccc7095260b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9253bdf3614014" /><Relationship Type="http://schemas.openxmlformats.org/officeDocument/2006/relationships/notesMaster" Target="/ppt/notesMasters/notesMaster1.xml" Id="R14bb7716f07c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6dcd7bc63424f" /><Relationship Type="http://schemas.openxmlformats.org/officeDocument/2006/relationships/notesMaster" Target="/ppt/notesMasters/notesMaster1.xml" Id="R42ef5fb8f80947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478a58f4d4c1a" /><Relationship Type="http://schemas.openxmlformats.org/officeDocument/2006/relationships/notesMaster" Target="/ppt/notesMasters/notesMaster1.xml" Id="Rae9e6a19415c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21744c03614ae0" /><Relationship Type="http://schemas.openxmlformats.org/officeDocument/2006/relationships/notesMaster" Target="/ppt/notesMasters/notesMaster1.xml" Id="Re1636775aa3645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38750498fd484d" /><Relationship Type="http://schemas.openxmlformats.org/officeDocument/2006/relationships/notesMaster" Target="/ppt/notesMasters/notesMaster1.xml" Id="R0546035a4af54b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c22f03e4554409" /><Relationship Type="http://schemas.openxmlformats.org/officeDocument/2006/relationships/notesMaster" Target="/ppt/notesMasters/notesMaster1.xml" Id="Rff3590a2d5c2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想定20秒。</a:t>
            </a:r>
          </a:p>
          <a:p xmlns:a="http://schemas.openxmlformats.org/drawingml/2006/main">
            <a:r>
              <a:t>今回はZhang 2019型（再現実装）の導入、仕組み、評価結果を報告する。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C:\Users\siomi\OneDrive\デスクトップ\第3回　カメラ班ミーティング.pptx（デザイン参照）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想定25秒。</a:t>
            </a:r>
          </a:p>
          <a:p xmlns:a="http://schemas.openxmlformats.org/drawingml/2006/main">
            <a:r>
              <a:t>今回再現したのは、Zhang、Pan、MaがSensorsに発表した2019年の論文。</a:t>
            </a:r>
          </a:p>
          <a:p xmlns:a="http://schemas.openxmlformats.org/drawingml/2006/main">
            <a:r>
              <a:t>宇宙機のドッキングリングを、画像上の楕円としてリアルタイム検出する手法を提案している。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想定85秒。</a:t>
            </a:r>
          </a:p>
          <a:p xmlns:a="http://schemas.openxmlformats.org/drawingml/2006/main">
            <a:r>
              <a:t>代表例は実際の再現実装から出力した中間処理。</a:t>
            </a:r>
          </a:p>
          <a:p xmlns:a="http://schemas.openxmlformats.org/drawingml/2006/main">
            <a:r>
              <a:t>CannyエッジにはPAF外周や放射状構造も含まれる。</a:t>
            </a:r>
          </a:p>
          <a:p xmlns:a="http://schemas.openxmlformats.org/drawingml/2006/main">
            <a:r>
              <a:t>勾配象限と凸性で弧を分類し、隣接象限の位置・接線条件を満たす組合せだけを残す。</a:t>
            </a:r>
          </a:p>
          <a:p xmlns:a="http://schemas.openxmlformats.org/drawingml/2006/main">
            <a:r>
              <a:t>三弧から別々に推定した中心が近い場合に統合し、最小二乗楕円を当てる。</a:t>
            </a:r>
          </a:p>
          <a:p xmlns:a="http://schemas.openxmlformats.org/drawingml/2006/main">
            <a:r>
              <a:t>代表例では推定とCG正解のIoUは0.995。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C:\Users\siomi\OneDrive\デスクトップ\Kenkyuu\.codex\tmp\camera_meeting_4_20260731\generated-assets\zhang_visual_metrics.json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想定60秒。</a:t>
            </a:r>
          </a:p>
          <a:p xmlns:a="http://schemas.openxmlformats.org/drawingml/2006/main">
            <a:r>
              <a:t>成果物では必ずZhang 2019型（再現実装）と表記する。</a:t>
            </a:r>
          </a:p>
          <a:p xmlns:a="http://schemas.openxmlformats.org/drawingml/2006/main">
            <a:r>
              <a:t>著者コードの移植ではなく、論文の処理構成をPythonで再現したもの。</a:t>
            </a:r>
          </a:p>
          <a:p xmlns:a="http://schemas.openxmlformats.org/drawingml/2006/main">
            <a:r>
              <a:t>まず論文と同様に、弧を分類・統合して候補楕円を作る。</a:t>
            </a:r>
          </a:p>
          <a:p xmlns:a="http://schemas.openxmlformats.org/drawingml/2006/main">
            <a:r>
              <a:t>次にPAF向けの追加処理として、楕円全周のエッジ支持、内外の明暗、同心候補の内側かどうかを評価し、最終候補を1つ選ぶ。</a:t>
            </a:r>
          </a:p>
          <a:p xmlns:a="http://schemas.openxmlformats.org/drawingml/2006/main">
            <a:r>
              <a:t>図の緑は楕円近傍にCannyエッジがある部分、赤はない部分を示す。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C:\Users\siomi\OneDrive\デスクトップ\Kenkyuu\paf_ring_detection\methods\zhang2019_paf.py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想定45秒。</a:t>
            </a:r>
          </a:p>
          <a:p xmlns:a="http://schemas.openxmlformats.org/drawingml/2006/main">
            <a:r>
              <a:t>評価は撮像診断1,456枚に一本化した。</a:t>
            </a:r>
          </a:p>
          <a:p xmlns:a="http://schemas.openxmlformats.org/drawingml/2006/main">
            <a:r>
              <a:t>基礎画像は学習に使っていない16のカメラ条件と、学習時にも使った7照明条件の組合せで112枚。</a:t>
            </a:r>
          </a:p>
          <a:p xmlns:a="http://schemas.openxmlformats.org/drawingml/2006/main">
            <a:r>
              <a:t>112枚それぞれに、Cleanと黒矩形・白飛び・黒つぶれの4強度を適用した。</a:t>
            </a:r>
          </a:p>
          <a:p xmlns:a="http://schemas.openxmlformats.org/drawingml/2006/main">
            <a:r>
              <a:t>3方式を同じ画像、同じ成功基準の楕円IoU 0.80以上で比較した。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C:\Users\siomi\OneDrive\デスクトップ\Kenkyuu\config\experiment.json</a:t>
            </a:r>
          </a:p>
          <a:p xmlns:a="http://schemas.openxmlformats.org/drawingml/2006/main">
            <a:r>
              <a:t>- C:\Users\siomi\OneDrive\デスクトップ\Kenkyuu\output\datasets\cnn_training\manifest.json</a:t>
            </a:r>
          </a:p>
          <a:p xmlns:a="http://schemas.openxmlformats.org/drawingml/2006/main">
            <a:r>
              <a:t>- C:\Users\siomi\OneDrive\デスクトップ\Kenkyuu\output\datasets\diagnostic_evaluation\manifest.json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想定55秒。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撮像診断1,456枚では、Zhang 2019型（再現実装）は677枚成功で46.5%。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Canny統制の46.8%とはほぼ同等。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CNN方式は74.5%で、Zhang型より28.0ポイント高い。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C:\Users\siomi\OneDrive\デスクトップ\Kenkyuu\output\results\summary.json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C:\Users\siomi\OneDrive\デスクトップ\Kenkyuu\output\results\diagnostic\canny_contour_ransac.csv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C:\Users\siomi\OneDrive\デスクトップ\Kenkyuu\output\results\diagnostic\zhang2019.csv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C:\Users\siomi\OneDrive\デスクトップ\Kenkyuu\output\results\diagnostic\cnn_ransac.csv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白飛びは明るくなっても境界勾配が残るため、Zhang型は強度100%でも83.9%。</a:t>
            </a:r>
          </a:p>
          <a:p xmlns:a="http://schemas.openxmlformats.org/drawingml/2006/main">
            <a:r>
              <a:t>黒矩形は50%で3.6%、75%以上で0%。隠れた側の弧が不足し、三弧条件を作れない。</a:t>
            </a:r>
          </a:p>
          <a:p xmlns:a="http://schemas.openxmlformats.org/drawingml/2006/main">
            <a:r>
              <a:t>黒つぶれも境界が背景へ埋まり、75%で14.3%、100%で8.9%。</a:t>
            </a:r>
          </a:p>
          <a:p xmlns:a="http://schemas.openxmlformats.org/drawingml/2006/main">
            <a:r>
              <a:t>幾何拘束は誤候補を減らせる一方、必要な弧そのものが消える条件には弱い。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C:\Users\siomi\OneDrive\デスクトップ\Kenkyuu\output\results\diagnostic\zhang2019.csv</a:t>
            </a:r>
          </a:p>
          <a:p xmlns:a="http://schemas.openxmlformats.org/drawingml/2006/main">
            <a:r>
              <a:t>- C:\Users\siomi\OneDrive\デスクトップ\Kenkyuu\output\results\diagnostic_by_severity.png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想定35秒。</a:t>
            </a:r>
          </a:p>
          <a:p xmlns:a="http://schemas.openxmlformats.org/drawingml/2006/main">
            <a:r>
              <a:t>評価は撮像診断に一本化した。</a:t>
            </a:r>
          </a:p>
          <a:p xmlns:a="http://schemas.openxmlformats.org/drawingml/2006/main">
            <a:r>
              <a:t>Zhang 2019型（再現実装）は46.5%で、Canny統制と同等、CNNより低かった。</a:t>
            </a:r>
          </a:p>
          <a:p xmlns:a="http://schemas.openxmlformats.org/drawingml/2006/main">
            <a:r>
              <a:t>遮蔽や黒つぶれで弧自体が不足すると、三弧統合が成立しない。</a:t>
            </a:r>
          </a:p>
          <a:p xmlns:a="http://schemas.openxmlformats.org/drawingml/2006/main">
            <a:r>
              <a:t>model_generalization_studyは今回の本編から外し、次回以降にCNNの未知条件一般化として扱う。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C:\Users\siomi\OneDrive\デスクトップ\Kenkyuu\.codex\PROJECT_CONTEXT.md</a:t>
            </a:r>
          </a:p>
          <a:p xmlns:a="http://schemas.openxmlformats.org/drawingml/2006/main">
            <a:r>
              <a:t>- C:\Users\siomi\OneDrive\デスクトップ\Kenkyuu\output\results\summary.json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6567b55bb4a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367f7df0841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8cb76f7d44f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03469ed5b4a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dde88c37c4d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785f3e42549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d347107104c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136f930e444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d0a447eaa4f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70222dd964f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190e0a50947dd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ce789c1454bff" /><Relationship Type="http://schemas.openxmlformats.org/officeDocument/2006/relationships/slideLayout" Target="/ppt/slideLayouts/slideLayout1.xml" Id="R49263813e80547e8" /><Relationship Type="http://schemas.openxmlformats.org/officeDocument/2006/relationships/slideLayout" Target="/ppt/slideLayouts/slideLayout2.xml" Id="R2517a926bd864bd9" /><Relationship Type="http://schemas.openxmlformats.org/officeDocument/2006/relationships/slideLayout" Target="/ppt/slideLayouts/slideLayout3.xml" Id="Rbef8c4de079a4feb" /><Relationship Type="http://schemas.openxmlformats.org/officeDocument/2006/relationships/slideLayout" Target="/ppt/slideLayouts/slideLayout4.xml" Id="Rfb487b9eb61d4e51" /><Relationship Type="http://schemas.openxmlformats.org/officeDocument/2006/relationships/slideLayout" Target="/ppt/slideLayouts/slideLayout5.xml" Id="R29ad6411daaf4e7d" /><Relationship Type="http://schemas.openxmlformats.org/officeDocument/2006/relationships/slideLayout" Target="/ppt/slideLayouts/slideLayout6.xml" Id="R9976903004e747ea" /><Relationship Type="http://schemas.openxmlformats.org/officeDocument/2006/relationships/slideLayout" Target="/ppt/slideLayouts/slideLayout7.xml" Id="R2ad5f7d2ec32466d" /><Relationship Type="http://schemas.openxmlformats.org/officeDocument/2006/relationships/slideLayout" Target="/ppt/slideLayouts/slideLayout8.xml" Id="Rec9274de83bb43df" /><Relationship Type="http://schemas.openxmlformats.org/officeDocument/2006/relationships/slideLayout" Target="/ppt/slideLayouts/slideLayout9.xml" Id="R7d06f552330240a9" /><Relationship Type="http://schemas.openxmlformats.org/officeDocument/2006/relationships/slideLayout" Target="/ppt/slideLayouts/slideLayout10.xml" Id="R03a0ed089c544f39" /><Relationship Type="http://schemas.openxmlformats.org/officeDocument/2006/relationships/slideLayout" Target="/ppt/slideLayouts/slideLayout11.xml" Id="R4ec6f399a52e48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63813e80547e8"/>
    <p:sldLayoutId xmlns:r="http://schemas.openxmlformats.org/officeDocument/2006/relationships" id="2147483650" r:id="R2517a926bd864bd9"/>
    <p:sldLayoutId xmlns:r="http://schemas.openxmlformats.org/officeDocument/2006/relationships" id="2147483651" r:id="Rbef8c4de079a4feb"/>
    <p:sldLayoutId xmlns:r="http://schemas.openxmlformats.org/officeDocument/2006/relationships" id="2147483652" r:id="Rfb487b9eb61d4e51"/>
    <p:sldLayoutId xmlns:r="http://schemas.openxmlformats.org/officeDocument/2006/relationships" id="2147483653" r:id="R29ad6411daaf4e7d"/>
    <p:sldLayoutId xmlns:r="http://schemas.openxmlformats.org/officeDocument/2006/relationships" id="2147483654" r:id="R9976903004e747ea"/>
    <p:sldLayoutId xmlns:r="http://schemas.openxmlformats.org/officeDocument/2006/relationships" id="2147483655" r:id="R2ad5f7d2ec32466d"/>
    <p:sldLayoutId xmlns:r="http://schemas.openxmlformats.org/officeDocument/2006/relationships" id="2147483656" r:id="Rec9274de83bb43df"/>
    <p:sldLayoutId xmlns:r="http://schemas.openxmlformats.org/officeDocument/2006/relationships" id="2147483657" r:id="R7d06f552330240a9"/>
    <p:sldLayoutId xmlns:r="http://schemas.openxmlformats.org/officeDocument/2006/relationships" id="2147483658" r:id="R03a0ed089c544f39"/>
    <p:sldLayoutId xmlns:r="http://schemas.openxmlformats.org/officeDocument/2006/relationships" id="2147483659" r:id="R4ec6f399a52e48b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0e6d958a4acf" /><Relationship Type="http://schemas.openxmlformats.org/officeDocument/2006/relationships/notesSlide" Target="/ppt/notesSlides/notesSlide1.xml" Id="Rfa51d42ef836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42fc0bef549fc" /><Relationship Type="http://schemas.openxmlformats.org/officeDocument/2006/relationships/notesSlide" Target="/ppt/notesSlides/notesSlide2.xml" Id="R41842a3a49b9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800168b4c42d2" /><Relationship Type="http://schemas.openxmlformats.org/officeDocument/2006/relationships/notesSlide" Target="/ppt/notesSlides/notesSlide3.xml" Id="R7d3e93f1adb4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7d35d8f5d4a91" /><Relationship Type="http://schemas.openxmlformats.org/officeDocument/2006/relationships/image" Target="/ppt/media/image.png" Id="R950a02af6b174f99" /><Relationship Type="http://schemas.openxmlformats.org/officeDocument/2006/relationships/notesSlide" Target="/ppt/notesSlides/notesSlide4.xml" Id="Rd3c172a823ab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29d62b5e14298" /><Relationship Type="http://schemas.openxmlformats.org/officeDocument/2006/relationships/image" Target="/ppt/media/image2.png" Id="R36dfd3c06efd4e6b" /><Relationship Type="http://schemas.openxmlformats.org/officeDocument/2006/relationships/notesSlide" Target="/ppt/notesSlides/notesSlide5.xml" Id="R7e3192ca88c8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b4321c66749e8" /><Relationship Type="http://schemas.openxmlformats.org/officeDocument/2006/relationships/image" Target="/ppt/media/image3.png" Id="R4186aa3403e444ac" /><Relationship Type="http://schemas.openxmlformats.org/officeDocument/2006/relationships/image" Target="/ppt/media/image4.png" Id="Rc252efc6b03648ba" /><Relationship Type="http://schemas.openxmlformats.org/officeDocument/2006/relationships/image" Target="/ppt/media/image5.png" Id="Rfe49e579499d4af2" /><Relationship Type="http://schemas.openxmlformats.org/officeDocument/2006/relationships/image" Target="/ppt/media/image6.png" Id="Rfc5d57a33f3541f7" /><Relationship Type="http://schemas.openxmlformats.org/officeDocument/2006/relationships/notesSlide" Target="/ppt/notesSlides/notesSlide6.xml" Id="R8c9e180a6e90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c0a8348e94cc4" /><Relationship Type="http://schemas.openxmlformats.org/officeDocument/2006/relationships/chart" Target="/ppt/slides/charts/chart1.xml" Id="Rf3a32b09d949486a" /><Relationship Type="http://schemas.openxmlformats.org/officeDocument/2006/relationships/notesSlide" Target="/ppt/notesSlides/notesSlide7.xml" Id="Rb14eb1a33b114e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fda6876d7405d" /><Relationship Type="http://schemas.openxmlformats.org/officeDocument/2006/relationships/image" Target="/ppt/media/image7.png" Id="R7804f8cf15c44d47" /><Relationship Type="http://schemas.openxmlformats.org/officeDocument/2006/relationships/notesSlide" Target="/ppt/notesSlides/notesSlide8.xml" Id="R80877b909356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072d5f4b044f2" /><Relationship Type="http://schemas.openxmlformats.org/officeDocument/2006/relationships/notesSlide" Target="/ppt/notesSlides/notesSlide9.xml" Id="Rdbca15f7300349d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2937"/>
                </a:solidFill>
              </a:rPr>
              <a:t>撮像診断 成功率（IoU ≥ 0.80）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F293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Canny＋輪郭別RANSAC</c:v>
          </c:tx>
          <c:spPr>
            <a:solidFill xmlns:a="http://schemas.openxmlformats.org/drawingml/2006/main">
              <a:srgbClr val="F39C12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46.8</c:v>
              </c:pt>
            </c:numLit>
          </c:val>
        </c:ser>
        <c:ser>
          <c:idx val="1"/>
          <c:order val="1"/>
          <c:tx>
            <c:v>Zhang 2019型（再現実装）</c:v>
          </c:tx>
          <c:spPr>
            <a:solidFill xmlns:a="http://schemas.openxmlformats.org/drawingml/2006/main">
              <a:srgbClr val="6B7280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46.5</c:v>
              </c:pt>
            </c:numLit>
          </c:val>
        </c:ser>
        <c:ser>
          <c:idx val="2"/>
          <c:order val="2"/>
          <c:tx>
            <c:v>CNN＋RANSAC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74.5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374151"/>
                    </a:solidFill>
                  </a:rPr>
                  <a:t>成功率（%）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74151"/>
                  </a:solidFill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7415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945765"/>
            <a:ext cx="10058400" cy="23480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>
                <a:latin typeface="ＭＳ ゴシック"/>
                <a:ea typeface="ＭＳ ゴシック"/>
                <a:cs typeface="ＭＳ ゴシック"/>
              </a:rPr>
              <a:t>第4回　カメラ班ミーティング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9887" y="4442737"/>
            <a:ext cx="10058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2026年7月31日</a:t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B4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4856"/>
            <a:ext cx="112395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Real-Time Docking Ring Detection Based on the</a:t>
            </a:r>
          </a:p>
          <a:p xmlns:a="http://schemas.openxmlformats.org/drawingml/2006/main">
            <a:pPr algn="ctr">
              <a:buNone/>
            </a:pPr>
            <a:r>
              <a:rPr sz="3600"/>
              <a:t>Geometrical Shape for an On-Orbit Spacecraft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Zhang, Pan, Ma／Sensors 2019</a:t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DOI: 10.3390/s19235243</a:t>
            </a: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三弧統合で分断エッジから内周楕円を復元</a:t>
            </a:r>
          </a:p>
        </p:txBody>
      </p:sp>
      <p:pic>
        <p:nvPicPr>
          <p:cNvPr id="3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a02af6b174f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68710" y="2093522"/>
            <a:ext cx="11454581" cy="2424122"/>
          </a:xfrm>
          <a:prstGeom xmlns:a="http://schemas.openxmlformats.org/drawingml/2006/main" prst="rect">
            <a:avLst/>
          </a:prstGeom>
        </p:spPr>
      </p:pic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56" y="1568605"/>
            <a:ext cx="500008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再現実装の中間処理（代表例）</a:t>
            </a:r>
          </a:p>
        </p:txBody>
      </p:sp>
      <p:sp>
        <p:nvSpPr>
          <p:cNvPr id="30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4819816"/>
            <a:ext cx="91198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・Canny後、勾配象限と凸性が整合する弧だけを残す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・位置・接線制約と中心整合により、同一楕円らしい三弧を統合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5623399"/>
            <a:ext cx="85988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・統合弧へ最小二乗楕円を当て、中心光線距離による適合点率で検証</a:t>
            </a: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Zhang 2019型（再現実装）は候補生成＋PAF内周選択</a:t>
            </a:r>
          </a:p>
        </p:txBody>
      </p:sp>
      <p:pic>
        <p:nvPicPr>
          <p:cNvPr id="20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fd3c06efd4e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7250" y="1830038"/>
            <a:ext cx="10382250" cy="2171700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68362"/>
            <a:ext cx="9144000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論文の処理で候補を作り、PAF固有条件で1つに絞る</a:t>
            </a:r>
          </a:p>
        </p:txBody>
      </p:sp>
      <p:sp>
        <p:nvSpPr>
          <p:cNvPr id="1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4322407"/>
            <a:ext cx="401744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候補生成（論文）：Canny → 弧分類 → 三弧統合 → 楕円当てはめ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最終選択（追加）：全周支持・明暗極性・同心候補から内周を採用</a:t>
            </a:r>
          </a:p>
        </p:txBody>
      </p:sp>
      <p:sp>
        <p:nvSpPr>
          <p:cNvPr id="1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5489601"/>
            <a:ext cx="604043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著者コードの移植ではなく、論文の処理構成を参考にしたPython再現実装。</a:t>
            </a: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049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撮像診断1,456枚で3方式を同条件比較</a:t>
            </a:r>
          </a:p>
        </p:txBody>
      </p:sp>
      <p:pic>
        <p:nvPicPr>
          <p:cNvPr id="53" name="図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aa3403e444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85805" y="1511658"/>
            <a:ext cx="1963984" cy="1963984"/>
          </a:xfrm>
          <a:prstGeom xmlns:a="http://schemas.openxmlformats.org/drawingml/2006/main" prst="rect">
            <a:avLst/>
          </a:prstGeom>
        </p:spPr>
      </p:pic>
      <p:pic>
        <p:nvPicPr>
          <p:cNvPr id="54" name="図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2efc6b03648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11893" y="1544087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9e579499d4a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97435" y="1544734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6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d57a33f3541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82977" y="1544734"/>
            <a:ext cx="1385021" cy="1385021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321" y="1174755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黒矩形</a:t>
            </a:r>
          </a:p>
        </p:txBody>
      </p:sp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3549190"/>
            <a:ext cx="258436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学習に未使用のカメラ条件・既知照明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82" y="1196798"/>
            <a:ext cx="13388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Clean</a:t>
            </a:r>
          </a:p>
        </p:txBody>
      </p:sp>
      <p:sp>
        <p:nvSpPr>
          <p:cNvPr id="30" name="テキスト ボックス 29">
            <a:extLst xmlns:a="http://schemas.openxmlformats.org/drawingml/2006/main"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363" y="1166666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32" name="テキスト ボックス 31">
            <a:extLst xmlns:a="http://schemas.openxmlformats.org/drawingml/2006/main"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05" y="1166666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33" name="四角形: 角を丸くする 32">
            <a:extLst xmlns:a="http://schemas.openxmlformats.org/drawingml/2006/main"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1716724"/>
            <a:ext cx="1272663" cy="457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基礎 112枚</a:t>
            </a:r>
          </a:p>
        </p:txBody>
      </p:sp>
      <p:sp>
        <p:nvSpPr>
          <p:cNvPr id="35" name="四角形: 角を丸くする 34">
            <a:extLst xmlns:a="http://schemas.openxmlformats.org/drawingml/2006/main"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309634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診断 1,456枚</a:t>
            </a:r>
          </a:p>
        </p:txBody>
      </p:sp>
      <p:sp>
        <p:nvSpPr>
          <p:cNvPr id="37" name="四角形: 角を丸くする 36">
            <a:extLst xmlns:a="http://schemas.openxmlformats.org/drawingml/2006/main"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906537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IoU ≥ 0.80</a:t>
            </a:r>
          </a:p>
        </p:txBody>
      </p:sp>
      <p:sp>
        <p:nvSpPr>
          <p:cNvPr id="4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04" y="3835843"/>
            <a:ext cx="474200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【基礎画像】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・学習に未使用の16カメラ条件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・既知の7照明条件</a:t>
            </a:r>
          </a:p>
        </p:txBody>
      </p:sp>
      <p:sp>
        <p:nvSpPr>
          <p:cNvPr id="45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826189"/>
            <a:ext cx="525817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【撮像劣化】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・Clean＋3効果×4強度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・各効果・各強度112枚</a:t>
            </a: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撮像診断：Zhang 2019型（再現実装）46.5%、CNN 74.5%</a:t>
            </a:r>
          </a:p>
        </p:txBody>
      </p:sp>
      <p:sp>
        <p:nvSpPr>
          <p:cNvPr id="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2040689"/>
            <a:ext cx="43252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【1,456枚】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Zhang 2019型（再現実装）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677枚＝46.5%／Canny 46.8%</a:t>
            </a:r>
          </a:p>
        </p:txBody>
      </p:sp>
      <p:sp>
        <p:nvSpPr>
          <p:cNvPr id="1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3619559"/>
            <a:ext cx="5054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CNN 74.5%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→ 再現実装はCannyと同等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CNNより28.0pt低い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519810" y="1623221"/>
          <a:ext xmlns:a="http://schemas.openxmlformats.org/drawingml/2006/main" cx="6422808" cy="361155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32b09d949486a"/>
          </a:graphicData>
        </a:graphic>
      </p:graphicFrame>
    </p:spTree>
    <p:extLst>
      <p:ext uri="{BB962C8B-B14F-4D97-AF65-F5344CB8AC3E}">
        <p14:creationId xmlns:p14="http://schemas.microsoft.com/office/powerpoint/2010/main" val="34809707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白飛びに強く、遮蔽と黒つぶれに弱い</a:t>
            </a:r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410200"/>
            <a:ext cx="1133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・白飛び100%でも83.9%　・黒矩形50%で3.6%、75%以上で0%</a:t>
            </a:r>
          </a:p>
          <a:p xmlns:a="http://schemas.openxmlformats.org/drawingml/2006/main">
            <a:r>
              <a:t>・黒つぶれ75%で14.3%、100%で8.9% → 弧の消失が支配的</a:t>
            </a:r>
          </a:p>
        </p:txBody>
      </p:sp>
      <p:pic>
        <p:nvPicPr>
          <p:cNvPr id="27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4f8cf15c44d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4694" y="2055266"/>
            <a:ext cx="11662611" cy="3104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7620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まとめと次回以降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1722576"/>
            <a:ext cx="9081305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【今回】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・Zhang 2019型（再現実装）を導入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・撮像診断で46.5%（Canny 46.8%、CNN 74.5%）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・遮蔽／黒つぶれでは弧不足が主な失敗要因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3752540"/>
            <a:ext cx="8470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【次回以降】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・model_generalization_studyで未知条件への一般化を検証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・両方式の失敗例を条件別に整理</a:t>
            </a: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2026-07-30T19:22:41.2830000Z</dcterms:created>
  <dcterms:modified xsi:type="dcterms:W3CDTF">2026-07-30T19:22:41.2830000Z</dcterms:modified>
</coreProperties>
</file>