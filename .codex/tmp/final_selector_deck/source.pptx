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0b8b8ad1945c7" /><Relationship Type="http://schemas.openxmlformats.org/officeDocument/2006/relationships/extended-properties" Target="/docProps/app.xml" Id="Rce91e7103e1346a4" /><Relationship Type="http://schemas.openxmlformats.org/officeDocument/2006/relationships/officeDocument" Target="/ppt/presentation.xml" Id="Rb5c21e1bcb5946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dfd00b6664625"/>
  </p:sldMasterIdLst>
  <p:notesMasterIdLst>
    <p:notesMasterId xmlns:r="http://schemas.openxmlformats.org/officeDocument/2006/relationships" r:id="R33cd753c0ee84cfb"/>
  </p:notesMasterIdLst>
  <p:sldIdLst>
    <p:sldId xmlns:r="http://schemas.openxmlformats.org/officeDocument/2006/relationships" id="256" r:id="Rbbbf3006eaf14e49"/>
    <p:sldId xmlns:r="http://schemas.openxmlformats.org/officeDocument/2006/relationships" id="257" r:id="R0715662d28174d13"/>
    <p:sldId xmlns:r="http://schemas.openxmlformats.org/officeDocument/2006/relationships" id="258" r:id="Rf113d52ff2e344fc"/>
    <p:sldId xmlns:r="http://schemas.openxmlformats.org/officeDocument/2006/relationships" id="259" r:id="R46e665a24f1645fd"/>
    <p:sldId xmlns:r="http://schemas.openxmlformats.org/officeDocument/2006/relationships" id="260" r:id="R31987678aa2849c6"/>
    <p:sldId xmlns:r="http://schemas.openxmlformats.org/officeDocument/2006/relationships" id="261" r:id="R68a8f3e06bc74748"/>
    <p:sldId xmlns:r="http://schemas.openxmlformats.org/officeDocument/2006/relationships" id="262" r:id="Rc96ab7aaa59841ba"/>
    <p:sldId xmlns:r="http://schemas.openxmlformats.org/officeDocument/2006/relationships" id="263" r:id="R5d837c99b1564ec3"/>
    <p:sldId xmlns:r="http://schemas.openxmlformats.org/officeDocument/2006/relationships" id="264" r:id="R58ffae31806f4a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2c7d5297b4983" /><Relationship Type="http://schemas.openxmlformats.org/officeDocument/2006/relationships/slideMaster" Target="/ppt/slideMasters/slideMaster1.xml" Id="R93bdfd00b6664625" /><Relationship Type="http://schemas.openxmlformats.org/officeDocument/2006/relationships/notesMaster" Target="/ppt/notesMasters/notesMaster1.xml" Id="R33cd753c0ee84cfb" /><Relationship Type="http://schemas.openxmlformats.org/officeDocument/2006/relationships/presProps" Target="/ppt/presProps.xml" Id="Rcd0813b7791d4256" /><Relationship Type="http://schemas.openxmlformats.org/officeDocument/2006/relationships/viewProps" Target="/ppt/viewProps.xml" Id="Rc5d88f4a801a4a7e" /><Relationship Type="http://schemas.openxmlformats.org/officeDocument/2006/relationships/tableStyles" Target="/ppt/tableStyles.xml" Id="R13b747a8d93b4a55" /><Relationship Type="http://schemas.openxmlformats.org/officeDocument/2006/relationships/slide" Target="/ppt/slides/slide1.xml" Id="Rbbbf3006eaf14e49" /><Relationship Type="http://schemas.openxmlformats.org/officeDocument/2006/relationships/slide" Target="/ppt/slides/slide2.xml" Id="R0715662d28174d13" /><Relationship Type="http://schemas.openxmlformats.org/officeDocument/2006/relationships/slide" Target="/ppt/slides/slide3.xml" Id="Rf113d52ff2e344fc" /><Relationship Type="http://schemas.openxmlformats.org/officeDocument/2006/relationships/slide" Target="/ppt/slides/slide4.xml" Id="R46e665a24f1645fd" /><Relationship Type="http://schemas.openxmlformats.org/officeDocument/2006/relationships/slide" Target="/ppt/slides/slide5.xml" Id="R31987678aa2849c6" /><Relationship Type="http://schemas.openxmlformats.org/officeDocument/2006/relationships/slide" Target="/ppt/slides/slide6.xml" Id="R68a8f3e06bc74748" /><Relationship Type="http://schemas.openxmlformats.org/officeDocument/2006/relationships/slide" Target="/ppt/slides/slide7.xml" Id="Rc96ab7aaa59841ba" /><Relationship Type="http://schemas.openxmlformats.org/officeDocument/2006/relationships/slide" Target="/ppt/slides/slide8.xml" Id="R5d837c99b1564ec3" /><Relationship Type="http://schemas.openxmlformats.org/officeDocument/2006/relationships/slide" Target="/ppt/slides/slide9.xml" Id="R58ffae31806f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695239a0b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f520114ac43db" /><Relationship Type="http://schemas.openxmlformats.org/officeDocument/2006/relationships/notesMaster" Target="/ppt/notesMasters/notesMaster1.xml" Id="R7753abfa2e55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daa5214d047ac" /><Relationship Type="http://schemas.openxmlformats.org/officeDocument/2006/relationships/notesMaster" Target="/ppt/notesMasters/notesMaster1.xml" Id="Rb1728d76800f43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295687f96244de" /><Relationship Type="http://schemas.openxmlformats.org/officeDocument/2006/relationships/notesMaster" Target="/ppt/notesMasters/notesMaster1.xml" Id="R629ce82d4479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1179b3fc6445c6" /><Relationship Type="http://schemas.openxmlformats.org/officeDocument/2006/relationships/notesMaster" Target="/ppt/notesMasters/notesMaster1.xml" Id="Rc0ce3d92d57849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fa0f5bfafd469d" /><Relationship Type="http://schemas.openxmlformats.org/officeDocument/2006/relationships/notesMaster" Target="/ppt/notesMasters/notesMaster1.xml" Id="Rdcd06ca83c1448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458f5884b54378" /><Relationship Type="http://schemas.openxmlformats.org/officeDocument/2006/relationships/notesMaster" Target="/ppt/notesMasters/notesMaster1.xml" Id="R5d4cb77a0a7747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8bba38020a4800" /><Relationship Type="http://schemas.openxmlformats.org/officeDocument/2006/relationships/notesMaster" Target="/ppt/notesMasters/notesMaster1.xml" Id="Rbf85d91d669c46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dce83179743fb" /><Relationship Type="http://schemas.openxmlformats.org/officeDocument/2006/relationships/notesMaster" Target="/ppt/notesMasters/notesMaster1.xml" Id="R294df17db96843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f90590a72c406b" /><Relationship Type="http://schemas.openxmlformats.org/officeDocument/2006/relationships/notesMaster" Target="/ppt/notesMasters/notesMaster1.xml" Id="Rb2a7a857657e43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想定20秒。</a:t>
            </a:r>
          </a:p>
          <a:p xmlns:a="http://schemas.openxmlformats.org/drawingml/2006/main">
            <a:r>
              <a:t>今回はZhang 2019型（再現実装）の導入、仕組み、評価結果を報告する。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C:\Users\siomi\OneDrive\デスクトップ\第3回　カメラ班ミーティング.pptx（デザイン参照）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想定25秒。</a:t>
            </a:r>
          </a:p>
          <a:p xmlns:a="http://schemas.openxmlformats.org/drawingml/2006/main">
            <a:r>
              <a:t>今回再現したのは、Zhang、Pan、MaがSensorsに発表した2019年の論文。</a:t>
            </a:r>
          </a:p>
          <a:p xmlns:a="http://schemas.openxmlformats.org/drawingml/2006/main">
            <a:r>
              <a:t>宇宙機のドッキングリングを、画像上の楕円としてリアルタイム検出する手法を提案している。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想定85秒。</a:t>
            </a:r>
          </a:p>
          <a:p xmlns:a="http://schemas.openxmlformats.org/drawingml/2006/main">
            <a:r>
              <a:t>代表例は実際の再現実装から出力した中間処理。</a:t>
            </a:r>
          </a:p>
          <a:p xmlns:a="http://schemas.openxmlformats.org/drawingml/2006/main">
            <a:r>
              <a:t>CannyエッジにはPAF外周や放射状構造も含まれる。</a:t>
            </a:r>
          </a:p>
          <a:p xmlns:a="http://schemas.openxmlformats.org/drawingml/2006/main">
            <a:r>
              <a:t>勾配象限と凸性で弧を分類し、隣接象限の位置・接線条件を満たす組合せだけを残す。</a:t>
            </a:r>
          </a:p>
          <a:p xmlns:a="http://schemas.openxmlformats.org/drawingml/2006/main">
            <a:r>
              <a:t>三弧から別々に推定した中心が近い場合に統合し、最小二乗楕円を当てる。</a:t>
            </a:r>
          </a:p>
          <a:p xmlns:a="http://schemas.openxmlformats.org/drawingml/2006/main">
            <a:r>
              <a:t>代表例では推定とCG正解のIoUは0.995。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C:\Users\siomi\OneDrive\デスクトップ\Kenkyuu\.codex\tmp\camera_meeting_4_20260731\generated-assets\zhang_visual_metrics.json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想定60秒。</a:t>
            </a:r>
          </a:p>
          <a:p xmlns:a="http://schemas.openxmlformats.org/drawingml/2006/main">
            <a:r>
              <a:t>成果物では必ずZhang 2019型（再現実装）と表記する。</a:t>
            </a:r>
          </a:p>
          <a:p xmlns:a="http://schemas.openxmlformats.org/drawingml/2006/main">
            <a:r>
              <a:t>著者コードの移植ではなく、論文の処理構成をPythonで再現したもの。</a:t>
            </a:r>
          </a:p>
          <a:p xmlns:a="http://schemas.openxmlformats.org/drawingml/2006/main">
            <a:r>
              <a:t>まず論文と同様に、弧を分類・統合して候補楕円を作る。</a:t>
            </a:r>
          </a:p>
          <a:p xmlns:a="http://schemas.openxmlformats.org/drawingml/2006/main">
            <a:r>
              <a:t>次にPAF向けの追加処理として、楕円全周のエッジ支持、内外の明暗、同心候補の内側かどうかを評価し、最終候補を1つ選ぶ。</a:t>
            </a:r>
          </a:p>
          <a:p xmlns:a="http://schemas.openxmlformats.org/drawingml/2006/main">
            <a:r>
              <a:t>図の緑は楕円近傍にCannyエッジがある部分、赤はない部分を示す。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C:\Users\siomi\OneDrive\デスクトップ\Kenkyuu\paf_ring_detection\methods\zhang2019_paf.py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想定45秒。</a:t>
            </a:r>
          </a:p>
          <a:p xmlns:a="http://schemas.openxmlformats.org/drawingml/2006/main">
            <a:r>
              <a:t>評価は撮像診断1,456枚に一本化した。</a:t>
            </a:r>
          </a:p>
          <a:p xmlns:a="http://schemas.openxmlformats.org/drawingml/2006/main">
            <a:r>
              <a:t>基礎画像は学習に使っていない16のカメラ条件と、学習時にも使った7照明条件の組合せで112枚。</a:t>
            </a:r>
          </a:p>
          <a:p xmlns:a="http://schemas.openxmlformats.org/drawingml/2006/main">
            <a:r>
              <a:t>112枚それぞれに、Cleanと黒矩形・白飛び・黒つぶれの4強度を適用した。</a:t>
            </a:r>
          </a:p>
          <a:p xmlns:a="http://schemas.openxmlformats.org/drawingml/2006/main">
            <a:r>
              <a:t>3方式を同じ画像、同じ成功基準の楕円IoU 0.80以上で比較した。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C:\Users\siomi\OneDrive\デスクトップ\Kenkyuu\config\experiment.json</a:t>
            </a:r>
          </a:p>
          <a:p xmlns:a="http://schemas.openxmlformats.org/drawingml/2006/main">
            <a:r>
              <a:t>- C:\Users\siomi\OneDrive\デスクトップ\Kenkyuu\output\datasets\cnn_training\manifest.json</a:t>
            </a:r>
          </a:p>
          <a:p xmlns:a="http://schemas.openxmlformats.org/drawingml/2006/main">
            <a:r>
              <a:t>- C:\Users\siomi\OneDrive\デスクトップ\Kenkyuu\output\datasets\diagnostic_evaluation\manifest.json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想定55秒。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撮像診断1,456枚では、Zhang 2019型（再現実装）は677枚成功で46.5%。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Canny統制の46.8%とはほぼ同等。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CNN方式は74.5%で、Zhang型より28.0ポイント高い。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C:\Users\siomi\OneDrive\デスクトップ\Kenkyuu\output\results\summary.json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C:\Users\siomi\OneDrive\デスクトップ\Kenkyuu\output\results\diagnostic\canny_contour_ransac.csv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C:\Users\siomi\OneDrive\デスクトップ\Kenkyuu\output\results\diagnostic\zhang2019.csv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C:\Users\siomi\OneDrive\デスクトップ\Kenkyuu\output\results\diagnostic\cnn_ransac.csv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白飛びは明るくなっても境界勾配が残るため、Zhang型は強度100%でも83.9%。</a:t>
            </a:r>
          </a:p>
          <a:p xmlns:a="http://schemas.openxmlformats.org/drawingml/2006/main">
            <a:r>
              <a:t>黒矩形は50%で3.6%、75%以上で0%。隠れた側の弧が不足し、三弧条件を作れない。</a:t>
            </a:r>
          </a:p>
          <a:p xmlns:a="http://schemas.openxmlformats.org/drawingml/2006/main">
            <a:r>
              <a:t>黒つぶれも境界が背景へ埋まり、75%で14.3%、100%で8.9%。</a:t>
            </a:r>
          </a:p>
          <a:p xmlns:a="http://schemas.openxmlformats.org/drawingml/2006/main">
            <a:r>
              <a:t>幾何拘束は誤候補を減らせる一方、必要な弧そのものが消える条件には弱い。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C:\Users\siomi\OneDrive\デスクトップ\Kenkyuu\output\results\diagnostic\zhang2019.csv</a:t>
            </a:r>
          </a:p>
          <a:p xmlns:a="http://schemas.openxmlformats.org/drawingml/2006/main">
            <a:r>
              <a:t>- C:\Users\siomi\OneDrive\デスクトップ\Kenkyuu\output\results\diagnostic_by_severity.png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想定35秒。</a:t>
            </a:r>
          </a:p>
          <a:p xmlns:a="http://schemas.openxmlformats.org/drawingml/2006/main">
            <a:r>
              <a:t>評価は撮像診断に一本化した。</a:t>
            </a:r>
          </a:p>
          <a:p xmlns:a="http://schemas.openxmlformats.org/drawingml/2006/main">
            <a:r>
              <a:t>Zhang 2019型（再現実装）は46.5%で、Canny統制と同等、CNNより低かった。</a:t>
            </a:r>
          </a:p>
          <a:p xmlns:a="http://schemas.openxmlformats.org/drawingml/2006/main">
            <a:r>
              <a:t>遮蔽や黒つぶれで弧自体が不足すると、三弧統合が成立しない。</a:t>
            </a:r>
          </a:p>
          <a:p xmlns:a="http://schemas.openxmlformats.org/drawingml/2006/main">
            <a:r>
              <a:t>model_generalization_studyは今回の本編から外し、次回以降にCNNの未知条件一般化として扱う。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C:\Users\siomi\OneDrive\デスクトップ\Kenkyuu\.codex\PROJECT_CONTEXT.md</a:t>
            </a:r>
          </a:p>
          <a:p xmlns:a="http://schemas.openxmlformats.org/drawingml/2006/main">
            <a:r>
              <a:t>- C:\Users\siomi\OneDrive\デスクトップ\Kenkyuu\output\results\summary.json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d646ef7704f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82c28c94f4e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4e946c7ea4c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adb193ef943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04a7ae0ad4e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16dd2376e44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ddf61995e49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8c30bd78e4a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dc15cf933477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87be3439346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df584fc5744c6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E2A3AC3-9BBA-8E11-E099-ABFE7904E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2AD1EB0B-5808-8E08-B140-60549B479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13CC2F8-E577-30F3-50DF-1061F6599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E47049D-B2A7-07E9-6233-CCEFAF0A1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CC314B8-9D46-580D-7BE9-953E7A5A4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B0791A6-9BE5-6883-64C0-A28C3D91E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474A667-7BE3-31FA-8225-EA15EFC0DF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C4FF7B8-5C3E-D427-D0E5-B4A3D136B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B37FFCD-B795-3C0B-43EF-8519A21CE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F98A99A-51B4-D55A-1505-F05648C924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AF3F076-BB2C-8431-AD9A-B59AFFA89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545BAF1-BB01-21BF-48B6-F056CB8D1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2AD9E4E-D262-C6B4-5C1B-07881E1F0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EDFA657B-3C63-50CC-C98B-EFE3E256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B59865D-4826-7039-1633-3A01FA4F87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64FADDA-495A-9346-8A7D-62748E355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F244336-5629-6429-0292-3D693F9C0D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F45223F-AC19-E344-CE33-4A4A639E99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5CEDD68-9452-8248-C931-3F0237000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90BEB63-73A5-6F32-B21A-756D2283F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B590089-F415-334F-3A15-EC8D88371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97C9EC-63F6-E6E3-8588-92793357E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C374482-8965-D6A8-039C-72D8B3EF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EF2B11B-40A7-E61A-A614-DB7B4CCDF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7B16BD6-6273-617F-B4E4-F189AC8F5B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EF30CE6-91F6-4442-47B6-2D3FDE71769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7A9B2748-5946-96C3-3B11-AB7A8513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D1F0C39E-8B53-0368-BEE8-CAFDC75D91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56FCE75-29AC-3F9A-49EB-BA2C535A9D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77ADB89C-0C18-1E2F-C1EB-12A41095F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F3DAFE2-E057-9515-4B31-C27746E7C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2E4690-9E97-7F7A-6303-30D23973F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C376770-65B7-FFA9-D6CD-B8633F5F7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EA9B5CA-48EF-D03F-CCEB-E5D73F30C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7CC048B7-12A3-FBDB-6A45-0967B3A88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89B800-1A14-93DA-E0FC-80A776E6D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2CD4FE-6724-C35F-A0E3-018DA3A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864462B-CEFC-9D53-3152-6E129D716C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F3A98B-52C3-BFC2-76AD-2EB3A5895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AE5F531-10FF-CE18-0FE6-E27E2B3701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CF86881-52B9-C9FA-0957-DEA77521D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E6041AD4-B435-9451-B96D-C72E2D440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43D6106-9897-7CD8-D3C4-92AF681C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8507A9B-3DCC-E4BB-FC3B-144204154F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56ACDFD-C498-ECEC-E952-C509D42AA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F728F9A-A276-90D0-EAC8-98133EBC0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678CC1D-0AB7-726F-A95A-8C3817D80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F4298B5D-256D-C98F-30B0-956EB1AC8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8AFCEC6-3140-ED8D-D9D8-E489E0B9A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A85B470-FD5C-AA6D-A126-94A87375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2B3C9A1-CFB1-C9A7-3C9B-74A780786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B3D76AA-F206-C911-52EA-50042FCF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7A4500D-E8E0-D197-9FDD-D8933E19A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4CF19B41-2514-C11C-36B5-28ACFF37F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055A9D3-BFE6-2AD5-CB55-3E580AF8B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0A5E879-2586-6EA7-CFC4-9AD8DA31D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A775971-8AB7-CB85-0BB4-3024D730B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FBEB35F-50AC-38DD-EBCD-0089B607DF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1c71bca874b6d" /><Relationship Type="http://schemas.openxmlformats.org/officeDocument/2006/relationships/slideLayout" Target="/ppt/slideLayouts/slideLayout1.xml" Id="R9cbb7ac0437f41c2" /><Relationship Type="http://schemas.openxmlformats.org/officeDocument/2006/relationships/slideLayout" Target="/ppt/slideLayouts/slideLayout2.xml" Id="R89f5722700014de4" /><Relationship Type="http://schemas.openxmlformats.org/officeDocument/2006/relationships/slideLayout" Target="/ppt/slideLayouts/slideLayout3.xml" Id="Rfba2464b7ea04019" /><Relationship Type="http://schemas.openxmlformats.org/officeDocument/2006/relationships/slideLayout" Target="/ppt/slideLayouts/slideLayout4.xml" Id="R8c9bb8461d9a4c64" /><Relationship Type="http://schemas.openxmlformats.org/officeDocument/2006/relationships/slideLayout" Target="/ppt/slideLayouts/slideLayout5.xml" Id="R53b7a61b4264413e" /><Relationship Type="http://schemas.openxmlformats.org/officeDocument/2006/relationships/slideLayout" Target="/ppt/slideLayouts/slideLayout6.xml" Id="Rf560164772994aff" /><Relationship Type="http://schemas.openxmlformats.org/officeDocument/2006/relationships/slideLayout" Target="/ppt/slideLayouts/slideLayout7.xml" Id="R3bcf150e788e434e" /><Relationship Type="http://schemas.openxmlformats.org/officeDocument/2006/relationships/slideLayout" Target="/ppt/slideLayouts/slideLayout8.xml" Id="R0d76d6cb7cb1497d" /><Relationship Type="http://schemas.openxmlformats.org/officeDocument/2006/relationships/slideLayout" Target="/ppt/slideLayouts/slideLayout9.xml" Id="R6407bd30e4104796" /><Relationship Type="http://schemas.openxmlformats.org/officeDocument/2006/relationships/slideLayout" Target="/ppt/slideLayouts/slideLayout10.xml" Id="R5e378e2fd3124e3f" /><Relationship Type="http://schemas.openxmlformats.org/officeDocument/2006/relationships/slideLayout" Target="/ppt/slideLayouts/slideLayout11.xml" Id="R1e4ab3946b8045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6658F7C-2114-F168-D611-E9406308E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A1EA05B-3107-A64A-0EAC-A52B6C331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7364495-EED0-3EA3-F067-A3DC8FE463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61C3567-BEAB-29E8-8ACC-4D9457757B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D1AA8FB-328D-A5DC-BC86-6CD607FBD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bb7ac0437f41c2"/>
    <p:sldLayoutId xmlns:r="http://schemas.openxmlformats.org/officeDocument/2006/relationships" id="2147483650" r:id="R89f5722700014de4"/>
    <p:sldLayoutId xmlns:r="http://schemas.openxmlformats.org/officeDocument/2006/relationships" id="2147483651" r:id="Rfba2464b7ea04019"/>
    <p:sldLayoutId xmlns:r="http://schemas.openxmlformats.org/officeDocument/2006/relationships" id="2147483652" r:id="R8c9bb8461d9a4c64"/>
    <p:sldLayoutId xmlns:r="http://schemas.openxmlformats.org/officeDocument/2006/relationships" id="2147483653" r:id="R53b7a61b4264413e"/>
    <p:sldLayoutId xmlns:r="http://schemas.openxmlformats.org/officeDocument/2006/relationships" id="2147483654" r:id="Rf560164772994aff"/>
    <p:sldLayoutId xmlns:r="http://schemas.openxmlformats.org/officeDocument/2006/relationships" id="2147483655" r:id="R3bcf150e788e434e"/>
    <p:sldLayoutId xmlns:r="http://schemas.openxmlformats.org/officeDocument/2006/relationships" id="2147483656" r:id="R0d76d6cb7cb1497d"/>
    <p:sldLayoutId xmlns:r="http://schemas.openxmlformats.org/officeDocument/2006/relationships" id="2147483657" r:id="R6407bd30e4104796"/>
    <p:sldLayoutId xmlns:r="http://schemas.openxmlformats.org/officeDocument/2006/relationships" id="2147483658" r:id="R5e378e2fd3124e3f"/>
    <p:sldLayoutId xmlns:r="http://schemas.openxmlformats.org/officeDocument/2006/relationships" id="2147483659" r:id="R1e4ab3946b80453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2d13d7af843b6" /><Relationship Type="http://schemas.openxmlformats.org/officeDocument/2006/relationships/notesSlide" Target="/ppt/notesSlides/notesSlide1.xml" Id="R87b598795315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4d12871f249c9" /><Relationship Type="http://schemas.openxmlformats.org/officeDocument/2006/relationships/notesSlide" Target="/ppt/notesSlides/notesSlide2.xml" Id="R42049cc8c54a46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5e7fe69174a49" /><Relationship Type="http://schemas.openxmlformats.org/officeDocument/2006/relationships/notesSlide" Target="/ppt/notesSlides/notesSlide3.xml" Id="Rd80dbd99d2bd42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37d7d562d4b48" /><Relationship Type="http://schemas.openxmlformats.org/officeDocument/2006/relationships/image" Target="/ppt/media/image.png" Id="Rd5790b11563f47f1" /><Relationship Type="http://schemas.openxmlformats.org/officeDocument/2006/relationships/notesSlide" Target="/ppt/notesSlides/notesSlide4.xml" Id="Rd09f83049b914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f76c8ab5b48c7" /><Relationship Type="http://schemas.openxmlformats.org/officeDocument/2006/relationships/image" Target="/ppt/media/image2.png" Id="R14d4dcb6adc44f6d" /><Relationship Type="http://schemas.openxmlformats.org/officeDocument/2006/relationships/notesSlide" Target="/ppt/notesSlides/notesSlide5.xml" Id="R167e75b9121949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f1909f63947d6" /><Relationship Type="http://schemas.openxmlformats.org/officeDocument/2006/relationships/image" Target="/ppt/media/image3.png" Id="Ra0374601adf14b97" /><Relationship Type="http://schemas.openxmlformats.org/officeDocument/2006/relationships/image" Target="/ppt/media/image4.png" Id="R9bb7f8e460b84a03" /><Relationship Type="http://schemas.openxmlformats.org/officeDocument/2006/relationships/image" Target="/ppt/media/image5.png" Id="R8bc4c6ad545c4c56" /><Relationship Type="http://schemas.openxmlformats.org/officeDocument/2006/relationships/image" Target="/ppt/media/image6.png" Id="R77b9960448bc4d93" /><Relationship Type="http://schemas.openxmlformats.org/officeDocument/2006/relationships/notesSlide" Target="/ppt/notesSlides/notesSlide6.xml" Id="R56d179aa30fa49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4f90fccd04985" /><Relationship Type="http://schemas.openxmlformats.org/officeDocument/2006/relationships/chart" Target="/ppt/slides/charts/chart1.xml" Id="R65e513ee1c2f45b8" /><Relationship Type="http://schemas.openxmlformats.org/officeDocument/2006/relationships/notesSlide" Target="/ppt/notesSlides/notesSlide7.xml" Id="R1ba31673c5b340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9f8c96b224222" /><Relationship Type="http://schemas.openxmlformats.org/officeDocument/2006/relationships/image" Target="/ppt/media/image7.png" Id="R7d82fb66c3d04000" /><Relationship Type="http://schemas.openxmlformats.org/officeDocument/2006/relationships/notesSlide" Target="/ppt/notesSlides/notesSlide8.xml" Id="R35200f48f3894a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5159779d84e40" /><Relationship Type="http://schemas.openxmlformats.org/officeDocument/2006/relationships/notesSlide" Target="/ppt/notesSlides/notesSlide9.xml" Id="R568bb7fdb0ab44d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2937"/>
                </a:solidFill>
              </a:rPr>
              <a:t>撮像診断 成功率（IoU ≥ 0.80）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F2937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Canny＋輪郭別RANSAC</c:v>
          </c:tx>
          <c:spPr>
            <a:solidFill xmlns:a="http://schemas.openxmlformats.org/drawingml/2006/main">
              <a:srgbClr val="F39C12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46.8</c:v>
              </c:pt>
            </c:numLit>
          </c:val>
        </c:ser>
        <c:ser>
          <c:idx val="1"/>
          <c:order val="1"/>
          <c:tx>
            <c:v>Zhang 2019型（再現実装）</c:v>
          </c:tx>
          <c:spPr>
            <a:solidFill xmlns:a="http://schemas.openxmlformats.org/drawingml/2006/main">
              <a:srgbClr val="6B7280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46.5</c:v>
              </c:pt>
            </c:numLit>
          </c:val>
        </c:ser>
        <c:ser>
          <c:idx val="2"/>
          <c:order val="2"/>
          <c:tx>
            <c:v>CNN＋RANSAC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74.5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374151"/>
                    </a:solidFill>
                  </a:rPr>
                  <a:t>成功率（%）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74151"/>
                  </a:solidFill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7415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6F4B5D-E5B3-38E8-A386-ABD099C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59DEA71-F78D-DBCD-26FA-C9635AF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014AA2A-C8D3-5B2D-ADBD-641918D5BB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6800" y="945765"/>
            <a:ext cx="10058400" cy="23480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>
                <a:latin typeface="ＭＳ ゴシック"/>
                <a:ea typeface="ＭＳ ゴシック"/>
                <a:cs typeface="ＭＳ ゴシック"/>
              </a:rPr>
              <a:t>第4回　カメラ班ミーティング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4AE6774-3390-7CC7-6300-BA2FE1AF72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59887" y="4442737"/>
            <a:ext cx="10058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2026年7月31日</a:t>
            </a:r>
          </a:p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B4　伊藤弘道</a:t>
            </a:r>
          </a:p>
        </p:txBody>
      </p:sp>
    </p:spTree>
    <p:extLst>
      <p:ext uri="{BB962C8B-B14F-4D97-AF65-F5344CB8AC3E}">
        <p14:creationId xmlns:p14="http://schemas.microsoft.com/office/powerpoint/2010/main" val="4198184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D39671C-5506-F240-41C6-8492CDC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A798665-1515-87D0-B600-99A944F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2E16C84-89CD-97CC-94FE-C55CC37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74856"/>
            <a:ext cx="112395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Real-Time Docking Ring Detection Based on the</a:t>
            </a:r>
          </a:p>
          <a:p xmlns:a="http://schemas.openxmlformats.org/drawingml/2006/main">
            <a:pPr algn="ctr">
              <a:buNone/>
            </a:pPr>
            <a:r>
              <a:rPr sz="3600"/>
              <a:t>Geometrical Shape for an On-Orbit Spacecraft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Zhang, Pan, Ma／Sensors 2019</a:t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DOI: 10.3390/s19235243</a:t>
            </a:r>
          </a:p>
        </p:txBody>
      </p:sp>
    </p:spTree>
    <p:extLst>
      <p:ext uri="{BB962C8B-B14F-4D97-AF65-F5344CB8AC3E}">
        <p14:creationId xmlns:p14="http://schemas.microsoft.com/office/powerpoint/2010/main" val="1231471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BDF7773-56A6-51E7-FB9D-D81B66C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AFB57FB-CF07-597E-F409-5133DF0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A915CC3B-E80E-2CB4-2CD1-FB3F1A4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三弧統合で分断エッジから内周楕円を復元</a:t>
            </a:r>
          </a:p>
        </p:txBody>
      </p:sp>
      <p:pic>
        <p:nvPicPr>
          <p:cNvPr id="3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90b11563f47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68710" y="2093522"/>
            <a:ext cx="11454581" cy="2424122"/>
          </a:xfrm>
          <a:prstGeom xmlns:a="http://schemas.openxmlformats.org/drawingml/2006/main" prst="rect">
            <a:avLst/>
          </a:prstGeom>
        </p:spPr>
      </p:pic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5F6B5D1C-350B-C163-7F30-62B3CDA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956" y="1568605"/>
            <a:ext cx="500008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再現実装の中間処理（代表例）</a:t>
            </a:r>
          </a:p>
        </p:txBody>
      </p:sp>
      <p:sp>
        <p:nvSpPr>
          <p:cNvPr id="30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7F838DF-5CE1-D6CA-3EF4-EB082EB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4819816"/>
            <a:ext cx="911980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・Canny後、勾配象限と凸性が整合する弧だけを残す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・位置・接線制約と中心整合により、同一楕円らしい三弧を統合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EDE4D0C7-8FB5-6F22-90D8-E23A161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5623399"/>
            <a:ext cx="85988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・統合弧へ最小二乗楕円を当て、中心光線距離による適合点率で検証</a:t>
            </a:r>
          </a:p>
        </p:txBody>
      </p:sp>
    </p:spTree>
    <p:extLst>
      <p:ext uri="{BB962C8B-B14F-4D97-AF65-F5344CB8AC3E}">
        <p14:creationId xmlns:p14="http://schemas.microsoft.com/office/powerpoint/2010/main" val="25792403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E41878F-CB80-CF99-7A7B-2E0D6B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2F5581A-C0E1-438D-B89D-FBFA924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BEE4E29B-8219-47F0-EFF9-5F8784A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Zhang 2019型（再現実装）は候補生成＋PAF内周選択</a:t>
            </a:r>
          </a:p>
        </p:txBody>
      </p:sp>
      <p:pic>
        <p:nvPicPr>
          <p:cNvPr id="20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4dcb6adc44f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7250" y="1830038"/>
            <a:ext cx="10382250" cy="2171700"/>
          </a:xfrm>
          <a:prstGeom xmlns:a="http://schemas.openxmlformats.org/drawingml/2006/main" prst="rect">
            <a:avLst/>
          </a:prstGeom>
        </p:spPr>
      </p:pic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7ACF146E-6EB2-1EDF-776F-3189896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68362"/>
            <a:ext cx="9144000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論文の処理で候補を作り、PAF固有条件で1つに絞る</a:t>
            </a:r>
          </a:p>
        </p:txBody>
      </p:sp>
      <p:sp>
        <p:nvSpPr>
          <p:cNvPr id="1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F6E0B222-7219-6A77-A12A-AEE4021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4322407"/>
            <a:ext cx="401744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候補生成（論文）：Canny → 弧分類 → 三弧統合 → 楕円当てはめ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最終選択（追加）：全周支持・明暗極性・同心候補から内周を採用</a:t>
            </a:r>
          </a:p>
        </p:txBody>
      </p:sp>
      <p:sp>
        <p:nvSpPr>
          <p:cNvPr id="1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E03CBAC-19D5-7CC7-9627-89892B3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5489601"/>
            <a:ext cx="604043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1600">
                <a:latin typeface="Yu Gothic"/>
                <a:ea typeface="Yu Gothic"/>
                <a:cs typeface="Yu Gothic"/>
              </a:rPr>
              <a:t>著者コードの移植ではなく、論文の処理構成を参考にしたPython再現実装。</a:t>
            </a:r>
          </a:p>
        </p:txBody>
      </p:sp>
    </p:spTree>
    <p:extLst>
      <p:ext uri="{BB962C8B-B14F-4D97-AF65-F5344CB8AC3E}">
        <p14:creationId xmlns:p14="http://schemas.microsoft.com/office/powerpoint/2010/main" val="11680707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1812B37-ADBF-8969-05AC-F5F6948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646147B-C52A-607E-CEC8-3D3E2DB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3F1A647-BDE1-6F21-BBA2-B887678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049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撮像診断1,456枚で3方式を同条件比較</a:t>
            </a:r>
          </a:p>
        </p:txBody>
      </p:sp>
      <p:pic>
        <p:nvPicPr>
          <p:cNvPr id="57" name="図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74601adf14b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85805" y="1511658"/>
            <a:ext cx="1963984" cy="1963984"/>
          </a:xfrm>
          <a:prstGeom xmlns:a="http://schemas.openxmlformats.org/drawingml/2006/main" prst="rect">
            <a:avLst/>
          </a:prstGeom>
        </p:spPr>
      </p:pic>
      <p:pic>
        <p:nvPicPr>
          <p:cNvPr id="58" name="図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7f8e460b84a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11893" y="1544087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9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4c6ad545c4c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97435" y="1544734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60" name="図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9960448bc4d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82977" y="1544734"/>
            <a:ext cx="1385021" cy="1385021"/>
          </a:xfrm>
          <a:prstGeom xmlns:a="http://schemas.openxmlformats.org/drawingml/2006/main" prst="rect">
            <a:avLst/>
          </a:prstGeom>
        </p:spPr>
      </p:pic>
      <p:sp>
        <p:nvSpPr>
          <p:cNvPr id="24" name="テキスト ボックス 23">
            <a:extLst xmlns:a="http://schemas.openxmlformats.org/drawingml/2006/main">
              <a:ext uri="{FF2B5EF4-FFF2-40B4-BE49-F238E27FC236}">
                <a16:creationId xmlns:a16="http://schemas.microsoft.com/office/drawing/2014/main" id="{9B12733B-36EB-D1A5-A669-CD5276C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321" y="1174755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黒矩形</a:t>
            </a:r>
          </a:p>
        </p:txBody>
      </p:sp>
      <p:sp>
        <p:nvSpPr>
          <p:cNvPr id="26" name="テキスト ボックス 25">
            <a:extLst xmlns:a="http://schemas.openxmlformats.org/drawingml/2006/main">
              <a:ext uri="{FF2B5EF4-FFF2-40B4-BE49-F238E27FC236}">
                <a16:creationId xmlns:a16="http://schemas.microsoft.com/office/drawing/2014/main" id="{B276B483-0750-3A69-4596-11160FF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15" y="3549190"/>
            <a:ext cx="258436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学習に未使用のカメラ条件・既知照明</a:t>
            </a:r>
          </a:p>
        </p:txBody>
      </p:sp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2F06B9D7-B591-1EB2-43EB-78F0859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82" y="1196798"/>
            <a:ext cx="13388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Clean</a:t>
            </a:r>
          </a:p>
        </p:txBody>
      </p:sp>
      <p:sp>
        <p:nvSpPr>
          <p:cNvPr id="30" name="テキスト ボックス 29">
            <a:extLst xmlns:a="http://schemas.openxmlformats.org/drawingml/2006/main">
              <a:ext uri="{FF2B5EF4-FFF2-40B4-BE49-F238E27FC236}">
                <a16:creationId xmlns:a16="http://schemas.microsoft.com/office/drawing/2014/main" id="{AC19918C-97FE-8094-877F-FADAC6A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363" y="1166666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白飛び</a:t>
            </a:r>
          </a:p>
        </p:txBody>
      </p:sp>
      <p:sp>
        <p:nvSpPr>
          <p:cNvPr id="32" name="テキスト ボックス 31">
            <a:extLst xmlns:a="http://schemas.openxmlformats.org/drawingml/2006/main">
              <a:ext uri="{FF2B5EF4-FFF2-40B4-BE49-F238E27FC236}">
                <a16:creationId xmlns:a16="http://schemas.microsoft.com/office/drawing/2014/main" id="{8E32EC85-0F98-E758-CA69-970192B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405" y="1166666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黒つぶれ</a:t>
            </a:r>
          </a:p>
        </p:txBody>
      </p:sp>
      <p:sp>
        <p:nvSpPr>
          <p:cNvPr id="33" name="四角形: 角を丸くする 32">
            <a:extLst xmlns:a="http://schemas.openxmlformats.org/drawingml/2006/main">
              <a:ext uri="{FF2B5EF4-FFF2-40B4-BE49-F238E27FC236}">
                <a16:creationId xmlns:a16="http://schemas.microsoft.com/office/drawing/2014/main" id="{23735D3F-8105-E3F1-BEEC-D964F29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1716724"/>
            <a:ext cx="1272663" cy="457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基礎 112枚</a:t>
            </a:r>
          </a:p>
        </p:txBody>
      </p:sp>
      <p:sp>
        <p:nvSpPr>
          <p:cNvPr id="35" name="四角形: 角を丸くする 34">
            <a:extLst xmlns:a="http://schemas.openxmlformats.org/drawingml/2006/main">
              <a:ext uri="{FF2B5EF4-FFF2-40B4-BE49-F238E27FC236}">
                <a16:creationId xmlns:a16="http://schemas.microsoft.com/office/drawing/2014/main" id="{4BE341B5-F6DD-BCC3-5A61-0F2F61B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309634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診断 1,456枚</a:t>
            </a:r>
          </a:p>
        </p:txBody>
      </p:sp>
      <p:sp>
        <p:nvSpPr>
          <p:cNvPr id="37" name="四角形: 角を丸くする 36">
            <a:extLst xmlns:a="http://schemas.openxmlformats.org/drawingml/2006/main">
              <a:ext uri="{FF2B5EF4-FFF2-40B4-BE49-F238E27FC236}">
                <a16:creationId xmlns:a16="http://schemas.microsoft.com/office/drawing/2014/main" id="{D9C00DB4-A4A9-4368-B395-31FEF99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906537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IoU ≥ 0.80</a:t>
            </a:r>
          </a:p>
        </p:txBody>
      </p:sp>
      <p:sp>
        <p:nvSpPr>
          <p:cNvPr id="4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F7EC8F-938F-D5C9-6FFF-CBBB512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04" y="3835843"/>
            <a:ext cx="4742004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【基礎画像】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・学習に未使用の16カメラ条件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・既知の7照明条件</a:t>
            </a:r>
          </a:p>
        </p:txBody>
      </p:sp>
      <p:sp>
        <p:nvSpPr>
          <p:cNvPr id="45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EEBB221E-D462-6241-E436-6FC7CD0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84" y="3826189"/>
            <a:ext cx="525817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【撮像劣化】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・Clean＋3効果×4強度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・各効果・各強度112枚</a:t>
            </a:r>
          </a:p>
        </p:txBody>
      </p:sp>
    </p:spTree>
    <p:extLst>
      <p:ext uri="{BB962C8B-B14F-4D97-AF65-F5344CB8AC3E}">
        <p14:creationId xmlns:p14="http://schemas.microsoft.com/office/powerpoint/2010/main" val="2980598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40160D6-9D3B-7423-AD06-29A385B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89C6FC1-D7E5-3EF8-1907-F62C1225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04B5FBB5-B3CF-A2F0-3A3F-F51A256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撮像診断：Zhang 2019型（再現実装）46.5%、CNN 74.5%</a:t>
            </a:r>
          </a:p>
        </p:txBody>
      </p:sp>
      <p:sp>
        <p:nvSpPr>
          <p:cNvPr id="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E6428CC-E494-5ADC-1A26-981BFC7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2040689"/>
            <a:ext cx="4325223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【1,456枚】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Zhang 2019型（再現実装）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677枚＝46.5%／Canny 46.8%</a:t>
            </a:r>
          </a:p>
        </p:txBody>
      </p:sp>
      <p:sp>
        <p:nvSpPr>
          <p:cNvPr id="12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200278F5-5BDF-6B4A-16E8-4B3DF6E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3619559"/>
            <a:ext cx="5054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CNN 74.5%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→ 再現実装はCannyと同等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CNNより28.0pt低い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519810" y="1623221"/>
          <a:ext xmlns:a="http://schemas.openxmlformats.org/drawingml/2006/main" cx="6422808" cy="361155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e513ee1c2f45b8"/>
          </a:graphicData>
        </a:graphic>
      </p:graphicFrame>
    </p:spTree>
    <p:extLst>
      <p:ext uri="{BB962C8B-B14F-4D97-AF65-F5344CB8AC3E}">
        <p14:creationId xmlns:p14="http://schemas.microsoft.com/office/powerpoint/2010/main" val="34809707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71C022E-8A6D-D860-62C4-E82D91D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ABD56A1-D136-23BE-FA40-2691695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F0564DD-CCF5-2C5F-3CEE-0451136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白飛びに強く、遮蔽と黒つぶれに弱い</a:t>
            </a:r>
          </a:p>
        </p:txBody>
      </p:sp>
      <p:sp>
        <p:nvSpPr>
          <p:cNvPr id="21" name="テキスト ボックス 20">
            <a:extLst xmlns:a="http://schemas.openxmlformats.org/drawingml/2006/main">
              <a:ext uri="{FF2B5EF4-FFF2-40B4-BE49-F238E27FC236}">
                <a16:creationId xmlns:a16="http://schemas.microsoft.com/office/drawing/2014/main" id="{82085C5B-D0DA-DA20-1663-7DD0BA2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410200"/>
            <a:ext cx="1133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・白飛び100%でも83.9%　・黒矩形50%で3.6%、75%以上で0%</a:t>
            </a:r>
          </a:p>
          <a:p xmlns:a="http://schemas.openxmlformats.org/drawingml/2006/main">
            <a:r>
              <a:t>・黒つぶれ75%で14.3%、100%で8.9% → 弧の消失が支配的</a:t>
            </a:r>
          </a:p>
        </p:txBody>
      </p:sp>
      <p:pic>
        <p:nvPicPr>
          <p:cNvPr id="28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2fb66c3d040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4694" y="2055266"/>
            <a:ext cx="11662611" cy="31047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97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FEEEA7F-9EA7-343D-6CD1-532B15C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635DF84-E770-DECE-AEAD-AED7C1E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A9B0679-3F6B-E09F-9FFB-0771D61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7620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まとめと次回以降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9DBFF2-3DAC-212D-F433-9494C81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1722576"/>
            <a:ext cx="9081305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【今回】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・Zhang 2019型（再現実装）を導入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・撮像診断で46.5%（Canny 46.8%、CNN 74.5%）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・遮蔽／黒つぶれでは弧不足が主な失敗要因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A373B9F-AE19-06CE-6ED4-8BFE17A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3752540"/>
            <a:ext cx="8470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【次回以降】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・model_generalization_studyで未知条件への一般化を検証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・両方式の失敗例を条件別に整理</a:t>
            </a:r>
          </a:p>
        </p:txBody>
      </p:sp>
    </p:spTree>
    <p:extLst>
      <p:ext uri="{BB962C8B-B14F-4D97-AF65-F5344CB8AC3E}">
        <p14:creationId xmlns:p14="http://schemas.microsoft.com/office/powerpoint/2010/main" val="3945427089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2026-07-30T18:43:03.6400000Z</dcterms:created>
  <dcterms:modified xsi:type="dcterms:W3CDTF">2026-07-30T18:43:03.6400000Z</dcterms:modified>
</coreProperties>
</file>